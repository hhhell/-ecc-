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custDataLst>
    <p:tags r:id="rId3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3EDFF0"/>
    <a:srgbClr val="C061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7" autoAdjust="0"/>
    <p:restoredTop sz="86483" autoAdjust="0"/>
  </p:normalViewPr>
  <p:slideViewPr>
    <p:cSldViewPr snapToGrid="0" showGuides="1">
      <p:cViewPr varScale="1">
        <p:scale>
          <a:sx n="124" d="100"/>
          <a:sy n="124" d="100"/>
        </p:scale>
        <p:origin x="230" y="96"/>
      </p:cViewPr>
      <p:guideLst>
        <p:guide pos="416"/>
        <p:guide pos="7256"/>
        <p:guide orient="horz" pos="648"/>
        <p:guide orient="horz" pos="712"/>
        <p:guide orient="horz" pos="3928"/>
        <p:guide orient="horz" pos="3864"/>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0">
              <a:schemeClr val="accent3">
                <a:lumMod val="50000"/>
              </a:schemeClr>
            </a:gs>
            <a:gs pos="28000">
              <a:schemeClr val="accent3"/>
            </a:gs>
            <a:gs pos="100000">
              <a:schemeClr val="accent1"/>
            </a:gs>
          </a:gsLst>
          <a:lin ang="5400000" scaled="1"/>
        </a:gradFill>
        <a:effectLst/>
      </p:bgPr>
    </p:bg>
    <p:spTree>
      <p:nvGrpSpPr>
        <p:cNvPr id="1" name=""/>
        <p:cNvGrpSpPr/>
        <p:nvPr/>
      </p:nvGrpSpPr>
      <p:grpSpPr>
        <a:xfrm>
          <a:off x="0" y="0"/>
          <a:ext cx="0" cy="0"/>
          <a:chOff x="0" y="0"/>
          <a:chExt cx="0" cy="0"/>
        </a:xfrm>
      </p:grpSpPr>
      <p:grpSp>
        <p:nvGrpSpPr>
          <p:cNvPr id="2" name="组合 1" descr="6de2eb5e-6587-4bde-b787-e3b13a5a4374"/>
          <p:cNvGrpSpPr/>
          <p:nvPr/>
        </p:nvGrpSpPr>
        <p:grpSpPr>
          <a:xfrm>
            <a:off x="0" y="0"/>
            <a:ext cx="12192001" cy="6858001"/>
            <a:chOff x="0" y="0"/>
            <a:chExt cx="12192001" cy="6858001"/>
          </a:xfrm>
        </p:grpSpPr>
        <p:sp>
          <p:nvSpPr>
            <p:cNvPr id="18" name="任意多边形: 形状 17" descr="27b2725a-a9ac-44a8-8861-2d1b90126e66"/>
            <p:cNvSpPr>
              <a:spLocks/>
            </p:cNvSpPr>
            <p:nvPr/>
          </p:nvSpPr>
          <p:spPr bwMode="auto">
            <a:xfrm flipH="1" flipV="1">
              <a:off x="1821159" y="0"/>
              <a:ext cx="7186138" cy="6858000"/>
            </a:xfrm>
            <a:custGeom>
              <a:avLst/>
              <a:gdLst>
                <a:gd name="connsiteX0" fmla="*/ 7186138 w 7186138"/>
                <a:gd name="connsiteY0" fmla="*/ 6858000 h 6858000"/>
                <a:gd name="connsiteX1" fmla="*/ 3005486 w 7186138"/>
                <a:gd name="connsiteY1" fmla="*/ 6858000 h 6858000"/>
                <a:gd name="connsiteX2" fmla="*/ 0 w 7186138"/>
                <a:gd name="connsiteY2" fmla="*/ 0 h 6858000"/>
                <a:gd name="connsiteX3" fmla="*/ 4189414 w 7186138"/>
                <a:gd name="connsiteY3" fmla="*/ 0 h 6858000"/>
              </a:gdLst>
              <a:ahLst/>
              <a:cxnLst>
                <a:cxn ang="0">
                  <a:pos x="connsiteX0" y="connsiteY0"/>
                </a:cxn>
                <a:cxn ang="0">
                  <a:pos x="connsiteX1" y="connsiteY1"/>
                </a:cxn>
                <a:cxn ang="0">
                  <a:pos x="connsiteX2" y="connsiteY2"/>
                </a:cxn>
                <a:cxn ang="0">
                  <a:pos x="connsiteX3" y="connsiteY3"/>
                </a:cxn>
              </a:cxnLst>
              <a:rect l="l" t="t" r="r" b="b"/>
              <a:pathLst>
                <a:path w="7186138" h="6858000">
                  <a:moveTo>
                    <a:pt x="7186138" y="6858000"/>
                  </a:moveTo>
                  <a:lnTo>
                    <a:pt x="3005486" y="6858000"/>
                  </a:lnTo>
                  <a:lnTo>
                    <a:pt x="0" y="0"/>
                  </a:lnTo>
                  <a:lnTo>
                    <a:pt x="4189414" y="0"/>
                  </a:lnTo>
                  <a:close/>
                </a:path>
              </a:pathLst>
            </a:custGeom>
            <a:gradFill>
              <a:gsLst>
                <a:gs pos="0">
                  <a:schemeClr val="accent1">
                    <a:lumMod val="60000"/>
                    <a:lumOff val="40000"/>
                    <a:alpha val="50000"/>
                  </a:schemeClr>
                </a:gs>
                <a:gs pos="100000">
                  <a:schemeClr val="accent1">
                    <a:lumMod val="60000"/>
                    <a:lumOff val="40000"/>
                    <a:alpha val="0"/>
                  </a:schemeClr>
                </a:gs>
              </a:gsLst>
              <a:lin ang="5400000" scaled="1"/>
            </a:gradFill>
            <a:ln>
              <a:noFill/>
            </a:ln>
          </p:spPr>
          <p:txBody>
            <a:bodyPr vert="horz" wrap="square" lIns="91440" tIns="45720" rIns="91440" bIns="45720" numCol="1" anchor="t" anchorCtr="0" compatLnSpc="1">
              <a:prstTxWarp prst="textNoShape">
                <a:avLst/>
              </a:prstTxWarp>
              <a:noAutofit/>
            </a:bodyPr>
            <a:lstStyle/>
            <a:p>
              <a:pPr lvl="0"/>
              <a:endParaRPr lang="zh-CN" altLang="en-US"/>
            </a:p>
          </p:txBody>
        </p:sp>
        <p:sp>
          <p:nvSpPr>
            <p:cNvPr id="10" name="任意多边形: 形状 9" descr="5c5b7c57-4af8-4b16-a7e9-57d32e32f8e6"/>
            <p:cNvSpPr>
              <a:spLocks/>
            </p:cNvSpPr>
            <p:nvPr/>
          </p:nvSpPr>
          <p:spPr bwMode="auto">
            <a:xfrm>
              <a:off x="1" y="0"/>
              <a:ext cx="4515111" cy="6116632"/>
            </a:xfrm>
            <a:custGeom>
              <a:avLst/>
              <a:gdLst>
                <a:gd name="connsiteX0" fmla="*/ 0 w 4515111"/>
                <a:gd name="connsiteY0" fmla="*/ 0 h 6116632"/>
                <a:gd name="connsiteX1" fmla="*/ 1842340 w 4515111"/>
                <a:gd name="connsiteY1" fmla="*/ 0 h 6116632"/>
                <a:gd name="connsiteX2" fmla="*/ 4515111 w 4515111"/>
                <a:gd name="connsiteY2" fmla="*/ 6116632 h 6116632"/>
                <a:gd name="connsiteX3" fmla="*/ 939879 w 4515111"/>
                <a:gd name="connsiteY3" fmla="*/ 6116632 h 6116632"/>
                <a:gd name="connsiteX4" fmla="*/ 0 w 4515111"/>
                <a:gd name="connsiteY4" fmla="*/ 3971992 h 6116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5111" h="6116632">
                  <a:moveTo>
                    <a:pt x="0" y="0"/>
                  </a:moveTo>
                  <a:lnTo>
                    <a:pt x="1842340" y="0"/>
                  </a:lnTo>
                  <a:lnTo>
                    <a:pt x="4515111" y="6116632"/>
                  </a:lnTo>
                  <a:lnTo>
                    <a:pt x="939879" y="6116632"/>
                  </a:lnTo>
                  <a:lnTo>
                    <a:pt x="0" y="3971992"/>
                  </a:lnTo>
                  <a:close/>
                </a:path>
              </a:pathLst>
            </a:custGeom>
            <a:gradFill>
              <a:gsLst>
                <a:gs pos="0">
                  <a:schemeClr val="accent1"/>
                </a:gs>
                <a:gs pos="100000">
                  <a:schemeClr val="accent1">
                    <a:lumMod val="60000"/>
                    <a:lumOff val="40000"/>
                    <a:alpha val="0"/>
                  </a:schemeClr>
                </a:gs>
              </a:gsLst>
              <a:lin ang="5400000" scaled="1"/>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3" name="任意多边形: 形状 2" descr="6ae5d86d-9292-43c0-ae81-d9dff8c1b620"/>
            <p:cNvSpPr>
              <a:spLocks/>
            </p:cNvSpPr>
            <p:nvPr/>
          </p:nvSpPr>
          <p:spPr bwMode="auto">
            <a:xfrm>
              <a:off x="0" y="0"/>
              <a:ext cx="7563110" cy="6858000"/>
            </a:xfrm>
            <a:custGeom>
              <a:avLst/>
              <a:gdLst>
                <a:gd name="connsiteX0" fmla="*/ 0 w 7563110"/>
                <a:gd name="connsiteY0" fmla="*/ 3340598 h 6858000"/>
                <a:gd name="connsiteX1" fmla="*/ 1294173 w 7563110"/>
                <a:gd name="connsiteY1" fmla="*/ 3340598 h 6858000"/>
                <a:gd name="connsiteX2" fmla="*/ 2900166 w 7563110"/>
                <a:gd name="connsiteY2" fmla="*/ 6858000 h 6858000"/>
                <a:gd name="connsiteX3" fmla="*/ 841136 w 7563110"/>
                <a:gd name="connsiteY3" fmla="*/ 6858000 h 6858000"/>
                <a:gd name="connsiteX4" fmla="*/ 0 w 7563110"/>
                <a:gd name="connsiteY4" fmla="*/ 5021587 h 6858000"/>
                <a:gd name="connsiteX5" fmla="*/ 15984 w 7563110"/>
                <a:gd name="connsiteY5" fmla="*/ 0 h 6858000"/>
                <a:gd name="connsiteX6" fmla="*/ 5163077 w 7563110"/>
                <a:gd name="connsiteY6" fmla="*/ 0 h 6858000"/>
                <a:gd name="connsiteX7" fmla="*/ 7563110 w 7563110"/>
                <a:gd name="connsiteY7" fmla="*/ 5250405 h 6858000"/>
                <a:gd name="connsiteX8" fmla="*/ 2416019 w 7563110"/>
                <a:gd name="connsiteY8" fmla="*/ 52504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63110" h="6858000">
                  <a:moveTo>
                    <a:pt x="0" y="3340598"/>
                  </a:moveTo>
                  <a:lnTo>
                    <a:pt x="1294173" y="3340598"/>
                  </a:lnTo>
                  <a:lnTo>
                    <a:pt x="2900166" y="6858000"/>
                  </a:lnTo>
                  <a:lnTo>
                    <a:pt x="841136" y="6858000"/>
                  </a:lnTo>
                  <a:lnTo>
                    <a:pt x="0" y="5021587"/>
                  </a:lnTo>
                  <a:close/>
                  <a:moveTo>
                    <a:pt x="15984" y="0"/>
                  </a:moveTo>
                  <a:lnTo>
                    <a:pt x="5163077" y="0"/>
                  </a:lnTo>
                  <a:lnTo>
                    <a:pt x="7563110" y="5250405"/>
                  </a:lnTo>
                  <a:lnTo>
                    <a:pt x="2416019" y="5250405"/>
                  </a:lnTo>
                  <a:close/>
                </a:path>
              </a:pathLst>
            </a:custGeom>
            <a:blipFill>
              <a:blip r:embed="rId2">
                <a:extLst>
                  <a:ext uri="{BEBA8EAE-BF5A-486C-A8C5-ECC9F3942E4B}">
                    <a14:imgProps xmlns:a14="http://schemas.microsoft.com/office/drawing/2010/main">
                      <a14:imgLayer r:embed="rId3">
                        <a14:imgEffect>
                          <a14:saturation sat="140000"/>
                        </a14:imgEffect>
                      </a14:imgLayer>
                    </a14:imgProps>
                  </a:ext>
                </a:extLst>
              </a:blip>
              <a:srcRect/>
              <a:stretch>
                <a:fillRect l="-30901" r="-30901"/>
              </a:stretch>
            </a:blip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lvl="0" algn="ctr"/>
              <a:endParaRPr lang="zh-CN" altLang="en-US"/>
            </a:p>
          </p:txBody>
        </p:sp>
        <p:sp>
          <p:nvSpPr>
            <p:cNvPr id="15" name="任意多边形: 形状 14" descr="22f96668-090c-40eb-9d73-6a5a3c75e62c"/>
            <p:cNvSpPr>
              <a:spLocks/>
            </p:cNvSpPr>
            <p:nvPr/>
          </p:nvSpPr>
          <p:spPr bwMode="auto">
            <a:xfrm>
              <a:off x="1444188" y="4696693"/>
              <a:ext cx="2337367" cy="1539007"/>
            </a:xfrm>
            <a:custGeom>
              <a:avLst/>
              <a:gdLst>
                <a:gd name="T0" fmla="*/ 1458 w 1458"/>
                <a:gd name="T1" fmla="*/ 960 h 960"/>
                <a:gd name="T2" fmla="*/ 1038 w 1458"/>
                <a:gd name="T3" fmla="*/ 0 h 960"/>
                <a:gd name="T4" fmla="*/ 0 w 1458"/>
                <a:gd name="T5" fmla="*/ 0 h 960"/>
                <a:gd name="T6" fmla="*/ 419 w 1458"/>
                <a:gd name="T7" fmla="*/ 960 h 960"/>
                <a:gd name="T8" fmla="*/ 1458 w 1458"/>
                <a:gd name="T9" fmla="*/ 960 h 960"/>
              </a:gdLst>
              <a:ahLst/>
              <a:cxnLst>
                <a:cxn ang="0">
                  <a:pos x="T0" y="T1"/>
                </a:cxn>
                <a:cxn ang="0">
                  <a:pos x="T2" y="T3"/>
                </a:cxn>
                <a:cxn ang="0">
                  <a:pos x="T4" y="T5"/>
                </a:cxn>
                <a:cxn ang="0">
                  <a:pos x="T6" y="T7"/>
                </a:cxn>
                <a:cxn ang="0">
                  <a:pos x="T8" y="T9"/>
                </a:cxn>
              </a:cxnLst>
              <a:rect l="0" t="0" r="r" b="b"/>
              <a:pathLst>
                <a:path w="1458" h="960">
                  <a:moveTo>
                    <a:pt x="1458" y="960"/>
                  </a:moveTo>
                  <a:lnTo>
                    <a:pt x="1038" y="0"/>
                  </a:lnTo>
                  <a:lnTo>
                    <a:pt x="0" y="0"/>
                  </a:lnTo>
                  <a:lnTo>
                    <a:pt x="419" y="960"/>
                  </a:lnTo>
                  <a:lnTo>
                    <a:pt x="1458" y="960"/>
                  </a:lnTo>
                  <a:close/>
                </a:path>
              </a:pathLst>
            </a:custGeom>
            <a:gradFill>
              <a:gsLst>
                <a:gs pos="0">
                  <a:schemeClr val="accent1"/>
                </a:gs>
                <a:gs pos="100000">
                  <a:schemeClr val="accent1">
                    <a:alpha val="0"/>
                  </a:schemeClr>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 name="任意多边形: 形状 11" descr="4ff8f1ab-5d3a-4ae9-9814-ab6342e586ba"/>
            <p:cNvSpPr>
              <a:spLocks/>
            </p:cNvSpPr>
            <p:nvPr/>
          </p:nvSpPr>
          <p:spPr bwMode="auto">
            <a:xfrm>
              <a:off x="1" y="5116704"/>
              <a:ext cx="760699" cy="1741297"/>
            </a:xfrm>
            <a:custGeom>
              <a:avLst/>
              <a:gdLst>
                <a:gd name="connsiteX0" fmla="*/ 0 w 760699"/>
                <a:gd name="connsiteY0" fmla="*/ 0 h 1741297"/>
                <a:gd name="connsiteX1" fmla="*/ 760699 w 760699"/>
                <a:gd name="connsiteY1" fmla="*/ 1741297 h 1741297"/>
                <a:gd name="connsiteX2" fmla="*/ 36083 w 760699"/>
                <a:gd name="connsiteY2" fmla="*/ 1741297 h 1741297"/>
                <a:gd name="connsiteX3" fmla="*/ 0 w 760699"/>
                <a:gd name="connsiteY3" fmla="*/ 1658700 h 1741297"/>
              </a:gdLst>
              <a:ahLst/>
              <a:cxnLst>
                <a:cxn ang="0">
                  <a:pos x="connsiteX0" y="connsiteY0"/>
                </a:cxn>
                <a:cxn ang="0">
                  <a:pos x="connsiteX1" y="connsiteY1"/>
                </a:cxn>
                <a:cxn ang="0">
                  <a:pos x="connsiteX2" y="connsiteY2"/>
                </a:cxn>
                <a:cxn ang="0">
                  <a:pos x="connsiteX3" y="connsiteY3"/>
                </a:cxn>
              </a:cxnLst>
              <a:rect l="l" t="t" r="r" b="b"/>
              <a:pathLst>
                <a:path w="760699" h="1741297">
                  <a:moveTo>
                    <a:pt x="0" y="0"/>
                  </a:moveTo>
                  <a:lnTo>
                    <a:pt x="760699" y="1741297"/>
                  </a:lnTo>
                  <a:lnTo>
                    <a:pt x="36083" y="1741297"/>
                  </a:lnTo>
                  <a:lnTo>
                    <a:pt x="0" y="1658700"/>
                  </a:lnTo>
                  <a:close/>
                </a:path>
              </a:pathLst>
            </a:custGeom>
            <a:gradFill flip="none" rotWithShape="1">
              <a:gsLst>
                <a:gs pos="0">
                  <a:schemeClr val="accent1"/>
                </a:gs>
                <a:gs pos="76000">
                  <a:schemeClr val="accent1">
                    <a:lumMod val="20000"/>
                    <a:lumOff val="80000"/>
                  </a:schemeClr>
                </a:gs>
              </a:gsLst>
              <a:lin ang="16200000" scaled="1"/>
              <a:tileRect/>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6" name="任意多边形: 形状 5" descr="c21b3059-519e-48f6-a7e3-4bae81ac828a"/>
            <p:cNvSpPr>
              <a:spLocks/>
            </p:cNvSpPr>
            <p:nvPr/>
          </p:nvSpPr>
          <p:spPr bwMode="auto">
            <a:xfrm>
              <a:off x="4229683" y="0"/>
              <a:ext cx="3367542" cy="3829050"/>
            </a:xfrm>
            <a:custGeom>
              <a:avLst/>
              <a:gdLst>
                <a:gd name="T0" fmla="*/ 2065 w 2065"/>
                <a:gd name="T1" fmla="*/ 2348 h 2348"/>
                <a:gd name="T2" fmla="*/ 1029 w 2065"/>
                <a:gd name="T3" fmla="*/ 2348 h 2348"/>
                <a:gd name="T4" fmla="*/ 0 w 2065"/>
                <a:gd name="T5" fmla="*/ 0 h 2348"/>
                <a:gd name="T6" fmla="*/ 1039 w 2065"/>
                <a:gd name="T7" fmla="*/ 0 h 2348"/>
                <a:gd name="T8" fmla="*/ 2065 w 2065"/>
                <a:gd name="T9" fmla="*/ 2348 h 2348"/>
              </a:gdLst>
              <a:ahLst/>
              <a:cxnLst>
                <a:cxn ang="0">
                  <a:pos x="T0" y="T1"/>
                </a:cxn>
                <a:cxn ang="0">
                  <a:pos x="T2" y="T3"/>
                </a:cxn>
                <a:cxn ang="0">
                  <a:pos x="T4" y="T5"/>
                </a:cxn>
                <a:cxn ang="0">
                  <a:pos x="T6" y="T7"/>
                </a:cxn>
                <a:cxn ang="0">
                  <a:pos x="T8" y="T9"/>
                </a:cxn>
              </a:cxnLst>
              <a:rect l="0" t="0" r="r" b="b"/>
              <a:pathLst>
                <a:path w="2065" h="2348">
                  <a:moveTo>
                    <a:pt x="2065" y="2348"/>
                  </a:moveTo>
                  <a:lnTo>
                    <a:pt x="1029" y="2348"/>
                  </a:lnTo>
                  <a:lnTo>
                    <a:pt x="0" y="0"/>
                  </a:lnTo>
                  <a:lnTo>
                    <a:pt x="1039" y="0"/>
                  </a:lnTo>
                  <a:lnTo>
                    <a:pt x="2065" y="2348"/>
                  </a:lnTo>
                  <a:close/>
                </a:path>
              </a:pathLst>
            </a:custGeom>
            <a:gradFill>
              <a:gsLst>
                <a:gs pos="0">
                  <a:schemeClr val="accent1"/>
                </a:gs>
                <a:gs pos="100000">
                  <a:schemeClr val="accent1">
                    <a:alpha val="0"/>
                  </a:schemeClr>
                </a:gs>
              </a:gsLst>
              <a:lin ang="5400000" scaled="1"/>
            </a:gradFill>
            <a:ln>
              <a:noFill/>
            </a:ln>
          </p:spPr>
          <p:txBody>
            <a:bodyPr vert="horz" wrap="square" lIns="91440" tIns="45720" rIns="91440" bIns="45720" numCol="1" anchor="t" anchorCtr="0" compatLnSpc="1">
              <a:prstTxWarp prst="textNoShape">
                <a:avLst/>
              </a:prstTxWarp>
            </a:bodyPr>
            <a:lstStyle/>
            <a:p>
              <a:pPr lvl="0"/>
              <a:endParaRPr lang="zh-CN" altLang="en-US"/>
            </a:p>
          </p:txBody>
        </p:sp>
        <p:sp>
          <p:nvSpPr>
            <p:cNvPr id="24" name="任意多边形: 形状 23" descr="bba447a4-6d8b-45e6-8f43-bc32de02c969"/>
            <p:cNvSpPr>
              <a:spLocks/>
            </p:cNvSpPr>
            <p:nvPr/>
          </p:nvSpPr>
          <p:spPr bwMode="auto">
            <a:xfrm flipH="1" flipV="1">
              <a:off x="10847556" y="1"/>
              <a:ext cx="1344445" cy="3076761"/>
            </a:xfrm>
            <a:custGeom>
              <a:avLst/>
              <a:gdLst>
                <a:gd name="connsiteX0" fmla="*/ 1344445 w 1344445"/>
                <a:gd name="connsiteY0" fmla="*/ 3076761 h 3076761"/>
                <a:gd name="connsiteX1" fmla="*/ 0 w 1344445"/>
                <a:gd name="connsiteY1" fmla="*/ 3076761 h 3076761"/>
                <a:gd name="connsiteX2" fmla="*/ 0 w 1344445"/>
                <a:gd name="connsiteY2" fmla="*/ 0 h 3076761"/>
              </a:gdLst>
              <a:ahLst/>
              <a:cxnLst>
                <a:cxn ang="0">
                  <a:pos x="connsiteX0" y="connsiteY0"/>
                </a:cxn>
                <a:cxn ang="0">
                  <a:pos x="connsiteX1" y="connsiteY1"/>
                </a:cxn>
                <a:cxn ang="0">
                  <a:pos x="connsiteX2" y="connsiteY2"/>
                </a:cxn>
              </a:cxnLst>
              <a:rect l="l" t="t" r="r" b="b"/>
              <a:pathLst>
                <a:path w="1344445" h="3076761">
                  <a:moveTo>
                    <a:pt x="1344445" y="3076761"/>
                  </a:moveTo>
                  <a:lnTo>
                    <a:pt x="0" y="3076761"/>
                  </a:lnTo>
                  <a:lnTo>
                    <a:pt x="0" y="0"/>
                  </a:lnTo>
                  <a:close/>
                </a:path>
              </a:pathLst>
            </a:custGeom>
            <a:gradFill>
              <a:gsLst>
                <a:gs pos="0">
                  <a:schemeClr val="accent1">
                    <a:lumMod val="60000"/>
                    <a:lumOff val="40000"/>
                    <a:alpha val="50000"/>
                  </a:schemeClr>
                </a:gs>
                <a:gs pos="100000">
                  <a:schemeClr val="accent1">
                    <a:lumMod val="60000"/>
                    <a:lumOff val="40000"/>
                    <a:alpha val="0"/>
                  </a:schemeClr>
                </a:gs>
              </a:gsLst>
              <a:lin ang="5400000" scaled="1"/>
            </a:gradFill>
            <a:ln>
              <a:noFill/>
            </a:ln>
          </p:spPr>
          <p:txBody>
            <a:bodyPr vert="horz" wrap="square" lIns="91440" tIns="45720" rIns="91440" bIns="45720" numCol="1" anchor="t" anchorCtr="0" compatLnSpc="1">
              <a:prstTxWarp prst="textNoShape">
                <a:avLst/>
              </a:prstTxWarp>
              <a:noAutofit/>
            </a:bodyPr>
            <a:lstStyle/>
            <a:p>
              <a:pPr lvl="0"/>
              <a:endParaRPr lang="zh-CN" altLang="en-US"/>
            </a:p>
          </p:txBody>
        </p:sp>
      </p:grpSp>
      <p:sp>
        <p:nvSpPr>
          <p:cNvPr id="5" name="标题 4" descr="899a0e74-9bd5-4234-b998-1fe3a30b9a36"/>
          <p:cNvSpPr>
            <a:spLocks noGrp="1"/>
          </p:cNvSpPr>
          <p:nvPr>
            <p:ph type="ctrTitle" hasCustomPrompt="1"/>
          </p:nvPr>
        </p:nvSpPr>
        <p:spPr>
          <a:xfrm>
            <a:off x="6686551" y="1132272"/>
            <a:ext cx="4832350" cy="2625070"/>
          </a:xfrm>
          <a:prstGeom prst="rect">
            <a:avLst/>
          </a:prstGeom>
        </p:spPr>
        <p:txBody>
          <a:bodyPr wrap="square" anchor="b">
            <a:normAutofit/>
          </a:bodyPr>
          <a:lstStyle>
            <a:lvl1pPr algn="r">
              <a:lnSpc>
                <a:spcPct val="100000"/>
              </a:lnSpc>
              <a:defRPr sz="5400">
                <a:ln w="19050">
                  <a:noFill/>
                </a:ln>
                <a:solidFill>
                  <a:schemeClr val="tx1"/>
                </a:solidFill>
              </a:defRPr>
            </a:lvl1pPr>
          </a:lstStyle>
          <a:p>
            <a:pPr lvl="0"/>
            <a:r>
              <a:rPr lang="zh-CN" altLang="en-US" dirty="0"/>
              <a:t>Click to add title</a:t>
            </a:r>
            <a:endParaRPr lang="en-US" dirty="0"/>
          </a:p>
        </p:txBody>
      </p:sp>
      <p:sp>
        <p:nvSpPr>
          <p:cNvPr id="9" name="副标题 8" descr="7b8d92e3-b495-4698-af20-14781a99223c"/>
          <p:cNvSpPr>
            <a:spLocks noGrp="1"/>
          </p:cNvSpPr>
          <p:nvPr>
            <p:ph type="subTitle" sz="quarter" idx="1" hasCustomPrompt="1"/>
          </p:nvPr>
        </p:nvSpPr>
        <p:spPr>
          <a:xfrm>
            <a:off x="6686551" y="3906456"/>
            <a:ext cx="4832350" cy="593372"/>
          </a:xfrm>
          <a:prstGeom prst="roundRect">
            <a:avLst>
              <a:gd name="adj" fmla="val 0"/>
            </a:avLst>
          </a:prstGeom>
          <a:noFill/>
          <a:ln>
            <a:noFill/>
          </a:ln>
        </p:spPr>
        <p:txBody>
          <a:bodyPr vert="horz" wrap="square" lIns="91440" tIns="45720" rIns="91440" bIns="45720" rtlCol="0" anchor="t" anchorCtr="0">
            <a:normAutofit/>
          </a:bodyPr>
          <a:lstStyle>
            <a:lvl1pPr marL="0" indent="0" algn="r">
              <a:lnSpc>
                <a:spcPct val="100000"/>
              </a:lnSpc>
              <a:buNone/>
              <a:defRPr lang="en-US" sz="2000" dirty="0">
                <a:solidFill>
                  <a:schemeClr val="tx1"/>
                </a:solidFill>
                <a:latin typeface="+mj-lt"/>
              </a:defRPr>
            </a:lvl1pPr>
          </a:lstStyle>
          <a:p>
            <a:pPr lvl="0"/>
            <a:r>
              <a:rPr lang="zh-CN" altLang="en-US" dirty="0"/>
              <a:t>Click to add subtitle</a:t>
            </a:r>
            <a:endParaRPr lang="en-US" dirty="0"/>
          </a:p>
        </p:txBody>
      </p:sp>
      <p:sp>
        <p:nvSpPr>
          <p:cNvPr id="4" name="文本占位符 3" descr="7655ae99-56af-462f-b981-c0d8820624d9"/>
          <p:cNvSpPr>
            <a:spLocks noGrp="1"/>
          </p:cNvSpPr>
          <p:nvPr>
            <p:ph type="body" sz="quarter" idx="13" hasCustomPrompt="1"/>
          </p:nvPr>
        </p:nvSpPr>
        <p:spPr>
          <a:xfrm>
            <a:off x="6686551" y="5839633"/>
            <a:ext cx="4832349" cy="276999"/>
          </a:xfrm>
          <a:prstGeom prst="rect">
            <a:avLst/>
          </a:prstGeom>
        </p:spPr>
        <p:txBody>
          <a:bodyPr wrap="square" lIns="90000">
            <a:normAutofit/>
          </a:bodyPr>
          <a:lstStyle>
            <a:lvl1pPr marL="0" indent="0" algn="r">
              <a:lnSpc>
                <a:spcPct val="100000"/>
              </a:lnSpc>
              <a:buNone/>
              <a:defRPr sz="1200"/>
            </a:lvl1pPr>
          </a:lstStyle>
          <a:p>
            <a:pPr lvl="0"/>
            <a:r>
              <a:rPr lang="zh-CN" altLang="en-US" dirty="0"/>
              <a:t>Presenter name</a:t>
            </a:r>
            <a:endParaRPr lang="en-US" dirty="0"/>
          </a:p>
        </p:txBody>
      </p:sp>
      <p:sp>
        <p:nvSpPr>
          <p:cNvPr id="7" name="文本占位符 6" descr="a51b05b5-53cb-4eef-bbd0-154bb8e902f8"/>
          <p:cNvSpPr>
            <a:spLocks noGrp="1"/>
          </p:cNvSpPr>
          <p:nvPr>
            <p:ph type="body" sz="quarter" idx="14" hasCustomPrompt="1"/>
          </p:nvPr>
        </p:nvSpPr>
        <p:spPr>
          <a:xfrm>
            <a:off x="6686551" y="5448729"/>
            <a:ext cx="4832349" cy="276999"/>
          </a:xfrm>
          <a:prstGeom prst="rect">
            <a:avLst/>
          </a:prstGeom>
        </p:spPr>
        <p:txBody>
          <a:bodyPr wrap="none">
            <a:normAutofit/>
          </a:bodyPr>
          <a:lstStyle>
            <a:lvl1pPr marL="0" indent="0" algn="r">
              <a:lnSpc>
                <a:spcPct val="100000"/>
              </a:lnSpc>
              <a:buNone/>
              <a:defRPr sz="1200"/>
            </a:lvl1pPr>
          </a:lstStyle>
          <a:p>
            <a:pPr lvl="0"/>
            <a:r>
              <a:rPr lang="zh-CN" altLang="en-US" dirty="0"/>
              <a:t>20XX.XX.XX</a:t>
            </a:r>
            <a:endParaRPr lang="en-US" dirty="0"/>
          </a:p>
        </p:txBody>
      </p:sp>
      <p:grpSp>
        <p:nvGrpSpPr>
          <p:cNvPr id="13" name="组合 12" descr="8272f5a5-beef-4e46-9b94-6fa89ee6675f"/>
          <p:cNvGrpSpPr/>
          <p:nvPr/>
        </p:nvGrpSpPr>
        <p:grpSpPr>
          <a:xfrm>
            <a:off x="10937758" y="542487"/>
            <a:ext cx="478063" cy="434664"/>
            <a:chOff x="10937758" y="542487"/>
            <a:chExt cx="478063" cy="434664"/>
          </a:xfrm>
        </p:grpSpPr>
        <p:sp>
          <p:nvSpPr>
            <p:cNvPr id="8" name="矩形 7" descr="312b1dea-24e9-4be0-aaa5-921411d74e77"/>
            <p:cNvSpPr/>
            <p:nvPr/>
          </p:nvSpPr>
          <p:spPr>
            <a:xfrm>
              <a:off x="10937758" y="542487"/>
              <a:ext cx="315501" cy="315501"/>
            </a:xfrm>
            <a:prstGeom prst="rect">
              <a:avLst/>
            </a:prstGeom>
            <a:gradFill flip="none" rotWithShape="1">
              <a:gsLst>
                <a:gs pos="0">
                  <a:schemeClr val="accent1"/>
                </a:gs>
                <a:gs pos="100000">
                  <a:schemeClr val="accent1">
                    <a:alpha val="0"/>
                  </a:schemeClr>
                </a:gs>
              </a:gsLst>
              <a:lin ang="2700000" scaled="1"/>
              <a:tileRect/>
            </a:gra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sp>
          <p:nvSpPr>
            <p:cNvPr id="11" name="矩形 10" descr="ca79ebbf-cb8d-4e04-af92-2222a1106bbd"/>
            <p:cNvSpPr/>
            <p:nvPr/>
          </p:nvSpPr>
          <p:spPr>
            <a:xfrm>
              <a:off x="11100320" y="661650"/>
              <a:ext cx="315501" cy="315501"/>
            </a:xfrm>
            <a:prstGeom prst="rect">
              <a:avLst/>
            </a:prstGeom>
            <a:gradFill flip="none" rotWithShape="1">
              <a:gsLst>
                <a:gs pos="0">
                  <a:schemeClr val="accent1"/>
                </a:gs>
                <a:gs pos="100000">
                  <a:schemeClr val="accent1">
                    <a:alpha val="0"/>
                  </a:schemeClr>
                </a:gs>
              </a:gsLst>
              <a:lin ang="2700000" scaled="1"/>
              <a:tileRect/>
            </a:gradFill>
            <a:ln>
              <a:noFill/>
            </a:ln>
          </p:spPr>
          <p:txBody>
            <a:bodyPr vert="horz" wrap="square" lIns="91440" tIns="45720" rIns="91440" bIns="45720" numCol="1" anchor="t" anchorCtr="0" compatLnSpc="1">
              <a:prstTxWarp prst="textNoShape">
                <a:avLst/>
              </a:prstTxWarp>
            </a:bodyPr>
            <a:lstStyle/>
            <a:p>
              <a:pPr lvl="0"/>
              <a:endParaRPr lang="zh-CN" altLang="en-US">
                <a:solidFill>
                  <a:schemeClr val="tx1"/>
                </a:solidFill>
              </a:endParaRPr>
            </a:p>
          </p:txBody>
        </p:sp>
      </p:gr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descr="8cd51f14-1545-451d-a0bb-56d41fdf2029"/>
          <p:cNvSpPr>
            <a:spLocks noGrp="1"/>
          </p:cNvSpPr>
          <p:nvPr>
            <p:ph type="title" hasCustomPrompt="1"/>
          </p:nvPr>
        </p:nvSpPr>
        <p:spPr/>
        <p:txBody>
          <a:bodyPr/>
          <a:lstStyle>
            <a:lvl1pPr>
              <a:defRPr/>
            </a:lvl1pPr>
          </a:lstStyle>
          <a:p>
            <a:pPr lvl="0"/>
            <a:r>
              <a:rPr lang="zh-CN" altLang="en-US" dirty="0"/>
              <a:t>Click to add title</a:t>
            </a:r>
            <a:endParaRPr lang="en-US" dirty="0"/>
          </a:p>
        </p:txBody>
      </p:sp>
      <p:sp>
        <p:nvSpPr>
          <p:cNvPr id="3" name="内容占位符 2" descr="ae126ac8-1a53-4b2a-938b-da9b36235310"/>
          <p:cNvSpPr>
            <a:spLocks noGrp="1"/>
          </p:cNvSpPr>
          <p:nvPr>
            <p:ph idx="1" hasCustomPrompt="1"/>
          </p:nvPr>
        </p:nvSpPr>
        <p:spPr/>
        <p:txBody>
          <a:bodyPr/>
          <a:lstStyle>
            <a:lvl1pPr>
              <a:defRPr/>
            </a:lvl1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descr="571b2770-3d1c-4de1-bfb8-931ca8efa2d0"/>
          <p:cNvSpPr>
            <a:spLocks noGrp="1"/>
          </p:cNvSpPr>
          <p:nvPr>
            <p:ph type="dt" sz="half" idx="10"/>
          </p:nvPr>
        </p:nvSpPr>
        <p:spPr/>
        <p:txBody>
          <a:bodyPr/>
          <a:lstStyle/>
          <a:p>
            <a:endParaRPr lang="en-US"/>
          </a:p>
        </p:txBody>
      </p:sp>
      <p:sp>
        <p:nvSpPr>
          <p:cNvPr id="5" name="页脚占位符 4" descr="94faae1d-5154-4880-b6a5-f4dec0297cca"/>
          <p:cNvSpPr>
            <a:spLocks noGrp="1"/>
          </p:cNvSpPr>
          <p:nvPr>
            <p:ph type="ftr" sz="quarter" idx="11"/>
          </p:nvPr>
        </p:nvSpPr>
        <p:spPr/>
        <p:txBody>
          <a:bodyPr/>
          <a:lstStyle/>
          <a:p>
            <a:endParaRPr lang="en-US" dirty="0"/>
          </a:p>
        </p:txBody>
      </p:sp>
      <p:sp>
        <p:nvSpPr>
          <p:cNvPr id="6" name="灯片编号占位符 5" descr="3a473435-68fa-4b5c-a5d9-94a2b51ddb6f"/>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sp>
        <p:nvSpPr>
          <p:cNvPr id="8" name="矩形 7" descr="5dddd1c9-eed6-4554-96ea-f15800497807"/>
          <p:cNvSpPr/>
          <p:nvPr/>
        </p:nvSpPr>
        <p:spPr>
          <a:xfrm>
            <a:off x="0" y="-14514"/>
            <a:ext cx="4107533" cy="128237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descr="087e2bd2-fc07-4972-8155-fb375dc4c3b1"/>
          <p:cNvSpPr/>
          <p:nvPr/>
        </p:nvSpPr>
        <p:spPr>
          <a:xfrm>
            <a:off x="660399" y="470996"/>
            <a:ext cx="10858499" cy="2242315"/>
          </a:xfrm>
          <a:prstGeom prst="rect">
            <a:avLst/>
          </a:prstGeom>
          <a:blipFill>
            <a:blip r:embed="rId2"/>
            <a:srcRect/>
            <a:stretch>
              <a:fillRect t="-85691" b="-85691"/>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lvl="0" algn="ctr"/>
            <a:endParaRPr lang="zh-CN" altLang="en-US"/>
          </a:p>
        </p:txBody>
      </p:sp>
      <p:sp>
        <p:nvSpPr>
          <p:cNvPr id="2" name="标题 1" descr="bccc13e8-8c52-4fbb-85ca-be793e37803b"/>
          <p:cNvSpPr>
            <a:spLocks noGrp="1"/>
          </p:cNvSpPr>
          <p:nvPr>
            <p:ph type="title" hasCustomPrompt="1"/>
          </p:nvPr>
        </p:nvSpPr>
        <p:spPr>
          <a:xfrm>
            <a:off x="660400" y="3070547"/>
            <a:ext cx="2068286" cy="543761"/>
          </a:xfrm>
          <a:prstGeom prst="rect">
            <a:avLst/>
          </a:prstGeom>
          <a:noFill/>
        </p:spPr>
        <p:txBody>
          <a:bodyPr anchor="t" anchorCtr="0">
            <a:normAutofit/>
          </a:bodyPr>
          <a:lstStyle>
            <a:lvl1pPr algn="r">
              <a:defRPr sz="2800">
                <a:solidFill>
                  <a:schemeClr val="tx1"/>
                </a:solidFill>
              </a:defRPr>
            </a:lvl1pPr>
          </a:lstStyle>
          <a:p>
            <a:pPr lvl="0"/>
            <a:r>
              <a:rPr lang="zh-CN" altLang="en-US" dirty="0"/>
              <a:t>Agenda</a:t>
            </a:r>
            <a:endParaRPr lang="en-US" dirty="0"/>
          </a:p>
        </p:txBody>
      </p:sp>
      <p:sp>
        <p:nvSpPr>
          <p:cNvPr id="3" name="内容占位符 2" descr="9345ae1a-d7f0-4ec4-83d1-64e52be623c1"/>
          <p:cNvSpPr>
            <a:spLocks noGrp="1"/>
          </p:cNvSpPr>
          <p:nvPr>
            <p:ph sz="quarter" idx="1" hasCustomPrompt="1"/>
          </p:nvPr>
        </p:nvSpPr>
        <p:spPr>
          <a:xfrm>
            <a:off x="2946399" y="3070547"/>
            <a:ext cx="8419167" cy="3063553"/>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descr="f4b6a1a6-c908-4af6-9675-b99c5ec90e7f"/>
          <p:cNvSpPr>
            <a:spLocks noGrp="1"/>
          </p:cNvSpPr>
          <p:nvPr>
            <p:ph type="dt" sz="half" idx="10"/>
          </p:nvPr>
        </p:nvSpPr>
        <p:spPr/>
        <p:txBody>
          <a:bodyPr/>
          <a:lstStyle>
            <a:lvl1pPr>
              <a:defRPr>
                <a:solidFill>
                  <a:srgbClr val="8E8E8E"/>
                </a:solidFill>
              </a:defRPr>
            </a:lvl1pPr>
          </a:lstStyle>
          <a:p>
            <a:endParaRPr lang="en-US" dirty="0"/>
          </a:p>
        </p:txBody>
      </p:sp>
      <p:sp>
        <p:nvSpPr>
          <p:cNvPr id="5" name="页脚占位符 4" descr="9c59948d-66f5-4529-9083-863a1328c7b4"/>
          <p:cNvSpPr>
            <a:spLocks noGrp="1"/>
          </p:cNvSpPr>
          <p:nvPr>
            <p:ph type="ftr" sz="quarter" idx="11"/>
          </p:nvPr>
        </p:nvSpPr>
        <p:spPr/>
        <p:txBody>
          <a:bodyPr/>
          <a:lstStyle>
            <a:lvl1pPr>
              <a:defRPr>
                <a:solidFill>
                  <a:srgbClr val="8E8E8E"/>
                </a:solidFill>
              </a:defRPr>
            </a:lvl1pPr>
          </a:lstStyle>
          <a:p>
            <a:endParaRPr lang="en-US" dirty="0"/>
          </a:p>
        </p:txBody>
      </p:sp>
      <p:sp>
        <p:nvSpPr>
          <p:cNvPr id="6" name="灯片编号占位符 5" descr="8786206d-fb0e-4c5c-aec2-22c974e6e011"/>
          <p:cNvSpPr>
            <a:spLocks noGrp="1"/>
          </p:cNvSpPr>
          <p:nvPr>
            <p:ph type="sldNum" sz="quarter" idx="12"/>
          </p:nvPr>
        </p:nvSpPr>
        <p:spPr/>
        <p:txBody>
          <a:bodyPr/>
          <a:lstStyle>
            <a:lvl1pPr>
              <a:defRPr>
                <a:solidFill>
                  <a:srgbClr val="8E8E8E"/>
                </a:solidFill>
              </a:defRPr>
            </a:lvl1pPr>
          </a:lstStyle>
          <a:p>
            <a:fld id="{C8BB1146-E542-4D4E-B8E9-6919A11DDD48}" type="slidenum">
              <a:rPr lang="en-US" smtClean="0"/>
              <a:pPr/>
              <a:t>‹#›</a:t>
            </a:fld>
            <a:endParaRPr lang="en-US" dirty="0"/>
          </a:p>
        </p:txBody>
      </p:sp>
      <p:cxnSp>
        <p:nvCxnSpPr>
          <p:cNvPr id="15" name="直接连接符 14" descr="4f924643-2f7f-4102-8c90-d96de235888c"/>
          <p:cNvCxnSpPr>
            <a:cxnSpLocks/>
          </p:cNvCxnSpPr>
          <p:nvPr/>
        </p:nvCxnSpPr>
        <p:spPr>
          <a:xfrm>
            <a:off x="2837542" y="3070547"/>
            <a:ext cx="0" cy="3063553"/>
          </a:xfrm>
          <a:prstGeom prst="line">
            <a:avLst/>
          </a:prstGeom>
          <a:solidFill>
            <a:srgbClr val="FFCC00"/>
          </a:solidFill>
          <a:ln w="3175" cap="flat" cmpd="sng" algn="ctr">
            <a:solidFill>
              <a:schemeClr val="tx2">
                <a:alpha val="50000"/>
              </a:schemeClr>
            </a:solidFill>
            <a:prstDash val="solid"/>
            <a:round/>
            <a:headEnd type="none" w="med" len="med"/>
            <a:tailEnd type="none" w="med" len="med"/>
          </a:ln>
          <a:effectLst/>
        </p:spPr>
      </p:cxnSp>
      <p:sp>
        <p:nvSpPr>
          <p:cNvPr id="17" name="任意多边形: 形状 16" descr="75944841-6a0e-44db-951b-802028cf82b3"/>
          <p:cNvSpPr>
            <a:spLocks noChangeAspect="1"/>
          </p:cNvSpPr>
          <p:nvPr/>
        </p:nvSpPr>
        <p:spPr bwMode="auto">
          <a:xfrm>
            <a:off x="1851756" y="5218433"/>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tx2">
              <a:alpha val="15000"/>
            </a:schemeClr>
          </a:solidFill>
          <a:ln>
            <a:noFill/>
          </a:ln>
        </p:spPr>
        <p:txBody>
          <a:bodyPr/>
          <a:lstStyle/>
          <a:p>
            <a:endParaRPr lang="zh-CN" altLang="en-US">
              <a:cs typeface="+mn-ea"/>
              <a:sym typeface="+mn-l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a:gsLst>
            <a:gs pos="0">
              <a:schemeClr val="accent3">
                <a:lumMod val="50000"/>
              </a:schemeClr>
            </a:gs>
            <a:gs pos="28000">
              <a:schemeClr val="accent3"/>
            </a:gs>
            <a:gs pos="100000">
              <a:schemeClr val="accent1"/>
            </a:gs>
          </a:gsLst>
          <a:lin ang="5400000" scaled="1"/>
        </a:gradFill>
        <a:effectLst/>
      </p:bgPr>
    </p:bg>
    <p:spTree>
      <p:nvGrpSpPr>
        <p:cNvPr id="1" name=""/>
        <p:cNvGrpSpPr/>
        <p:nvPr/>
      </p:nvGrpSpPr>
      <p:grpSpPr>
        <a:xfrm>
          <a:off x="0" y="0"/>
          <a:ext cx="0" cy="0"/>
          <a:chOff x="0" y="0"/>
          <a:chExt cx="0" cy="0"/>
        </a:xfrm>
      </p:grpSpPr>
      <p:grpSp>
        <p:nvGrpSpPr>
          <p:cNvPr id="2" name="组合 1" descr="dbfd0d31-a2bc-4a45-a663-3f5b2238ab61"/>
          <p:cNvGrpSpPr/>
          <p:nvPr/>
        </p:nvGrpSpPr>
        <p:grpSpPr>
          <a:xfrm flipH="1">
            <a:off x="6308365" y="0"/>
            <a:ext cx="5883635" cy="6858000"/>
            <a:chOff x="25398" y="0"/>
            <a:chExt cx="5883635" cy="6858000"/>
          </a:xfrm>
        </p:grpSpPr>
        <p:sp>
          <p:nvSpPr>
            <p:cNvPr id="3" name="任意多边形: 形状 2" descr="2faa0321-01b5-4979-ab6a-21ba3fe16b31"/>
            <p:cNvSpPr>
              <a:spLocks/>
            </p:cNvSpPr>
            <p:nvPr/>
          </p:nvSpPr>
          <p:spPr bwMode="auto">
            <a:xfrm>
              <a:off x="25398" y="0"/>
              <a:ext cx="3310468" cy="3764154"/>
            </a:xfrm>
            <a:custGeom>
              <a:avLst/>
              <a:gdLst>
                <a:gd name="T0" fmla="*/ 2065 w 2065"/>
                <a:gd name="T1" fmla="*/ 2348 h 2348"/>
                <a:gd name="T2" fmla="*/ 1029 w 2065"/>
                <a:gd name="T3" fmla="*/ 2348 h 2348"/>
                <a:gd name="T4" fmla="*/ 0 w 2065"/>
                <a:gd name="T5" fmla="*/ 0 h 2348"/>
                <a:gd name="T6" fmla="*/ 1039 w 2065"/>
                <a:gd name="T7" fmla="*/ 0 h 2348"/>
                <a:gd name="T8" fmla="*/ 2065 w 2065"/>
                <a:gd name="T9" fmla="*/ 2348 h 2348"/>
              </a:gdLst>
              <a:ahLst/>
              <a:cxnLst>
                <a:cxn ang="0">
                  <a:pos x="T0" y="T1"/>
                </a:cxn>
                <a:cxn ang="0">
                  <a:pos x="T2" y="T3"/>
                </a:cxn>
                <a:cxn ang="0">
                  <a:pos x="T4" y="T5"/>
                </a:cxn>
                <a:cxn ang="0">
                  <a:pos x="T6" y="T7"/>
                </a:cxn>
                <a:cxn ang="0">
                  <a:pos x="T8" y="T9"/>
                </a:cxn>
              </a:cxnLst>
              <a:rect l="0" t="0" r="r" b="b"/>
              <a:pathLst>
                <a:path w="2065" h="2348">
                  <a:moveTo>
                    <a:pt x="2065" y="2348"/>
                  </a:moveTo>
                  <a:lnTo>
                    <a:pt x="1029" y="2348"/>
                  </a:lnTo>
                  <a:lnTo>
                    <a:pt x="0" y="0"/>
                  </a:lnTo>
                  <a:lnTo>
                    <a:pt x="1039" y="0"/>
                  </a:lnTo>
                  <a:lnTo>
                    <a:pt x="2065" y="234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 name="任意多边形: 形状 6" descr="d3be2d7f-a79d-4407-9a68-d607a6ef0807"/>
            <p:cNvSpPr>
              <a:spLocks/>
            </p:cNvSpPr>
            <p:nvPr/>
          </p:nvSpPr>
          <p:spPr bwMode="auto">
            <a:xfrm>
              <a:off x="3549082" y="3065219"/>
              <a:ext cx="2337367" cy="1539007"/>
            </a:xfrm>
            <a:custGeom>
              <a:avLst/>
              <a:gdLst>
                <a:gd name="T0" fmla="*/ 1458 w 1458"/>
                <a:gd name="T1" fmla="*/ 960 h 960"/>
                <a:gd name="T2" fmla="*/ 1038 w 1458"/>
                <a:gd name="T3" fmla="*/ 0 h 960"/>
                <a:gd name="T4" fmla="*/ 0 w 1458"/>
                <a:gd name="T5" fmla="*/ 0 h 960"/>
                <a:gd name="T6" fmla="*/ 419 w 1458"/>
                <a:gd name="T7" fmla="*/ 960 h 960"/>
                <a:gd name="T8" fmla="*/ 1458 w 1458"/>
                <a:gd name="T9" fmla="*/ 960 h 960"/>
              </a:gdLst>
              <a:ahLst/>
              <a:cxnLst>
                <a:cxn ang="0">
                  <a:pos x="T0" y="T1"/>
                </a:cxn>
                <a:cxn ang="0">
                  <a:pos x="T2" y="T3"/>
                </a:cxn>
                <a:cxn ang="0">
                  <a:pos x="T4" y="T5"/>
                </a:cxn>
                <a:cxn ang="0">
                  <a:pos x="T6" y="T7"/>
                </a:cxn>
                <a:cxn ang="0">
                  <a:pos x="T8" y="T9"/>
                </a:cxn>
              </a:cxnLst>
              <a:rect l="0" t="0" r="r" b="b"/>
              <a:pathLst>
                <a:path w="1458" h="960">
                  <a:moveTo>
                    <a:pt x="1458" y="960"/>
                  </a:moveTo>
                  <a:lnTo>
                    <a:pt x="1038" y="0"/>
                  </a:lnTo>
                  <a:lnTo>
                    <a:pt x="0" y="0"/>
                  </a:lnTo>
                  <a:lnTo>
                    <a:pt x="419" y="960"/>
                  </a:lnTo>
                  <a:lnTo>
                    <a:pt x="1458" y="96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 name="任意多边形: 形状 8" descr="cfc6a2c8-d640-4d15-9f75-2be0cf55d620"/>
            <p:cNvSpPr>
              <a:spLocks/>
            </p:cNvSpPr>
            <p:nvPr/>
          </p:nvSpPr>
          <p:spPr bwMode="auto">
            <a:xfrm>
              <a:off x="515957" y="4674534"/>
              <a:ext cx="1678480" cy="2183466"/>
            </a:xfrm>
            <a:custGeom>
              <a:avLst/>
              <a:gdLst>
                <a:gd name="T0" fmla="*/ 452 w 1047"/>
                <a:gd name="T1" fmla="*/ 0 h 1362"/>
                <a:gd name="T2" fmla="*/ 0 w 1047"/>
                <a:gd name="T3" fmla="*/ 0 h 1362"/>
                <a:gd name="T4" fmla="*/ 595 w 1047"/>
                <a:gd name="T5" fmla="*/ 1362 h 1362"/>
                <a:gd name="T6" fmla="*/ 1047 w 1047"/>
                <a:gd name="T7" fmla="*/ 1362 h 1362"/>
                <a:gd name="T8" fmla="*/ 452 w 1047"/>
                <a:gd name="T9" fmla="*/ 0 h 1362"/>
              </a:gdLst>
              <a:ahLst/>
              <a:cxnLst>
                <a:cxn ang="0">
                  <a:pos x="T0" y="T1"/>
                </a:cxn>
                <a:cxn ang="0">
                  <a:pos x="T2" y="T3"/>
                </a:cxn>
                <a:cxn ang="0">
                  <a:pos x="T4" y="T5"/>
                </a:cxn>
                <a:cxn ang="0">
                  <a:pos x="T6" y="T7"/>
                </a:cxn>
                <a:cxn ang="0">
                  <a:pos x="T8" y="T9"/>
                </a:cxn>
              </a:cxnLst>
              <a:rect l="0" t="0" r="r" b="b"/>
              <a:pathLst>
                <a:path w="1047" h="1362">
                  <a:moveTo>
                    <a:pt x="452" y="0"/>
                  </a:moveTo>
                  <a:lnTo>
                    <a:pt x="0" y="0"/>
                  </a:lnTo>
                  <a:lnTo>
                    <a:pt x="595" y="1362"/>
                  </a:lnTo>
                  <a:lnTo>
                    <a:pt x="1047" y="1362"/>
                  </a:lnTo>
                  <a:lnTo>
                    <a:pt x="452"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任意多边形: 形状 9" descr="1d4a08b6-1354-44c2-8f6b-2dd28c87d4c7"/>
            <p:cNvSpPr>
              <a:spLocks/>
            </p:cNvSpPr>
            <p:nvPr/>
          </p:nvSpPr>
          <p:spPr bwMode="auto">
            <a:xfrm>
              <a:off x="660238" y="1775447"/>
              <a:ext cx="5248795" cy="4319691"/>
            </a:xfrm>
            <a:custGeom>
              <a:avLst/>
              <a:gdLst>
                <a:gd name="connsiteX0" fmla="*/ 0 w 5248795"/>
                <a:gd name="connsiteY0" fmla="*/ 2104163 h 4319691"/>
                <a:gd name="connsiteX1" fmla="*/ 1300140 w 5248795"/>
                <a:gd name="connsiteY1" fmla="*/ 2104163 h 4319691"/>
                <a:gd name="connsiteX2" fmla="*/ 2311717 w 5248795"/>
                <a:gd name="connsiteY2" fmla="*/ 4319691 h 4319691"/>
                <a:gd name="connsiteX3" fmla="*/ 1014783 w 5248795"/>
                <a:gd name="connsiteY3" fmla="*/ 4319691 h 4319691"/>
                <a:gd name="connsiteX4" fmla="*/ 495039 w 5248795"/>
                <a:gd name="connsiteY4" fmla="*/ 0 h 4319691"/>
                <a:gd name="connsiteX5" fmla="*/ 3737071 w 5248795"/>
                <a:gd name="connsiteY5" fmla="*/ 0 h 4319691"/>
                <a:gd name="connsiteX6" fmla="*/ 5248795 w 5248795"/>
                <a:gd name="connsiteY6" fmla="*/ 3307105 h 4319691"/>
                <a:gd name="connsiteX7" fmla="*/ 2006764 w 5248795"/>
                <a:gd name="connsiteY7" fmla="*/ 3307105 h 4319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8795" h="4319691">
                  <a:moveTo>
                    <a:pt x="0" y="2104163"/>
                  </a:moveTo>
                  <a:lnTo>
                    <a:pt x="1300140" y="2104163"/>
                  </a:lnTo>
                  <a:lnTo>
                    <a:pt x="2311717" y="4319691"/>
                  </a:lnTo>
                  <a:lnTo>
                    <a:pt x="1014783" y="4319691"/>
                  </a:lnTo>
                  <a:close/>
                  <a:moveTo>
                    <a:pt x="495039" y="0"/>
                  </a:moveTo>
                  <a:lnTo>
                    <a:pt x="3737071" y="0"/>
                  </a:lnTo>
                  <a:lnTo>
                    <a:pt x="5248795" y="3307105"/>
                  </a:lnTo>
                  <a:lnTo>
                    <a:pt x="2006764" y="3307105"/>
                  </a:lnTo>
                  <a:close/>
                </a:path>
              </a:pathLst>
            </a:custGeom>
            <a:blipFill>
              <a:blip r:embed="rId2"/>
              <a:srcRect/>
              <a:stretch>
                <a:fillRect l="-23426" r="-23426"/>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Autofit/>
            </a:bodyPr>
            <a:lstStyle/>
            <a:p>
              <a:pPr lvl="0" algn="ctr"/>
              <a:endParaRPr lang="zh-CN" altLang="en-US">
                <a:solidFill>
                  <a:schemeClr val="lt1"/>
                </a:solidFill>
              </a:endParaRPr>
            </a:p>
          </p:txBody>
        </p:sp>
      </p:grpSp>
      <p:sp>
        <p:nvSpPr>
          <p:cNvPr id="5" name="标题 4" descr="a901c192-3a89-4011-a292-a0c08f010ed4"/>
          <p:cNvSpPr>
            <a:spLocks noGrp="1"/>
          </p:cNvSpPr>
          <p:nvPr>
            <p:ph type="title" hasCustomPrompt="1"/>
          </p:nvPr>
        </p:nvSpPr>
        <p:spPr>
          <a:xfrm>
            <a:off x="660401" y="2430775"/>
            <a:ext cx="5112646" cy="1286086"/>
          </a:xfrm>
          <a:prstGeom prst="rect">
            <a:avLst/>
          </a:prstGeom>
        </p:spPr>
        <p:txBody>
          <a:bodyPr>
            <a:noAutofit/>
          </a:bodyPr>
          <a:lstStyle>
            <a:lvl1pPr algn="l">
              <a:lnSpc>
                <a:spcPct val="100000"/>
              </a:lnSpc>
              <a:defRPr sz="4400"/>
            </a:lvl1pPr>
          </a:lstStyle>
          <a:p>
            <a:pPr lvl="0"/>
            <a:r>
              <a:rPr lang="zh-CN" altLang="en-US" dirty="0"/>
              <a:t>Click to add title</a:t>
            </a:r>
            <a:endParaRPr lang="en-US" dirty="0"/>
          </a:p>
        </p:txBody>
      </p:sp>
      <p:sp>
        <p:nvSpPr>
          <p:cNvPr id="25" name="文本占位符 24" descr="8f57161b-2598-43a7-b514-2ed0f586aeee"/>
          <p:cNvSpPr>
            <a:spLocks noGrp="1"/>
          </p:cNvSpPr>
          <p:nvPr>
            <p:ph type="body" sz="quarter" idx="1" hasCustomPrompt="1"/>
          </p:nvPr>
        </p:nvSpPr>
        <p:spPr>
          <a:xfrm>
            <a:off x="660401" y="3728714"/>
            <a:ext cx="5112646" cy="893715"/>
          </a:xfrm>
          <a:prstGeom prst="rect">
            <a:avLst/>
          </a:prstGeom>
        </p:spPr>
        <p:txBody>
          <a:bodyPr anchor="t">
            <a:normAutofit/>
          </a:bodyPr>
          <a:lstStyle>
            <a:lvl1pPr marL="0" indent="0" algn="l">
              <a:lnSpc>
                <a:spcPct val="120000"/>
              </a:lnSpc>
              <a:buFont typeface="+mj-lt"/>
              <a:buNone/>
              <a:defRPr sz="1600" b="0">
                <a:solidFill>
                  <a:schemeClr val="tx1"/>
                </a:solidFill>
                <a:latin typeface="+mn-lt"/>
              </a:defRPr>
            </a:lvl1pPr>
          </a:lstStyle>
          <a:p>
            <a:pPr lvl="0"/>
            <a:r>
              <a:rPr lang="zh-CN" altLang="en-US" dirty="0"/>
              <a:t>Click to add text</a:t>
            </a:r>
            <a:endParaRPr lang="en-US" dirty="0"/>
          </a:p>
        </p:txBody>
      </p:sp>
      <p:sp>
        <p:nvSpPr>
          <p:cNvPr id="4" name="日期占位符 3" descr="7dde8c1e-8f0a-4fde-84e2-d6aaf5736401"/>
          <p:cNvSpPr>
            <a:spLocks noGrp="1"/>
          </p:cNvSpPr>
          <p:nvPr>
            <p:ph type="dt" sz="half" idx="10"/>
          </p:nvPr>
        </p:nvSpPr>
        <p:spPr/>
        <p:txBody>
          <a:bodyPr/>
          <a:lstStyle/>
          <a:p>
            <a:fld id="{2A27A813-B2FD-42E1-9222-83B574E99074}" type="datetime1">
              <a:rPr lang="zh-CN" altLang="en-US" smtClean="0"/>
              <a:t>2025/12/28</a:t>
            </a:fld>
            <a:endParaRPr lang="en-US" altLang="zh-CN"/>
          </a:p>
        </p:txBody>
      </p:sp>
      <p:sp>
        <p:nvSpPr>
          <p:cNvPr id="6" name="页脚占位符 5" descr="8947747e-27d4-407a-9b35-258991ac5725"/>
          <p:cNvSpPr>
            <a:spLocks noGrp="1"/>
          </p:cNvSpPr>
          <p:nvPr>
            <p:ph type="ftr" sz="quarter" idx="11"/>
          </p:nvPr>
        </p:nvSpPr>
        <p:spPr/>
        <p:txBody>
          <a:bodyPr/>
          <a:lstStyle/>
          <a:p>
            <a:r>
              <a:rPr lang="af-ZA" altLang="zh-CN"/>
              <a:t>iSlide</a:t>
            </a:r>
            <a:endParaRPr lang="zh-CN" altLang="en-US"/>
          </a:p>
        </p:txBody>
      </p:sp>
      <p:sp>
        <p:nvSpPr>
          <p:cNvPr id="8" name="灯片编号占位符 7" descr="7537afa3-b986-482b-b16b-004bc138b6e6"/>
          <p:cNvSpPr>
            <a:spLocks noGrp="1"/>
          </p:cNvSpPr>
          <p:nvPr>
            <p:ph type="sldNum" sz="quarter" idx="12"/>
          </p:nvPr>
        </p:nvSpPr>
        <p:spPr/>
        <p:txBody>
          <a:bodyPr/>
          <a:lstStyle/>
          <a:p>
            <a:fld id="{7F65B630-C7FF-41C0-9923-C5E5E29EED81}" type="slidenum">
              <a:rPr lang="en-US" altLang="zh-CN" smtClean="0"/>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descr="82c93c0a-7cf3-4dc5-8af9-c15a45117dce"/>
          <p:cNvSpPr>
            <a:spLocks noGrp="1"/>
          </p:cNvSpPr>
          <p:nvPr>
            <p:ph type="title" hasCustomPrompt="1"/>
          </p:nvPr>
        </p:nvSpPr>
        <p:spPr/>
        <p:txBody>
          <a:bodyPr/>
          <a:lstStyle>
            <a:lvl1pPr>
              <a:defRPr/>
            </a:lvl1pPr>
          </a:lstStyle>
          <a:p>
            <a:pPr lvl="0"/>
            <a:r>
              <a:rPr lang="zh-CN" altLang="en-US" dirty="0"/>
              <a:t>Click to add title</a:t>
            </a:r>
            <a:endParaRPr lang="en-US" dirty="0"/>
          </a:p>
        </p:txBody>
      </p:sp>
      <p:sp>
        <p:nvSpPr>
          <p:cNvPr id="3" name="日期占位符 2" descr="2e39b528-2ebe-481e-b7a7-2e60e6a65b98"/>
          <p:cNvSpPr>
            <a:spLocks noGrp="1"/>
          </p:cNvSpPr>
          <p:nvPr>
            <p:ph type="dt" sz="half" idx="10"/>
          </p:nvPr>
        </p:nvSpPr>
        <p:spPr/>
        <p:txBody>
          <a:bodyPr/>
          <a:lstStyle/>
          <a:p>
            <a:endParaRPr lang="en-US"/>
          </a:p>
        </p:txBody>
      </p:sp>
      <p:sp>
        <p:nvSpPr>
          <p:cNvPr id="4" name="页脚占位符 3" descr="d29e7cdd-c9dc-4e4c-97a3-5b9177d70a41"/>
          <p:cNvSpPr>
            <a:spLocks noGrp="1"/>
          </p:cNvSpPr>
          <p:nvPr>
            <p:ph type="ftr" sz="quarter" idx="11"/>
          </p:nvPr>
        </p:nvSpPr>
        <p:spPr/>
        <p:txBody>
          <a:bodyPr/>
          <a:lstStyle/>
          <a:p>
            <a:endParaRPr lang="en-US" dirty="0"/>
          </a:p>
        </p:txBody>
      </p:sp>
      <p:sp>
        <p:nvSpPr>
          <p:cNvPr id="5" name="灯片编号占位符 4" descr="1f8302ff-754e-4d78-b5e0-8e784e91dc72"/>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descr="3d72114b-019e-4bd4-acd0-627611abc2de"/>
          <p:cNvSpPr>
            <a:spLocks noGrp="1"/>
          </p:cNvSpPr>
          <p:nvPr>
            <p:ph type="dt" sz="half" idx="10"/>
          </p:nvPr>
        </p:nvSpPr>
        <p:spPr/>
        <p:txBody>
          <a:bodyPr/>
          <a:lstStyle/>
          <a:p>
            <a:endParaRPr lang="en-US"/>
          </a:p>
        </p:txBody>
      </p:sp>
      <p:sp>
        <p:nvSpPr>
          <p:cNvPr id="3" name="页脚占位符 2" descr="778c3d36-ba5b-47ce-bfc4-e236963b8bfa"/>
          <p:cNvSpPr>
            <a:spLocks noGrp="1"/>
          </p:cNvSpPr>
          <p:nvPr>
            <p:ph type="ftr" sz="quarter" idx="11"/>
          </p:nvPr>
        </p:nvSpPr>
        <p:spPr/>
        <p:txBody>
          <a:bodyPr/>
          <a:lstStyle/>
          <a:p>
            <a:endParaRPr lang="en-US" dirty="0"/>
          </a:p>
        </p:txBody>
      </p:sp>
      <p:sp>
        <p:nvSpPr>
          <p:cNvPr id="4" name="灯片编号占位符 3" descr="2cca8adb-bd2f-457a-858a-4ce96856ea6d"/>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losing" preserve="1">
  <p:cSld name="Closing">
    <p:bg>
      <p:bgPr>
        <a:gradFill>
          <a:gsLst>
            <a:gs pos="0">
              <a:schemeClr val="accent3">
                <a:lumMod val="50000"/>
              </a:schemeClr>
            </a:gs>
            <a:gs pos="28000">
              <a:schemeClr val="accent3"/>
            </a:gs>
            <a:gs pos="100000">
              <a:schemeClr val="accent1"/>
            </a:gs>
          </a:gsLst>
          <a:lin ang="5400000" scaled="1"/>
        </a:gradFill>
        <a:effectLst/>
      </p:bgPr>
    </p:bg>
    <p:spTree>
      <p:nvGrpSpPr>
        <p:cNvPr id="1" name=""/>
        <p:cNvGrpSpPr/>
        <p:nvPr/>
      </p:nvGrpSpPr>
      <p:grpSpPr>
        <a:xfrm>
          <a:off x="0" y="0"/>
          <a:ext cx="0" cy="0"/>
          <a:chOff x="0" y="0"/>
          <a:chExt cx="0" cy="0"/>
        </a:xfrm>
      </p:grpSpPr>
      <p:grpSp>
        <p:nvGrpSpPr>
          <p:cNvPr id="2" name="组合 1" descr="c060bc77-4537-4645-86e8-6a73701416e7"/>
          <p:cNvGrpSpPr/>
          <p:nvPr/>
        </p:nvGrpSpPr>
        <p:grpSpPr>
          <a:xfrm>
            <a:off x="0" y="0"/>
            <a:ext cx="12192001" cy="6858001"/>
            <a:chOff x="0" y="0"/>
            <a:chExt cx="12192001" cy="6858001"/>
          </a:xfrm>
        </p:grpSpPr>
        <p:sp>
          <p:nvSpPr>
            <p:cNvPr id="3" name="任意多边形: 形状 2" descr="6bedf109-76fb-44f1-93e5-558e7da34b19"/>
            <p:cNvSpPr>
              <a:spLocks/>
            </p:cNvSpPr>
            <p:nvPr/>
          </p:nvSpPr>
          <p:spPr bwMode="auto">
            <a:xfrm flipH="1" flipV="1">
              <a:off x="1821159" y="0"/>
              <a:ext cx="7186138" cy="6858000"/>
            </a:xfrm>
            <a:custGeom>
              <a:avLst/>
              <a:gdLst>
                <a:gd name="connsiteX0" fmla="*/ 7186138 w 7186138"/>
                <a:gd name="connsiteY0" fmla="*/ 6858000 h 6858000"/>
                <a:gd name="connsiteX1" fmla="*/ 3005486 w 7186138"/>
                <a:gd name="connsiteY1" fmla="*/ 6858000 h 6858000"/>
                <a:gd name="connsiteX2" fmla="*/ 0 w 7186138"/>
                <a:gd name="connsiteY2" fmla="*/ 0 h 6858000"/>
                <a:gd name="connsiteX3" fmla="*/ 4189414 w 7186138"/>
                <a:gd name="connsiteY3" fmla="*/ 0 h 6858000"/>
              </a:gdLst>
              <a:ahLst/>
              <a:cxnLst>
                <a:cxn ang="0">
                  <a:pos x="connsiteX0" y="connsiteY0"/>
                </a:cxn>
                <a:cxn ang="0">
                  <a:pos x="connsiteX1" y="connsiteY1"/>
                </a:cxn>
                <a:cxn ang="0">
                  <a:pos x="connsiteX2" y="connsiteY2"/>
                </a:cxn>
                <a:cxn ang="0">
                  <a:pos x="connsiteX3" y="connsiteY3"/>
                </a:cxn>
              </a:cxnLst>
              <a:rect l="l" t="t" r="r" b="b"/>
              <a:pathLst>
                <a:path w="7186138" h="6858000">
                  <a:moveTo>
                    <a:pt x="7186138" y="6858000"/>
                  </a:moveTo>
                  <a:lnTo>
                    <a:pt x="3005486" y="6858000"/>
                  </a:lnTo>
                  <a:lnTo>
                    <a:pt x="0" y="0"/>
                  </a:lnTo>
                  <a:lnTo>
                    <a:pt x="4189414" y="0"/>
                  </a:lnTo>
                  <a:close/>
                </a:path>
              </a:pathLst>
            </a:custGeom>
            <a:gradFill>
              <a:gsLst>
                <a:gs pos="0">
                  <a:schemeClr val="accent1">
                    <a:lumMod val="60000"/>
                    <a:lumOff val="40000"/>
                    <a:alpha val="50000"/>
                  </a:schemeClr>
                </a:gs>
                <a:gs pos="100000">
                  <a:schemeClr val="accent1">
                    <a:lumMod val="60000"/>
                    <a:lumOff val="40000"/>
                    <a:alpha val="0"/>
                  </a:schemeClr>
                </a:gs>
              </a:gsLst>
              <a:lin ang="5400000" scaled="1"/>
            </a:gradFill>
            <a:ln>
              <a:noFill/>
            </a:ln>
          </p:spPr>
          <p:txBody>
            <a:bodyPr vert="horz" wrap="square" lIns="91440" tIns="45720" rIns="91440" bIns="45720" numCol="1" anchor="t" anchorCtr="0" compatLnSpc="1">
              <a:prstTxWarp prst="textNoShape">
                <a:avLst/>
              </a:prstTxWarp>
              <a:noAutofit/>
            </a:bodyPr>
            <a:lstStyle/>
            <a:p>
              <a:pPr lvl="0"/>
              <a:endParaRPr lang="zh-CN" altLang="en-US"/>
            </a:p>
          </p:txBody>
        </p:sp>
        <p:sp>
          <p:nvSpPr>
            <p:cNvPr id="6" name="任意多边形: 形状 5" descr="9953ffdc-50ce-401e-abfe-7fcc0b2597ba"/>
            <p:cNvSpPr>
              <a:spLocks/>
            </p:cNvSpPr>
            <p:nvPr/>
          </p:nvSpPr>
          <p:spPr bwMode="auto">
            <a:xfrm>
              <a:off x="1" y="0"/>
              <a:ext cx="4515111" cy="6116632"/>
            </a:xfrm>
            <a:custGeom>
              <a:avLst/>
              <a:gdLst>
                <a:gd name="connsiteX0" fmla="*/ 0 w 4515111"/>
                <a:gd name="connsiteY0" fmla="*/ 0 h 6116632"/>
                <a:gd name="connsiteX1" fmla="*/ 1842340 w 4515111"/>
                <a:gd name="connsiteY1" fmla="*/ 0 h 6116632"/>
                <a:gd name="connsiteX2" fmla="*/ 4515111 w 4515111"/>
                <a:gd name="connsiteY2" fmla="*/ 6116632 h 6116632"/>
                <a:gd name="connsiteX3" fmla="*/ 939879 w 4515111"/>
                <a:gd name="connsiteY3" fmla="*/ 6116632 h 6116632"/>
                <a:gd name="connsiteX4" fmla="*/ 0 w 4515111"/>
                <a:gd name="connsiteY4" fmla="*/ 3971992 h 6116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15111" h="6116632">
                  <a:moveTo>
                    <a:pt x="0" y="0"/>
                  </a:moveTo>
                  <a:lnTo>
                    <a:pt x="1842340" y="0"/>
                  </a:lnTo>
                  <a:lnTo>
                    <a:pt x="4515111" y="6116632"/>
                  </a:lnTo>
                  <a:lnTo>
                    <a:pt x="939879" y="6116632"/>
                  </a:lnTo>
                  <a:lnTo>
                    <a:pt x="0" y="3971992"/>
                  </a:lnTo>
                  <a:close/>
                </a:path>
              </a:pathLst>
            </a:custGeom>
            <a:gradFill>
              <a:gsLst>
                <a:gs pos="0">
                  <a:schemeClr val="accent1"/>
                </a:gs>
                <a:gs pos="100000">
                  <a:schemeClr val="accent1">
                    <a:lumMod val="60000"/>
                    <a:lumOff val="40000"/>
                    <a:alpha val="0"/>
                  </a:schemeClr>
                </a:gs>
              </a:gsLst>
              <a:lin ang="5400000" scaled="1"/>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8" name="任意多边形: 形状 7" descr="aee84326-b6ba-48e9-a580-f008bec59d2d"/>
            <p:cNvSpPr>
              <a:spLocks/>
            </p:cNvSpPr>
            <p:nvPr/>
          </p:nvSpPr>
          <p:spPr bwMode="auto">
            <a:xfrm>
              <a:off x="0" y="0"/>
              <a:ext cx="7563110" cy="6858000"/>
            </a:xfrm>
            <a:custGeom>
              <a:avLst/>
              <a:gdLst>
                <a:gd name="connsiteX0" fmla="*/ 0 w 7563110"/>
                <a:gd name="connsiteY0" fmla="*/ 3340598 h 6858000"/>
                <a:gd name="connsiteX1" fmla="*/ 1294173 w 7563110"/>
                <a:gd name="connsiteY1" fmla="*/ 3340598 h 6858000"/>
                <a:gd name="connsiteX2" fmla="*/ 2900166 w 7563110"/>
                <a:gd name="connsiteY2" fmla="*/ 6858000 h 6858000"/>
                <a:gd name="connsiteX3" fmla="*/ 841136 w 7563110"/>
                <a:gd name="connsiteY3" fmla="*/ 6858000 h 6858000"/>
                <a:gd name="connsiteX4" fmla="*/ 0 w 7563110"/>
                <a:gd name="connsiteY4" fmla="*/ 5021587 h 6858000"/>
                <a:gd name="connsiteX5" fmla="*/ 15984 w 7563110"/>
                <a:gd name="connsiteY5" fmla="*/ 0 h 6858000"/>
                <a:gd name="connsiteX6" fmla="*/ 5163077 w 7563110"/>
                <a:gd name="connsiteY6" fmla="*/ 0 h 6858000"/>
                <a:gd name="connsiteX7" fmla="*/ 7563110 w 7563110"/>
                <a:gd name="connsiteY7" fmla="*/ 5250405 h 6858000"/>
                <a:gd name="connsiteX8" fmla="*/ 2416019 w 7563110"/>
                <a:gd name="connsiteY8" fmla="*/ 52504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63110" h="6858000">
                  <a:moveTo>
                    <a:pt x="0" y="3340598"/>
                  </a:moveTo>
                  <a:lnTo>
                    <a:pt x="1294173" y="3340598"/>
                  </a:lnTo>
                  <a:lnTo>
                    <a:pt x="2900166" y="6858000"/>
                  </a:lnTo>
                  <a:lnTo>
                    <a:pt x="841136" y="6858000"/>
                  </a:lnTo>
                  <a:lnTo>
                    <a:pt x="0" y="5021587"/>
                  </a:lnTo>
                  <a:close/>
                  <a:moveTo>
                    <a:pt x="15984" y="0"/>
                  </a:moveTo>
                  <a:lnTo>
                    <a:pt x="5163077" y="0"/>
                  </a:lnTo>
                  <a:lnTo>
                    <a:pt x="7563110" y="5250405"/>
                  </a:lnTo>
                  <a:lnTo>
                    <a:pt x="2416019" y="5250405"/>
                  </a:lnTo>
                  <a:close/>
                </a:path>
              </a:pathLst>
            </a:custGeom>
            <a:blipFill>
              <a:blip r:embed="rId2">
                <a:extLst>
                  <a:ext uri="{BEBA8EAE-BF5A-486C-A8C5-ECC9F3942E4B}">
                    <a14:imgProps xmlns:a14="http://schemas.microsoft.com/office/drawing/2010/main">
                      <a14:imgLayer r:embed="rId3">
                        <a14:imgEffect>
                          <a14:saturation sat="140000"/>
                        </a14:imgEffect>
                      </a14:imgLayer>
                    </a14:imgProps>
                  </a:ext>
                </a:extLst>
              </a:blip>
              <a:srcRect/>
              <a:stretch>
                <a:fillRect l="-30901" r="-30901"/>
              </a:stretch>
            </a:blipFill>
            <a:ln w="38100">
              <a:noFill/>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lvl="0" algn="ctr"/>
              <a:endParaRPr lang="zh-CN" altLang="en-US"/>
            </a:p>
          </p:txBody>
        </p:sp>
        <p:sp>
          <p:nvSpPr>
            <p:cNvPr id="9" name="任意多边形: 形状 8" descr="0d484a53-19c7-4964-af87-70da8845134d"/>
            <p:cNvSpPr>
              <a:spLocks/>
            </p:cNvSpPr>
            <p:nvPr/>
          </p:nvSpPr>
          <p:spPr bwMode="auto">
            <a:xfrm>
              <a:off x="1444188" y="4696693"/>
              <a:ext cx="2337367" cy="1539007"/>
            </a:xfrm>
            <a:custGeom>
              <a:avLst/>
              <a:gdLst>
                <a:gd name="T0" fmla="*/ 1458 w 1458"/>
                <a:gd name="T1" fmla="*/ 960 h 960"/>
                <a:gd name="T2" fmla="*/ 1038 w 1458"/>
                <a:gd name="T3" fmla="*/ 0 h 960"/>
                <a:gd name="T4" fmla="*/ 0 w 1458"/>
                <a:gd name="T5" fmla="*/ 0 h 960"/>
                <a:gd name="T6" fmla="*/ 419 w 1458"/>
                <a:gd name="T7" fmla="*/ 960 h 960"/>
                <a:gd name="T8" fmla="*/ 1458 w 1458"/>
                <a:gd name="T9" fmla="*/ 960 h 960"/>
              </a:gdLst>
              <a:ahLst/>
              <a:cxnLst>
                <a:cxn ang="0">
                  <a:pos x="T0" y="T1"/>
                </a:cxn>
                <a:cxn ang="0">
                  <a:pos x="T2" y="T3"/>
                </a:cxn>
                <a:cxn ang="0">
                  <a:pos x="T4" y="T5"/>
                </a:cxn>
                <a:cxn ang="0">
                  <a:pos x="T6" y="T7"/>
                </a:cxn>
                <a:cxn ang="0">
                  <a:pos x="T8" y="T9"/>
                </a:cxn>
              </a:cxnLst>
              <a:rect l="0" t="0" r="r" b="b"/>
              <a:pathLst>
                <a:path w="1458" h="960">
                  <a:moveTo>
                    <a:pt x="1458" y="960"/>
                  </a:moveTo>
                  <a:lnTo>
                    <a:pt x="1038" y="0"/>
                  </a:lnTo>
                  <a:lnTo>
                    <a:pt x="0" y="0"/>
                  </a:lnTo>
                  <a:lnTo>
                    <a:pt x="419" y="960"/>
                  </a:lnTo>
                  <a:lnTo>
                    <a:pt x="1458" y="960"/>
                  </a:lnTo>
                  <a:close/>
                </a:path>
              </a:pathLst>
            </a:custGeom>
            <a:gradFill>
              <a:gsLst>
                <a:gs pos="0">
                  <a:schemeClr val="accent1"/>
                </a:gs>
                <a:gs pos="100000">
                  <a:schemeClr val="accent1">
                    <a:alpha val="0"/>
                  </a:schemeClr>
                </a:gs>
              </a:gsLst>
              <a:lin ang="5400000" scaled="1"/>
            </a:gra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任意多边形: 形状 9" descr="6438209e-245d-4ff4-9485-a3535adbe505"/>
            <p:cNvSpPr>
              <a:spLocks/>
            </p:cNvSpPr>
            <p:nvPr/>
          </p:nvSpPr>
          <p:spPr bwMode="auto">
            <a:xfrm>
              <a:off x="1" y="5116704"/>
              <a:ext cx="760699" cy="1741297"/>
            </a:xfrm>
            <a:custGeom>
              <a:avLst/>
              <a:gdLst>
                <a:gd name="connsiteX0" fmla="*/ 0 w 760699"/>
                <a:gd name="connsiteY0" fmla="*/ 0 h 1741297"/>
                <a:gd name="connsiteX1" fmla="*/ 760699 w 760699"/>
                <a:gd name="connsiteY1" fmla="*/ 1741297 h 1741297"/>
                <a:gd name="connsiteX2" fmla="*/ 36083 w 760699"/>
                <a:gd name="connsiteY2" fmla="*/ 1741297 h 1741297"/>
                <a:gd name="connsiteX3" fmla="*/ 0 w 760699"/>
                <a:gd name="connsiteY3" fmla="*/ 1658700 h 1741297"/>
              </a:gdLst>
              <a:ahLst/>
              <a:cxnLst>
                <a:cxn ang="0">
                  <a:pos x="connsiteX0" y="connsiteY0"/>
                </a:cxn>
                <a:cxn ang="0">
                  <a:pos x="connsiteX1" y="connsiteY1"/>
                </a:cxn>
                <a:cxn ang="0">
                  <a:pos x="connsiteX2" y="connsiteY2"/>
                </a:cxn>
                <a:cxn ang="0">
                  <a:pos x="connsiteX3" y="connsiteY3"/>
                </a:cxn>
              </a:cxnLst>
              <a:rect l="l" t="t" r="r" b="b"/>
              <a:pathLst>
                <a:path w="760699" h="1741297">
                  <a:moveTo>
                    <a:pt x="0" y="0"/>
                  </a:moveTo>
                  <a:lnTo>
                    <a:pt x="760699" y="1741297"/>
                  </a:lnTo>
                  <a:lnTo>
                    <a:pt x="36083" y="1741297"/>
                  </a:lnTo>
                  <a:lnTo>
                    <a:pt x="0" y="1658700"/>
                  </a:lnTo>
                  <a:close/>
                </a:path>
              </a:pathLst>
            </a:custGeom>
            <a:gradFill flip="none" rotWithShape="1">
              <a:gsLst>
                <a:gs pos="0">
                  <a:schemeClr val="accent1"/>
                </a:gs>
                <a:gs pos="76000">
                  <a:schemeClr val="accent1">
                    <a:lumMod val="20000"/>
                    <a:lumOff val="80000"/>
                  </a:schemeClr>
                </a:gs>
              </a:gsLst>
              <a:lin ang="16200000" scaled="1"/>
              <a:tileRect/>
            </a:gradFill>
            <a:ln>
              <a:noFill/>
            </a:ln>
          </p:spPr>
          <p:txBody>
            <a:bodyPr vert="horz" wrap="square" lIns="91440" tIns="45720" rIns="91440" bIns="45720" numCol="1" anchor="t" anchorCtr="0" compatLnSpc="1">
              <a:prstTxWarp prst="textNoShape">
                <a:avLst/>
              </a:prstTxWarp>
              <a:noAutofit/>
            </a:bodyPr>
            <a:lstStyle/>
            <a:p>
              <a:endParaRPr lang="zh-CN" altLang="en-US"/>
            </a:p>
          </p:txBody>
        </p:sp>
        <p:sp>
          <p:nvSpPr>
            <p:cNvPr id="11" name="任意多边形: 形状 10" descr="a0ae86b2-abe3-455a-aaa9-0af39546cf57"/>
            <p:cNvSpPr>
              <a:spLocks/>
            </p:cNvSpPr>
            <p:nvPr/>
          </p:nvSpPr>
          <p:spPr bwMode="auto">
            <a:xfrm>
              <a:off x="4229683" y="0"/>
              <a:ext cx="3367542" cy="3829050"/>
            </a:xfrm>
            <a:custGeom>
              <a:avLst/>
              <a:gdLst>
                <a:gd name="T0" fmla="*/ 2065 w 2065"/>
                <a:gd name="T1" fmla="*/ 2348 h 2348"/>
                <a:gd name="T2" fmla="*/ 1029 w 2065"/>
                <a:gd name="T3" fmla="*/ 2348 h 2348"/>
                <a:gd name="T4" fmla="*/ 0 w 2065"/>
                <a:gd name="T5" fmla="*/ 0 h 2348"/>
                <a:gd name="T6" fmla="*/ 1039 w 2065"/>
                <a:gd name="T7" fmla="*/ 0 h 2348"/>
                <a:gd name="T8" fmla="*/ 2065 w 2065"/>
                <a:gd name="T9" fmla="*/ 2348 h 2348"/>
              </a:gdLst>
              <a:ahLst/>
              <a:cxnLst>
                <a:cxn ang="0">
                  <a:pos x="T0" y="T1"/>
                </a:cxn>
                <a:cxn ang="0">
                  <a:pos x="T2" y="T3"/>
                </a:cxn>
                <a:cxn ang="0">
                  <a:pos x="T4" y="T5"/>
                </a:cxn>
                <a:cxn ang="0">
                  <a:pos x="T6" y="T7"/>
                </a:cxn>
                <a:cxn ang="0">
                  <a:pos x="T8" y="T9"/>
                </a:cxn>
              </a:cxnLst>
              <a:rect l="0" t="0" r="r" b="b"/>
              <a:pathLst>
                <a:path w="2065" h="2348">
                  <a:moveTo>
                    <a:pt x="2065" y="2348"/>
                  </a:moveTo>
                  <a:lnTo>
                    <a:pt x="1029" y="2348"/>
                  </a:lnTo>
                  <a:lnTo>
                    <a:pt x="0" y="0"/>
                  </a:lnTo>
                  <a:lnTo>
                    <a:pt x="1039" y="0"/>
                  </a:lnTo>
                  <a:lnTo>
                    <a:pt x="2065" y="2348"/>
                  </a:lnTo>
                  <a:close/>
                </a:path>
              </a:pathLst>
            </a:custGeom>
            <a:gradFill>
              <a:gsLst>
                <a:gs pos="0">
                  <a:schemeClr val="accent1"/>
                </a:gs>
                <a:gs pos="100000">
                  <a:schemeClr val="accent1">
                    <a:alpha val="0"/>
                  </a:schemeClr>
                </a:gs>
              </a:gsLst>
              <a:lin ang="5400000" scaled="1"/>
            </a:gradFill>
            <a:ln>
              <a:noFill/>
            </a:ln>
          </p:spPr>
          <p:txBody>
            <a:bodyPr vert="horz" wrap="square" lIns="91440" tIns="45720" rIns="91440" bIns="45720" numCol="1" anchor="t" anchorCtr="0" compatLnSpc="1">
              <a:prstTxWarp prst="textNoShape">
                <a:avLst/>
              </a:prstTxWarp>
            </a:bodyPr>
            <a:lstStyle/>
            <a:p>
              <a:pPr lvl="0"/>
              <a:endParaRPr lang="zh-CN" altLang="en-US"/>
            </a:p>
          </p:txBody>
        </p:sp>
        <p:sp>
          <p:nvSpPr>
            <p:cNvPr id="12" name="任意多边形: 形状 11" descr="e2261978-1681-4d40-b20e-31ad88291f0e"/>
            <p:cNvSpPr>
              <a:spLocks/>
            </p:cNvSpPr>
            <p:nvPr/>
          </p:nvSpPr>
          <p:spPr bwMode="auto">
            <a:xfrm flipH="1" flipV="1">
              <a:off x="10847556" y="1"/>
              <a:ext cx="1344445" cy="3076761"/>
            </a:xfrm>
            <a:custGeom>
              <a:avLst/>
              <a:gdLst>
                <a:gd name="connsiteX0" fmla="*/ 1344445 w 1344445"/>
                <a:gd name="connsiteY0" fmla="*/ 3076761 h 3076761"/>
                <a:gd name="connsiteX1" fmla="*/ 0 w 1344445"/>
                <a:gd name="connsiteY1" fmla="*/ 3076761 h 3076761"/>
                <a:gd name="connsiteX2" fmla="*/ 0 w 1344445"/>
                <a:gd name="connsiteY2" fmla="*/ 0 h 3076761"/>
              </a:gdLst>
              <a:ahLst/>
              <a:cxnLst>
                <a:cxn ang="0">
                  <a:pos x="connsiteX0" y="connsiteY0"/>
                </a:cxn>
                <a:cxn ang="0">
                  <a:pos x="connsiteX1" y="connsiteY1"/>
                </a:cxn>
                <a:cxn ang="0">
                  <a:pos x="connsiteX2" y="connsiteY2"/>
                </a:cxn>
              </a:cxnLst>
              <a:rect l="l" t="t" r="r" b="b"/>
              <a:pathLst>
                <a:path w="1344445" h="3076761">
                  <a:moveTo>
                    <a:pt x="1344445" y="3076761"/>
                  </a:moveTo>
                  <a:lnTo>
                    <a:pt x="0" y="3076761"/>
                  </a:lnTo>
                  <a:lnTo>
                    <a:pt x="0" y="0"/>
                  </a:lnTo>
                  <a:close/>
                </a:path>
              </a:pathLst>
            </a:custGeom>
            <a:gradFill>
              <a:gsLst>
                <a:gs pos="0">
                  <a:schemeClr val="accent1">
                    <a:lumMod val="60000"/>
                    <a:lumOff val="40000"/>
                    <a:alpha val="50000"/>
                  </a:schemeClr>
                </a:gs>
                <a:gs pos="100000">
                  <a:schemeClr val="accent1">
                    <a:lumMod val="60000"/>
                    <a:lumOff val="40000"/>
                    <a:alpha val="0"/>
                  </a:schemeClr>
                </a:gs>
              </a:gsLst>
              <a:lin ang="5400000" scaled="1"/>
            </a:gradFill>
            <a:ln>
              <a:noFill/>
            </a:ln>
          </p:spPr>
          <p:txBody>
            <a:bodyPr vert="horz" wrap="square" lIns="91440" tIns="45720" rIns="91440" bIns="45720" numCol="1" anchor="t" anchorCtr="0" compatLnSpc="1">
              <a:prstTxWarp prst="textNoShape">
                <a:avLst/>
              </a:prstTxWarp>
              <a:noAutofit/>
            </a:bodyPr>
            <a:lstStyle/>
            <a:p>
              <a:pPr lvl="0"/>
              <a:endParaRPr lang="zh-CN" altLang="en-US"/>
            </a:p>
          </p:txBody>
        </p:sp>
      </p:grpSp>
      <p:sp>
        <p:nvSpPr>
          <p:cNvPr id="5" name="标题 4" descr="39d4bab5-1112-4f6e-895d-aef78912d699"/>
          <p:cNvSpPr>
            <a:spLocks noGrp="1"/>
          </p:cNvSpPr>
          <p:nvPr>
            <p:ph type="title" hasCustomPrompt="1"/>
          </p:nvPr>
        </p:nvSpPr>
        <p:spPr>
          <a:xfrm>
            <a:off x="7003789" y="1092201"/>
            <a:ext cx="4515111" cy="2336799"/>
          </a:xfrm>
          <a:prstGeom prst="rect">
            <a:avLst/>
          </a:prstGeom>
        </p:spPr>
        <p:txBody>
          <a:bodyPr wrap="square" anchor="b">
            <a:normAutofit/>
          </a:bodyPr>
          <a:lstStyle>
            <a:lvl1pPr algn="r">
              <a:lnSpc>
                <a:spcPct val="100000"/>
              </a:lnSpc>
              <a:defRPr sz="5400">
                <a:ln w="19050">
                  <a:noFill/>
                </a:ln>
                <a:solidFill>
                  <a:schemeClr val="tx1"/>
                </a:solidFill>
              </a:defRPr>
            </a:lvl1pPr>
          </a:lstStyle>
          <a:p>
            <a:pPr lvl="0"/>
            <a:r>
              <a:rPr lang="zh-CN" altLang="en-US" dirty="0"/>
              <a:t>Click to add title</a:t>
            </a:r>
            <a:endParaRPr lang="en-US" dirty="0"/>
          </a:p>
        </p:txBody>
      </p:sp>
      <p:sp>
        <p:nvSpPr>
          <p:cNvPr id="4" name="文本占位符 3" descr="2f3719f8-3c53-429c-ac17-562a90ba7d36"/>
          <p:cNvSpPr>
            <a:spLocks noGrp="1"/>
          </p:cNvSpPr>
          <p:nvPr>
            <p:ph type="body" sz="quarter" idx="13" hasCustomPrompt="1"/>
          </p:nvPr>
        </p:nvSpPr>
        <p:spPr>
          <a:xfrm>
            <a:off x="7003789" y="5560427"/>
            <a:ext cx="4515111" cy="276999"/>
          </a:xfrm>
          <a:prstGeom prst="rect">
            <a:avLst/>
          </a:prstGeom>
        </p:spPr>
        <p:txBody>
          <a:bodyPr wrap="square" lIns="90000">
            <a:normAutofit/>
          </a:bodyPr>
          <a:lstStyle>
            <a:lvl1pPr marL="0" indent="0" algn="r">
              <a:lnSpc>
                <a:spcPct val="100000"/>
              </a:lnSpc>
              <a:buNone/>
              <a:defRPr sz="1200"/>
            </a:lvl1pPr>
          </a:lstStyle>
          <a:p>
            <a:pPr lvl="0"/>
            <a:r>
              <a:rPr lang="zh-CN" altLang="en-US" dirty="0"/>
              <a:t>Presenter name</a:t>
            </a:r>
            <a:endParaRPr lang="en-US" dirty="0"/>
          </a:p>
        </p:txBody>
      </p:sp>
      <p:sp>
        <p:nvSpPr>
          <p:cNvPr id="7" name="文本占位符 6" descr="04c640d9-f9ad-49e7-a0c0-34e5a0645711"/>
          <p:cNvSpPr>
            <a:spLocks noGrp="1"/>
          </p:cNvSpPr>
          <p:nvPr>
            <p:ph type="body" sz="quarter" idx="14" hasCustomPrompt="1"/>
          </p:nvPr>
        </p:nvSpPr>
        <p:spPr>
          <a:xfrm>
            <a:off x="7003789" y="5857101"/>
            <a:ext cx="4515111" cy="276999"/>
          </a:xfrm>
          <a:prstGeom prst="rect">
            <a:avLst/>
          </a:prstGeom>
        </p:spPr>
        <p:txBody>
          <a:bodyPr wrap="none">
            <a:normAutofit/>
          </a:bodyPr>
          <a:lstStyle>
            <a:lvl1pPr marL="0" indent="0" algn="r">
              <a:lnSpc>
                <a:spcPct val="100000"/>
              </a:lnSpc>
              <a:buNone/>
              <a:defRPr sz="1200"/>
            </a:lvl1pPr>
          </a:lstStyle>
          <a:p>
            <a:pPr lvl="0"/>
            <a:r>
              <a:rPr lang="zh-CN" altLang="en-US" dirty="0"/>
              <a:t>20XX.XX.XX</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1">
                <a:lumMod val="75000"/>
              </a:schemeClr>
            </a:gs>
            <a:gs pos="77000">
              <a:schemeClr val="accent3"/>
            </a:gs>
          </a:gsLst>
          <a:lin ang="2700000" scaled="1"/>
        </a:gradFill>
        <a:effectLst/>
      </p:bgPr>
    </p:bg>
    <p:spTree>
      <p:nvGrpSpPr>
        <p:cNvPr id="1" name=""/>
        <p:cNvGrpSpPr/>
        <p:nvPr/>
      </p:nvGrpSpPr>
      <p:grpSpPr>
        <a:xfrm>
          <a:off x="0" y="0"/>
          <a:ext cx="0" cy="0"/>
          <a:chOff x="0" y="0"/>
          <a:chExt cx="0" cy="0"/>
        </a:xfrm>
      </p:grpSpPr>
      <p:grpSp>
        <p:nvGrpSpPr>
          <p:cNvPr id="12" name="组合 11"/>
          <p:cNvGrpSpPr/>
          <p:nvPr/>
        </p:nvGrpSpPr>
        <p:grpSpPr>
          <a:xfrm>
            <a:off x="1" y="2"/>
            <a:ext cx="12191998" cy="6857998"/>
            <a:chOff x="1" y="2"/>
            <a:chExt cx="12191998" cy="6857998"/>
          </a:xfrm>
        </p:grpSpPr>
        <p:sp>
          <p:nvSpPr>
            <p:cNvPr id="10" name="任意多边形: 形状 9"/>
            <p:cNvSpPr/>
            <p:nvPr/>
          </p:nvSpPr>
          <p:spPr>
            <a:xfrm>
              <a:off x="1" y="2"/>
              <a:ext cx="850899" cy="1105366"/>
            </a:xfrm>
            <a:custGeom>
              <a:avLst/>
              <a:gdLst>
                <a:gd name="connsiteX0" fmla="*/ 0 w 2639609"/>
                <a:gd name="connsiteY0" fmla="*/ 0 h 3429001"/>
                <a:gd name="connsiteX1" fmla="*/ 1971609 w 2639609"/>
                <a:gd name="connsiteY1" fmla="*/ 0 h 3429001"/>
                <a:gd name="connsiteX2" fmla="*/ 2538383 w 2639609"/>
                <a:gd name="connsiteY2" fmla="*/ 981822 h 3429001"/>
                <a:gd name="connsiteX3" fmla="*/ 2538383 w 2639609"/>
                <a:gd name="connsiteY3" fmla="*/ 1737691 h 3429001"/>
                <a:gd name="connsiteX4" fmla="*/ 1780086 w 2639609"/>
                <a:gd name="connsiteY4" fmla="*/ 3051067 h 3429001"/>
                <a:gd name="connsiteX5" fmla="*/ 1125571 w 2639609"/>
                <a:gd name="connsiteY5" fmla="*/ 3429001 h 3429001"/>
                <a:gd name="connsiteX6" fmla="*/ 0 w 2639609"/>
                <a:gd name="connsiteY6" fmla="*/ 3429001 h 3429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39609" h="3429001">
                  <a:moveTo>
                    <a:pt x="0" y="0"/>
                  </a:moveTo>
                  <a:lnTo>
                    <a:pt x="1971609" y="0"/>
                  </a:lnTo>
                  <a:lnTo>
                    <a:pt x="2538383" y="981822"/>
                  </a:lnTo>
                  <a:cubicBezTo>
                    <a:pt x="2673351" y="1215715"/>
                    <a:pt x="2673351" y="1503798"/>
                    <a:pt x="2538383" y="1737691"/>
                  </a:cubicBezTo>
                  <a:lnTo>
                    <a:pt x="1780086" y="3051067"/>
                  </a:lnTo>
                  <a:cubicBezTo>
                    <a:pt x="1645119" y="3284958"/>
                    <a:pt x="1395633" y="3429001"/>
                    <a:pt x="1125571" y="3429001"/>
                  </a:cubicBezTo>
                  <a:lnTo>
                    <a:pt x="0" y="3429001"/>
                  </a:lnTo>
                  <a:close/>
                </a:path>
              </a:pathLst>
            </a:cu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tx1"/>
                </a:solidFill>
              </a:endParaRPr>
            </a:p>
          </p:txBody>
        </p:sp>
        <p:sp>
          <p:nvSpPr>
            <p:cNvPr id="11" name="任意多边形: 形状 10"/>
            <p:cNvSpPr/>
            <p:nvPr/>
          </p:nvSpPr>
          <p:spPr>
            <a:xfrm>
              <a:off x="11306939" y="5902503"/>
              <a:ext cx="885060" cy="955497"/>
            </a:xfrm>
            <a:custGeom>
              <a:avLst/>
              <a:gdLst>
                <a:gd name="connsiteX0" fmla="*/ 1120304 w 2342892"/>
                <a:gd name="connsiteY0" fmla="*/ 0 h 2529350"/>
                <a:gd name="connsiteX1" fmla="*/ 2242404 w 2342892"/>
                <a:gd name="connsiteY1" fmla="*/ 0 h 2529350"/>
                <a:gd name="connsiteX2" fmla="*/ 2316485 w 2342892"/>
                <a:gd name="connsiteY2" fmla="*/ 4918 h 2529350"/>
                <a:gd name="connsiteX3" fmla="*/ 2342892 w 2342892"/>
                <a:gd name="connsiteY3" fmla="*/ 10225 h 2529350"/>
                <a:gd name="connsiteX4" fmla="*/ 2342892 w 2342892"/>
                <a:gd name="connsiteY4" fmla="*/ 2529350 h 2529350"/>
                <a:gd name="connsiteX5" fmla="*/ 489863 w 2342892"/>
                <a:gd name="connsiteY5" fmla="*/ 2529350 h 2529350"/>
                <a:gd name="connsiteX6" fmla="*/ 74895 w 2342892"/>
                <a:gd name="connsiteY6" fmla="*/ 1810622 h 2529350"/>
                <a:gd name="connsiteX7" fmla="*/ 74895 w 2342892"/>
                <a:gd name="connsiteY7" fmla="*/ 1251370 h 2529350"/>
                <a:gd name="connsiteX8" fmla="*/ 635945 w 2342892"/>
                <a:gd name="connsiteY8" fmla="*/ 279627 h 2529350"/>
                <a:gd name="connsiteX9" fmla="*/ 1120304 w 2342892"/>
                <a:gd name="connsiteY9" fmla="*/ 0 h 2529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42892" h="2529350">
                  <a:moveTo>
                    <a:pt x="1120304" y="0"/>
                  </a:moveTo>
                  <a:lnTo>
                    <a:pt x="2242404" y="0"/>
                  </a:lnTo>
                  <a:cubicBezTo>
                    <a:pt x="2267381" y="0"/>
                    <a:pt x="2292120" y="1666"/>
                    <a:pt x="2316485" y="4918"/>
                  </a:cubicBezTo>
                  <a:lnTo>
                    <a:pt x="2342892" y="10225"/>
                  </a:lnTo>
                  <a:lnTo>
                    <a:pt x="2342892" y="2529350"/>
                  </a:lnTo>
                  <a:lnTo>
                    <a:pt x="489863" y="2529350"/>
                  </a:lnTo>
                  <a:lnTo>
                    <a:pt x="74895" y="1810622"/>
                  </a:lnTo>
                  <a:cubicBezTo>
                    <a:pt x="-24965" y="1637570"/>
                    <a:pt x="-24965" y="1424422"/>
                    <a:pt x="74895" y="1251370"/>
                  </a:cubicBezTo>
                  <a:lnTo>
                    <a:pt x="635945" y="279627"/>
                  </a:lnTo>
                  <a:cubicBezTo>
                    <a:pt x="735900" y="106574"/>
                    <a:pt x="920489" y="0"/>
                    <a:pt x="1120304" y="0"/>
                  </a:cubicBezTo>
                  <a:close/>
                </a:path>
              </a:pathLst>
            </a:cu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tx1"/>
                </a:solidFill>
              </a:endParaRPr>
            </a:p>
          </p:txBody>
        </p:sp>
        <p:sp>
          <p:nvSpPr>
            <p:cNvPr id="7" name="任意多边形: 形状 6"/>
            <p:cNvSpPr/>
            <p:nvPr/>
          </p:nvSpPr>
          <p:spPr>
            <a:xfrm rot="5400000">
              <a:off x="11594477" y="5759439"/>
              <a:ext cx="309983" cy="350481"/>
            </a:xfrm>
            <a:custGeom>
              <a:avLst/>
              <a:gdLst>
                <a:gd name="connsiteX0" fmla="*/ 1496663 w 1635382"/>
                <a:gd name="connsiteY0" fmla="*/ 679532 h 1849045"/>
                <a:gd name="connsiteX1" fmla="*/ 432721 w 1635382"/>
                <a:gd name="connsiteY1" fmla="*/ 41167 h 1849045"/>
                <a:gd name="connsiteX2" fmla="*/ 0 w 1635382"/>
                <a:gd name="connsiteY2" fmla="*/ 286245 h 1849045"/>
                <a:gd name="connsiteX3" fmla="*/ 0 w 1635382"/>
                <a:gd name="connsiteY3" fmla="*/ 1562881 h 1849045"/>
                <a:gd name="connsiteX4" fmla="*/ 432721 w 1635382"/>
                <a:gd name="connsiteY4" fmla="*/ 1807864 h 1849045"/>
                <a:gd name="connsiteX5" fmla="*/ 1496568 w 1635382"/>
                <a:gd name="connsiteY5" fmla="*/ 1169594 h 1849045"/>
                <a:gd name="connsiteX6" fmla="*/ 1496663 w 1635382"/>
                <a:gd name="connsiteY6" fmla="*/ 679532 h 184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5382" h="1849045">
                  <a:moveTo>
                    <a:pt x="1496663" y="679532"/>
                  </a:moveTo>
                  <a:lnTo>
                    <a:pt x="432721" y="41167"/>
                  </a:lnTo>
                  <a:cubicBezTo>
                    <a:pt x="242316" y="-73133"/>
                    <a:pt x="0" y="64122"/>
                    <a:pt x="0" y="286245"/>
                  </a:cubicBezTo>
                  <a:lnTo>
                    <a:pt x="0" y="1562881"/>
                  </a:lnTo>
                  <a:cubicBezTo>
                    <a:pt x="0" y="1785004"/>
                    <a:pt x="242316" y="1922164"/>
                    <a:pt x="432721" y="1807864"/>
                  </a:cubicBezTo>
                  <a:lnTo>
                    <a:pt x="1496568" y="1169594"/>
                  </a:lnTo>
                  <a:cubicBezTo>
                    <a:pt x="1681639" y="1058532"/>
                    <a:pt x="1681639" y="790499"/>
                    <a:pt x="1496663" y="679532"/>
                  </a:cubicBezTo>
                  <a:close/>
                </a:path>
              </a:pathLst>
            </a:custGeom>
            <a:gradFill>
              <a:gsLst>
                <a:gs pos="0">
                  <a:schemeClr val="accent1"/>
                </a:gs>
                <a:gs pos="100000">
                  <a:schemeClr val="accent2"/>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dirty="0">
                <a:solidFill>
                  <a:schemeClr val="lt1"/>
                </a:solidFill>
              </a:endParaRPr>
            </a:p>
          </p:txBody>
        </p:sp>
        <p:sp>
          <p:nvSpPr>
            <p:cNvPr id="8" name="任意多边形: 形状 7"/>
            <p:cNvSpPr/>
            <p:nvPr/>
          </p:nvSpPr>
          <p:spPr>
            <a:xfrm>
              <a:off x="10067991" y="6392253"/>
              <a:ext cx="1238948" cy="465745"/>
            </a:xfrm>
            <a:custGeom>
              <a:avLst/>
              <a:gdLst>
                <a:gd name="connsiteX0" fmla="*/ 786519 w 2454668"/>
                <a:gd name="connsiteY0" fmla="*/ 0 h 922758"/>
                <a:gd name="connsiteX1" fmla="*/ 1668292 w 2454668"/>
                <a:gd name="connsiteY1" fmla="*/ 0 h 922758"/>
                <a:gd name="connsiteX2" fmla="*/ 2048837 w 2454668"/>
                <a:gd name="connsiteY2" fmla="*/ 219737 h 922758"/>
                <a:gd name="connsiteX3" fmla="*/ 2454668 w 2454668"/>
                <a:gd name="connsiteY3" fmla="*/ 922758 h 922758"/>
                <a:gd name="connsiteX4" fmla="*/ 0 w 2454668"/>
                <a:gd name="connsiteY4" fmla="*/ 922758 h 922758"/>
                <a:gd name="connsiteX5" fmla="*/ 405899 w 2454668"/>
                <a:gd name="connsiteY5" fmla="*/ 219737 h 922758"/>
                <a:gd name="connsiteX6" fmla="*/ 786519 w 2454668"/>
                <a:gd name="connsiteY6" fmla="*/ 0 h 922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4668" h="922758">
                  <a:moveTo>
                    <a:pt x="786519" y="0"/>
                  </a:moveTo>
                  <a:lnTo>
                    <a:pt x="1668292" y="0"/>
                  </a:lnTo>
                  <a:cubicBezTo>
                    <a:pt x="1825310" y="0"/>
                    <a:pt x="1970365" y="83748"/>
                    <a:pt x="2048837" y="219737"/>
                  </a:cubicBezTo>
                  <a:lnTo>
                    <a:pt x="2454668" y="922758"/>
                  </a:lnTo>
                  <a:lnTo>
                    <a:pt x="0" y="922758"/>
                  </a:lnTo>
                  <a:lnTo>
                    <a:pt x="405899" y="219737"/>
                  </a:lnTo>
                  <a:cubicBezTo>
                    <a:pt x="484446" y="83748"/>
                    <a:pt x="629501" y="0"/>
                    <a:pt x="786519" y="0"/>
                  </a:cubicBezTo>
                  <a:close/>
                </a:path>
              </a:pathLst>
            </a:custGeom>
            <a:solidFill>
              <a:schemeClr val="accent2">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400" b="1">
                <a:solidFill>
                  <a:schemeClr val="tx1"/>
                </a:solidFill>
              </a:endParaRPr>
            </a:p>
          </p:txBody>
        </p:sp>
        <p:sp>
          <p:nvSpPr>
            <p:cNvPr id="9" name="任意多边形: 形状 8"/>
            <p:cNvSpPr/>
            <p:nvPr/>
          </p:nvSpPr>
          <p:spPr>
            <a:xfrm rot="1800000">
              <a:off x="218077" y="883369"/>
              <a:ext cx="414745" cy="468930"/>
            </a:xfrm>
            <a:custGeom>
              <a:avLst/>
              <a:gdLst>
                <a:gd name="connsiteX0" fmla="*/ 1496663 w 1635382"/>
                <a:gd name="connsiteY0" fmla="*/ 679532 h 1849045"/>
                <a:gd name="connsiteX1" fmla="*/ 432721 w 1635382"/>
                <a:gd name="connsiteY1" fmla="*/ 41167 h 1849045"/>
                <a:gd name="connsiteX2" fmla="*/ 0 w 1635382"/>
                <a:gd name="connsiteY2" fmla="*/ 286245 h 1849045"/>
                <a:gd name="connsiteX3" fmla="*/ 0 w 1635382"/>
                <a:gd name="connsiteY3" fmla="*/ 1562881 h 1849045"/>
                <a:gd name="connsiteX4" fmla="*/ 432721 w 1635382"/>
                <a:gd name="connsiteY4" fmla="*/ 1807864 h 1849045"/>
                <a:gd name="connsiteX5" fmla="*/ 1496568 w 1635382"/>
                <a:gd name="connsiteY5" fmla="*/ 1169594 h 1849045"/>
                <a:gd name="connsiteX6" fmla="*/ 1496663 w 1635382"/>
                <a:gd name="connsiteY6" fmla="*/ 679532 h 184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5382" h="1849045">
                  <a:moveTo>
                    <a:pt x="1496663" y="679532"/>
                  </a:moveTo>
                  <a:lnTo>
                    <a:pt x="432721" y="41167"/>
                  </a:lnTo>
                  <a:cubicBezTo>
                    <a:pt x="242316" y="-73133"/>
                    <a:pt x="0" y="64122"/>
                    <a:pt x="0" y="286245"/>
                  </a:cubicBezTo>
                  <a:lnTo>
                    <a:pt x="0" y="1562881"/>
                  </a:lnTo>
                  <a:cubicBezTo>
                    <a:pt x="0" y="1785004"/>
                    <a:pt x="242316" y="1922164"/>
                    <a:pt x="432721" y="1807864"/>
                  </a:cubicBezTo>
                  <a:lnTo>
                    <a:pt x="1496568" y="1169594"/>
                  </a:lnTo>
                  <a:cubicBezTo>
                    <a:pt x="1681639" y="1058532"/>
                    <a:pt x="1681639" y="790499"/>
                    <a:pt x="1496663" y="679532"/>
                  </a:cubicBezTo>
                  <a:close/>
                </a:path>
              </a:pathLst>
            </a:custGeom>
            <a:gradFill>
              <a:gsLst>
                <a:gs pos="0">
                  <a:schemeClr val="accent1">
                    <a:alpha val="50000"/>
                  </a:schemeClr>
                </a:gs>
                <a:gs pos="100000">
                  <a:schemeClr val="accent2">
                    <a:alpha val="96000"/>
                  </a:schemeClr>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dirty="0"/>
            </a:p>
          </p:txBody>
        </p:sp>
      </p:grpSp>
      <p:sp>
        <p:nvSpPr>
          <p:cNvPr id="2" name="标题占位符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zh-CN" altLang="en-US" dirty="0"/>
              <a:t>Click to add title</a:t>
            </a:r>
            <a:endParaRPr lang="en-US" dirty="0"/>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descr="899a0e74-9bd5-4234-b998-1fe3a30b9a36"/>
          <p:cNvSpPr>
            <a:spLocks noGrp="1"/>
          </p:cNvSpPr>
          <p:nvPr>
            <p:ph type="ctrTitle" hasCustomPrompt="1"/>
          </p:nvPr>
        </p:nvSpPr>
        <p:spPr/>
        <p:txBody>
          <a:bodyPr anchorCtr="0"/>
          <a:lstStyle/>
          <a:p>
            <a:pPr algn="r">
              <a:lnSpc>
                <a:spcPct val="100000"/>
              </a:lnSpc>
              <a:spcBef>
                <a:spcPct val="0"/>
              </a:spcBef>
            </a:pPr>
            <a:r>
              <a:rPr lang="en-US" sz="5400" b="1" i="0" u="none">
                <a:solidFill>
                  <a:srgbClr val="FFFFFF"/>
                </a:solidFill>
                <a:ea typeface="微软雅黑"/>
              </a:rPr>
              <a:t>现代公钥密码算法实现与优化研究</a:t>
            </a:r>
          </a:p>
        </p:txBody>
      </p:sp>
      <p:sp>
        <p:nvSpPr>
          <p:cNvPr id="9" name="副标题 8" descr="7b8d92e3-b495-4698-af20-14781a99223c"/>
          <p:cNvSpPr>
            <a:spLocks noGrp="1"/>
          </p:cNvSpPr>
          <p:nvPr>
            <p:ph type="subTitle" sz="quarter" idx="1" hasCustomPrompt="1"/>
          </p:nvPr>
        </p:nvSpPr>
        <p:spPr/>
        <p:txBody>
          <a:bodyPr anchorCtr="0"/>
          <a:lstStyle/>
          <a:p>
            <a:pPr algn="r">
              <a:lnSpc>
                <a:spcPct val="100000"/>
              </a:lnSpc>
              <a:spcBef>
                <a:spcPts val="1000"/>
              </a:spcBef>
            </a:pPr>
            <a:r>
              <a:rPr lang="en-US" sz="2000" b="0" i="0" u="none">
                <a:solidFill>
                  <a:srgbClr val="FFFFFF"/>
                </a:solidFill>
                <a:ea typeface="微软雅黑"/>
              </a:rPr>
              <a:t>大整数·RSA·轻量级ECC</a:t>
            </a:r>
          </a:p>
        </p:txBody>
      </p:sp>
      <p:sp>
        <p:nvSpPr>
          <p:cNvPr id="4" name="文本占位符 3" descr="7655ae99-56af-462f-b981-c0d8820624d9"/>
          <p:cNvSpPr>
            <a:spLocks noGrp="1"/>
          </p:cNvSpPr>
          <p:nvPr>
            <p:ph type="body" sz="quarter" idx="13" hasCustomPrompt="1"/>
          </p:nvPr>
        </p:nvSpPr>
        <p:spPr/>
        <p:txBody>
          <a:bodyPr anchorCtr="0"/>
          <a:lstStyle/>
          <a:p>
            <a:pPr algn="r">
              <a:lnSpc>
                <a:spcPct val="100000"/>
              </a:lnSpc>
              <a:spcBef>
                <a:spcPts val="1000"/>
              </a:spcBef>
            </a:pPr>
            <a:r>
              <a:rPr lang="en-US" sz="1200" b="0" i="0" u="none">
                <a:solidFill>
                  <a:srgbClr val="FFFFFF"/>
                </a:solidFill>
                <a:ea typeface="微软雅黑"/>
              </a:rPr>
              <a:t>报告人名称</a:t>
            </a:r>
          </a:p>
        </p:txBody>
      </p:sp>
      <p:sp>
        <p:nvSpPr>
          <p:cNvPr id="7" name="文本占位符 6" descr="a51b05b5-53cb-4eef-bbd0-154bb8e902f8"/>
          <p:cNvSpPr>
            <a:spLocks noGrp="1"/>
          </p:cNvSpPr>
          <p:nvPr>
            <p:ph type="body" sz="quarter" idx="14" hasCustomPrompt="1"/>
          </p:nvPr>
        </p:nvSpPr>
        <p:spPr/>
        <p:txBody>
          <a:bodyPr anchorCtr="0"/>
          <a:lstStyle/>
          <a:p>
            <a:pPr algn="r">
              <a:lnSpc>
                <a:spcPct val="100000"/>
              </a:lnSpc>
              <a:spcBef>
                <a:spcPts val="1000"/>
              </a:spcBef>
            </a:pPr>
            <a:r>
              <a:rPr lang="en-US" sz="1200" b="0" i="0" u="none">
                <a:solidFill>
                  <a:srgbClr val="FFFFFF"/>
                </a:solidFill>
                <a:latin typeface="微软雅黑"/>
              </a:rPr>
              <a:t>20xx.xx.xx</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1dad2d38-32db-4ed3-a073-f1b368affc79.source.6.zh-Hans.pptx" descr="9e4659d5-0b0a-4267-ac4c-b8290a2da3af">
            <a:extLst>
              <a:ext uri="{FF2B5EF4-FFF2-40B4-BE49-F238E27FC236}">
                <a16:creationId xmlns:a16="http://schemas.microsoft.com/office/drawing/2014/main" id="{9075201A-6CDE-D277-85B3-511CA5B7A455}"/>
              </a:ext>
            </a:extLst>
          </p:cNvPr>
          <p:cNvGrpSpPr/>
          <p:nvPr/>
        </p:nvGrpSpPr>
        <p:grpSpPr>
          <a:xfrm>
            <a:off x="-14817" y="1130301"/>
            <a:ext cx="12208933" cy="4809063"/>
            <a:chOff x="-14817" y="1130301"/>
            <a:chExt cx="12208933" cy="4809063"/>
          </a:xfrm>
        </p:grpSpPr>
        <p:cxnSp>
          <p:nvCxnSpPr>
            <p:cNvPr id="4" name="直接连接符 3" descr="33903b2a-4502-4c9c-b728-62d90d0fd283">
              <a:extLst>
                <a:ext uri="{FF2B5EF4-FFF2-40B4-BE49-F238E27FC236}">
                  <a16:creationId xmlns:a16="http://schemas.microsoft.com/office/drawing/2014/main" id="{4EE717FE-3690-E65A-46CE-58521B1327BA}"/>
                </a:ext>
              </a:extLst>
            </p:cNvPr>
            <p:cNvCxnSpPr>
              <a:cxnSpLocks/>
            </p:cNvCxnSpPr>
            <p:nvPr/>
          </p:nvCxnSpPr>
          <p:spPr>
            <a:xfrm>
              <a:off x="-14817" y="2074330"/>
              <a:ext cx="12208933"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 name="直接连接符 4" descr="0b85ed1b-03e1-464d-9e5f-996aeaccbb49">
              <a:extLst>
                <a:ext uri="{FF2B5EF4-FFF2-40B4-BE49-F238E27FC236}">
                  <a16:creationId xmlns:a16="http://schemas.microsoft.com/office/drawing/2014/main" id="{88E3049A-04AE-BC0E-75CB-B6102DD47B1C}"/>
                </a:ext>
              </a:extLst>
            </p:cNvPr>
            <p:cNvCxnSpPr>
              <a:cxnSpLocks/>
            </p:cNvCxnSpPr>
            <p:nvPr/>
          </p:nvCxnSpPr>
          <p:spPr>
            <a:xfrm>
              <a:off x="-14817" y="5939364"/>
              <a:ext cx="12208933" cy="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itle" descr="2ffb3009-d1d0-402b-a009-afaf0504c4fa">
              <a:extLst>
                <a:ext uri="{FF2B5EF4-FFF2-40B4-BE49-F238E27FC236}">
                  <a16:creationId xmlns:a16="http://schemas.microsoft.com/office/drawing/2014/main" id="{C425815C-65BA-B163-9EAA-E798EDC4CEA0}"/>
                </a:ext>
              </a:extLst>
            </p:cNvPr>
            <p:cNvSpPr txBox="1"/>
            <p:nvPr/>
          </p:nvSpPr>
          <p:spPr>
            <a:xfrm>
              <a:off x="660400" y="1130301"/>
              <a:ext cx="10858500" cy="602806"/>
            </a:xfrm>
            <a:prstGeom prst="rect">
              <a:avLst/>
            </a:prstGeom>
            <a:noFill/>
          </p:spPr>
          <p:txBody>
            <a:bodyPr wrap="square" lIns="91440" tIns="45720" rIns="91440" bIns="45720" rtlCol="0" anchor="ctr" anchorCtr="0">
              <a:normAutofit/>
            </a:bodyPr>
            <a:lstStyle/>
            <a:p>
              <a:pPr algn="l"/>
              <a:endParaRPr/>
            </a:p>
          </p:txBody>
        </p:sp>
        <p:grpSp>
          <p:nvGrpSpPr>
            <p:cNvPr id="23" name="组合 1" descr="b3c62f42-d72e-4865-a16b-39300ef87ae1">
              <a:extLst>
                <a:ext uri="{FF2B5EF4-FFF2-40B4-BE49-F238E27FC236}">
                  <a16:creationId xmlns:a16="http://schemas.microsoft.com/office/drawing/2014/main" id="{15ECFC59-7917-0F9A-7AB0-D4192822C120}"/>
                </a:ext>
              </a:extLst>
            </p:cNvPr>
            <p:cNvGrpSpPr/>
            <p:nvPr/>
          </p:nvGrpSpPr>
          <p:grpSpPr>
            <a:xfrm>
              <a:off x="1098818" y="2147966"/>
              <a:ext cx="4827222" cy="955860"/>
              <a:chOff x="1098818" y="2147966"/>
              <a:chExt cx="4827222" cy="955860"/>
            </a:xfrm>
          </p:grpSpPr>
          <p:sp>
            <p:nvSpPr>
              <p:cNvPr id="7" name="Bullet1" descr="772cba53-0671-4320-b010-d5091fe2efd8">
                <a:extLst>
                  <a:ext uri="{FF2B5EF4-FFF2-40B4-BE49-F238E27FC236}">
                    <a16:creationId xmlns:a16="http://schemas.microsoft.com/office/drawing/2014/main" id="{775016D0-80E2-1BF1-7BF1-20D470DE2C51}"/>
                  </a:ext>
                </a:extLst>
              </p:cNvPr>
              <p:cNvSpPr txBox="1"/>
              <p:nvPr/>
            </p:nvSpPr>
            <p:spPr>
              <a:xfrm>
                <a:off x="2384048" y="2147966"/>
                <a:ext cx="3541992" cy="955860"/>
              </a:xfrm>
              <a:prstGeom prst="rect">
                <a:avLst/>
              </a:prstGeom>
              <a:noFill/>
              <a:ln>
                <a:noFill/>
              </a:ln>
            </p:spPr>
            <p:txBody>
              <a:bodyPr wrap="square" lIns="91440" tIns="45720" rIns="91440" bIns="45720" anchor="ctr" anchorCtr="0">
                <a:normAutofit/>
              </a:bodyPr>
              <a:lstStyle/>
              <a:p>
                <a:pPr algn="l"/>
                <a:r>
                  <a:rPr lang="en-US" sz="1800" b="1" i="0" u="none">
                    <a:solidFill>
                      <a:srgbClr val="FFFFFF"/>
                    </a:solidFill>
                    <a:ea typeface="微软雅黑"/>
                  </a:rPr>
                  <a:t>研究背景与意义</a:t>
                </a:r>
              </a:p>
            </p:txBody>
          </p:sp>
          <p:sp>
            <p:nvSpPr>
              <p:cNvPr id="8" name="Number1" descr="9adf9997-3185-405f-9e01-7ebb3ea7fb61">
                <a:extLst>
                  <a:ext uri="{FF2B5EF4-FFF2-40B4-BE49-F238E27FC236}">
                    <a16:creationId xmlns:a16="http://schemas.microsoft.com/office/drawing/2014/main" id="{8A4A3D75-AC99-93B3-0661-5FF34C1EC5C6}"/>
                  </a:ext>
                </a:extLst>
              </p:cNvPr>
              <p:cNvSpPr txBox="1"/>
              <p:nvPr/>
            </p:nvSpPr>
            <p:spPr>
              <a:xfrm>
                <a:off x="1098818" y="2147966"/>
                <a:ext cx="1093691" cy="924051"/>
              </a:xfrm>
              <a:prstGeom prst="rect">
                <a:avLst/>
              </a:prstGeom>
              <a:noFill/>
              <a:ln>
                <a:noFill/>
              </a:ln>
            </p:spPr>
            <p:txBody>
              <a:bodyPr wrap="non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pPr algn="r">
                  <a:spcBef>
                    <a:spcPct val="0"/>
                  </a:spcBef>
                  <a:spcAft>
                    <a:spcPct val="0"/>
                  </a:spcAft>
                </a:pPr>
                <a:r>
                  <a:rPr lang="en-US" sz="3600" b="1" i="0" u="none">
                    <a:solidFill>
                      <a:srgbClr val="34C4DC"/>
                    </a:solidFill>
                    <a:latin typeface="Arial"/>
                  </a:rPr>
                  <a:t>01</a:t>
                </a:r>
              </a:p>
            </p:txBody>
          </p:sp>
        </p:grpSp>
        <p:grpSp>
          <p:nvGrpSpPr>
            <p:cNvPr id="15" name="组合 14" descr="38d08211-7aa3-4403-8711-2741c982b3d7">
              <a:extLst>
                <a:ext uri="{FF2B5EF4-FFF2-40B4-BE49-F238E27FC236}">
                  <a16:creationId xmlns:a16="http://schemas.microsoft.com/office/drawing/2014/main" id="{AFF2B68C-E5F8-7F21-A9E1-4E794693E45A}"/>
                </a:ext>
              </a:extLst>
            </p:cNvPr>
            <p:cNvGrpSpPr/>
            <p:nvPr/>
          </p:nvGrpSpPr>
          <p:grpSpPr>
            <a:xfrm>
              <a:off x="6583459" y="2147965"/>
              <a:ext cx="4827223" cy="955860"/>
              <a:chOff x="6583459" y="2147965"/>
              <a:chExt cx="4827223" cy="955860"/>
            </a:xfrm>
          </p:grpSpPr>
          <p:sp>
            <p:nvSpPr>
              <p:cNvPr id="11" name="Bullet2" descr="1739998d-3be3-42aa-bf67-1dc7cd6ac3e5">
                <a:extLst>
                  <a:ext uri="{FF2B5EF4-FFF2-40B4-BE49-F238E27FC236}">
                    <a16:creationId xmlns:a16="http://schemas.microsoft.com/office/drawing/2014/main" id="{D770759C-E7D3-DC7E-E41D-E753799556A9}"/>
                  </a:ext>
                </a:extLst>
              </p:cNvPr>
              <p:cNvSpPr txBox="1"/>
              <p:nvPr/>
            </p:nvSpPr>
            <p:spPr>
              <a:xfrm>
                <a:off x="7868690" y="2147965"/>
                <a:ext cx="3541992" cy="955860"/>
              </a:xfrm>
              <a:prstGeom prst="rect">
                <a:avLst/>
              </a:prstGeom>
              <a:noFill/>
              <a:ln>
                <a:noFill/>
              </a:ln>
            </p:spPr>
            <p:txBody>
              <a:bodyPr wrap="square" lIns="91440" tIns="45720" rIns="91440" bIns="45720" anchor="ctr" anchorCtr="0">
                <a:normAutofit/>
              </a:bodyPr>
              <a:lstStyle/>
              <a:p>
                <a:pPr algn="l"/>
                <a:r>
                  <a:rPr lang="en-US" sz="1800" b="1" i="0" u="none">
                    <a:solidFill>
                      <a:srgbClr val="FFFFFF"/>
                    </a:solidFill>
                    <a:ea typeface="微软雅黑"/>
                  </a:rPr>
                  <a:t>展示内容结构</a:t>
                </a:r>
              </a:p>
            </p:txBody>
          </p:sp>
          <p:sp>
            <p:nvSpPr>
              <p:cNvPr id="12" name="Number2" descr="a65ccad0-1101-49fe-a144-20bbb7961f8b">
                <a:extLst>
                  <a:ext uri="{FF2B5EF4-FFF2-40B4-BE49-F238E27FC236}">
                    <a16:creationId xmlns:a16="http://schemas.microsoft.com/office/drawing/2014/main" id="{8DD3AA65-AF94-3C41-9C48-4D42E5318D61}"/>
                  </a:ext>
                </a:extLst>
              </p:cNvPr>
              <p:cNvSpPr txBox="1"/>
              <p:nvPr/>
            </p:nvSpPr>
            <p:spPr>
              <a:xfrm>
                <a:off x="6583459" y="2147966"/>
                <a:ext cx="1093691" cy="924051"/>
              </a:xfrm>
              <a:prstGeom prst="rect">
                <a:avLst/>
              </a:prstGeom>
              <a:noFill/>
              <a:ln>
                <a:noFill/>
              </a:ln>
            </p:spPr>
            <p:txBody>
              <a:bodyPr wrap="non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pPr algn="r">
                  <a:spcBef>
                    <a:spcPct val="0"/>
                  </a:spcBef>
                  <a:spcAft>
                    <a:spcPct val="0"/>
                  </a:spcAft>
                </a:pPr>
                <a:r>
                  <a:rPr lang="en-US" sz="3600" b="1" i="0" u="none">
                    <a:solidFill>
                      <a:srgbClr val="34C4DC"/>
                    </a:solidFill>
                    <a:latin typeface="Arial"/>
                  </a:rPr>
                  <a:t>02</a:t>
                </a:r>
              </a:p>
            </p:txBody>
          </p:sp>
        </p:grpSp>
        <p:grpSp>
          <p:nvGrpSpPr>
            <p:cNvPr id="6" name="组合 5" descr="99c13884-baff-44df-812f-f6e5af576dd2">
              <a:extLst>
                <a:ext uri="{FF2B5EF4-FFF2-40B4-BE49-F238E27FC236}">
                  <a16:creationId xmlns:a16="http://schemas.microsoft.com/office/drawing/2014/main" id="{FFC881DE-92A6-CFE5-F06E-F72FF705F900}"/>
                </a:ext>
              </a:extLst>
            </p:cNvPr>
            <p:cNvGrpSpPr/>
            <p:nvPr/>
          </p:nvGrpSpPr>
          <p:grpSpPr>
            <a:xfrm>
              <a:off x="1098818" y="3418980"/>
              <a:ext cx="4827222" cy="955860"/>
              <a:chOff x="1098818" y="3418980"/>
              <a:chExt cx="4827222" cy="955860"/>
            </a:xfrm>
          </p:grpSpPr>
          <p:sp>
            <p:nvSpPr>
              <p:cNvPr id="9" name="Bullet3" descr="27ba921f-1f57-4c99-b5fb-f158bac4bb80">
                <a:extLst>
                  <a:ext uri="{FF2B5EF4-FFF2-40B4-BE49-F238E27FC236}">
                    <a16:creationId xmlns:a16="http://schemas.microsoft.com/office/drawing/2014/main" id="{0E4A1395-FB7D-A7C6-7E55-740FB64CE82F}"/>
                  </a:ext>
                </a:extLst>
              </p:cNvPr>
              <p:cNvSpPr txBox="1"/>
              <p:nvPr/>
            </p:nvSpPr>
            <p:spPr>
              <a:xfrm>
                <a:off x="2384048" y="3418980"/>
                <a:ext cx="3541992" cy="955860"/>
              </a:xfrm>
              <a:prstGeom prst="rect">
                <a:avLst/>
              </a:prstGeom>
              <a:noFill/>
              <a:ln>
                <a:noFill/>
              </a:ln>
            </p:spPr>
            <p:txBody>
              <a:bodyPr wrap="square" lIns="91440" tIns="45720" rIns="91440" bIns="45720" anchor="ctr" anchorCtr="0">
                <a:normAutofit/>
              </a:bodyPr>
              <a:lstStyle/>
              <a:p>
                <a:pPr algn="l"/>
                <a:r>
                  <a:rPr lang="en-US" sz="1800" b="1" i="0" u="none">
                    <a:solidFill>
                      <a:srgbClr val="FFFFFF"/>
                    </a:solidFill>
                    <a:ea typeface="微软雅黑"/>
                  </a:rPr>
                  <a:t>实验与实现环境</a:t>
                </a:r>
              </a:p>
            </p:txBody>
          </p:sp>
          <p:sp>
            <p:nvSpPr>
              <p:cNvPr id="10" name="Number3" descr="57de146c-37fb-4a6d-a583-e68906e73ed5">
                <a:extLst>
                  <a:ext uri="{FF2B5EF4-FFF2-40B4-BE49-F238E27FC236}">
                    <a16:creationId xmlns:a16="http://schemas.microsoft.com/office/drawing/2014/main" id="{977241EC-089F-E6CC-86A2-D7CE30434ADE}"/>
                  </a:ext>
                </a:extLst>
              </p:cNvPr>
              <p:cNvSpPr txBox="1"/>
              <p:nvPr/>
            </p:nvSpPr>
            <p:spPr>
              <a:xfrm>
                <a:off x="1098818" y="3418981"/>
                <a:ext cx="1093691" cy="924051"/>
              </a:xfrm>
              <a:prstGeom prst="rect">
                <a:avLst/>
              </a:prstGeom>
              <a:noFill/>
              <a:ln>
                <a:noFill/>
              </a:ln>
            </p:spPr>
            <p:txBody>
              <a:bodyPr wrap="non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pPr algn="r">
                  <a:spcBef>
                    <a:spcPct val="0"/>
                  </a:spcBef>
                  <a:spcAft>
                    <a:spcPct val="0"/>
                  </a:spcAft>
                </a:pPr>
                <a:r>
                  <a:rPr lang="en-US" sz="3600" b="1" i="0" u="none">
                    <a:solidFill>
                      <a:srgbClr val="34C4DC"/>
                    </a:solidFill>
                    <a:latin typeface="Arial"/>
                  </a:rPr>
                  <a:t>03</a:t>
                </a:r>
              </a:p>
            </p:txBody>
          </p:sp>
        </p:grpSp>
        <p:grpSp>
          <p:nvGrpSpPr>
            <p:cNvPr id="20" name="组合 19" descr="2f614986-9185-4c4e-a513-eb7fc868cea7">
              <a:extLst>
                <a:ext uri="{FF2B5EF4-FFF2-40B4-BE49-F238E27FC236}">
                  <a16:creationId xmlns:a16="http://schemas.microsoft.com/office/drawing/2014/main" id="{FF33732D-6A57-8805-4173-FC958511C3B3}"/>
                </a:ext>
              </a:extLst>
            </p:cNvPr>
            <p:cNvGrpSpPr/>
            <p:nvPr/>
          </p:nvGrpSpPr>
          <p:grpSpPr>
            <a:xfrm>
              <a:off x="6583459" y="3418980"/>
              <a:ext cx="4827223" cy="955860"/>
              <a:chOff x="6583459" y="3418980"/>
              <a:chExt cx="4827223" cy="955860"/>
            </a:xfrm>
          </p:grpSpPr>
          <p:sp>
            <p:nvSpPr>
              <p:cNvPr id="13" name="Bullet4" descr="82c5bfc4-5fc1-4acf-ac9a-317c7cfc18f7">
                <a:extLst>
                  <a:ext uri="{FF2B5EF4-FFF2-40B4-BE49-F238E27FC236}">
                    <a16:creationId xmlns:a16="http://schemas.microsoft.com/office/drawing/2014/main" id="{EB0AD644-90C6-2165-E2F3-F11C62DA0B06}"/>
                  </a:ext>
                </a:extLst>
              </p:cNvPr>
              <p:cNvSpPr txBox="1"/>
              <p:nvPr/>
            </p:nvSpPr>
            <p:spPr>
              <a:xfrm>
                <a:off x="7868690" y="3418980"/>
                <a:ext cx="3541992" cy="955860"/>
              </a:xfrm>
              <a:prstGeom prst="rect">
                <a:avLst/>
              </a:prstGeom>
              <a:noFill/>
              <a:ln>
                <a:noFill/>
              </a:ln>
            </p:spPr>
            <p:txBody>
              <a:bodyPr wrap="square" lIns="91440" tIns="45720" rIns="91440" bIns="45720" anchor="ctr" anchorCtr="0">
                <a:normAutofit/>
              </a:bodyPr>
              <a:lstStyle/>
              <a:p>
                <a:pPr algn="l"/>
                <a:r>
                  <a:rPr lang="en-US" sz="1800" b="1" i="0" u="none">
                    <a:solidFill>
                      <a:srgbClr val="FFFFFF"/>
                    </a:solidFill>
                    <a:ea typeface="微软雅黑"/>
                  </a:rPr>
                  <a:t>大整数与 Miller–Rabin 素性判定</a:t>
                </a:r>
              </a:p>
            </p:txBody>
          </p:sp>
          <p:sp>
            <p:nvSpPr>
              <p:cNvPr id="14" name="Number4" descr="c9ee00b6-e34d-4a45-89f8-1b648322b4b0">
                <a:extLst>
                  <a:ext uri="{FF2B5EF4-FFF2-40B4-BE49-F238E27FC236}">
                    <a16:creationId xmlns:a16="http://schemas.microsoft.com/office/drawing/2014/main" id="{24240A0C-8FD1-AC42-DF64-66854B9A2C19}"/>
                  </a:ext>
                </a:extLst>
              </p:cNvPr>
              <p:cNvSpPr txBox="1"/>
              <p:nvPr/>
            </p:nvSpPr>
            <p:spPr>
              <a:xfrm>
                <a:off x="6583459" y="3418981"/>
                <a:ext cx="1093691" cy="924051"/>
              </a:xfrm>
              <a:prstGeom prst="rect">
                <a:avLst/>
              </a:prstGeom>
              <a:noFill/>
              <a:ln>
                <a:noFill/>
              </a:ln>
            </p:spPr>
            <p:txBody>
              <a:bodyPr wrap="non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pPr algn="r">
                  <a:spcBef>
                    <a:spcPct val="0"/>
                  </a:spcBef>
                  <a:spcAft>
                    <a:spcPct val="0"/>
                  </a:spcAft>
                </a:pPr>
                <a:r>
                  <a:rPr lang="en-US" sz="3600" b="1" i="0" u="none">
                    <a:solidFill>
                      <a:srgbClr val="34C4DC"/>
                    </a:solidFill>
                    <a:latin typeface="Arial"/>
                  </a:rPr>
                  <a:t>04</a:t>
                </a:r>
              </a:p>
            </p:txBody>
          </p:sp>
        </p:grpSp>
        <p:grpSp>
          <p:nvGrpSpPr>
            <p:cNvPr id="21" name="组合 20" descr="7c01f5bc-5078-45ea-9ee8-94bcad998451">
              <a:extLst>
                <a:ext uri="{FF2B5EF4-FFF2-40B4-BE49-F238E27FC236}">
                  <a16:creationId xmlns:a16="http://schemas.microsoft.com/office/drawing/2014/main" id="{BD61F3DA-4390-E1A0-1A76-FF5D3DEE33A6}"/>
                </a:ext>
              </a:extLst>
            </p:cNvPr>
            <p:cNvGrpSpPr/>
            <p:nvPr/>
          </p:nvGrpSpPr>
          <p:grpSpPr>
            <a:xfrm>
              <a:off x="1098818" y="4689995"/>
              <a:ext cx="4827222" cy="955860"/>
              <a:chOff x="1098818" y="4689995"/>
              <a:chExt cx="4827222" cy="955860"/>
            </a:xfrm>
          </p:grpSpPr>
          <p:sp>
            <p:nvSpPr>
              <p:cNvPr id="16" name="Bullet5" descr="bb29977c-8343-41be-9f05-24811007be65">
                <a:extLst>
                  <a:ext uri="{FF2B5EF4-FFF2-40B4-BE49-F238E27FC236}">
                    <a16:creationId xmlns:a16="http://schemas.microsoft.com/office/drawing/2014/main" id="{C70D6410-37F9-E32F-4453-C6965EDDCEDB}"/>
                  </a:ext>
                </a:extLst>
              </p:cNvPr>
              <p:cNvSpPr txBox="1"/>
              <p:nvPr/>
            </p:nvSpPr>
            <p:spPr>
              <a:xfrm>
                <a:off x="2384048" y="4689995"/>
                <a:ext cx="3541992" cy="955860"/>
              </a:xfrm>
              <a:prstGeom prst="rect">
                <a:avLst/>
              </a:prstGeom>
              <a:noFill/>
              <a:ln>
                <a:noFill/>
              </a:ln>
            </p:spPr>
            <p:txBody>
              <a:bodyPr wrap="square" lIns="91440" tIns="45720" rIns="91440" bIns="45720" anchor="ctr" anchorCtr="0">
                <a:normAutofit/>
              </a:bodyPr>
              <a:lstStyle/>
              <a:p>
                <a:pPr algn="l"/>
                <a:r>
                  <a:rPr lang="en-US" sz="1800" b="1" i="0" u="none">
                    <a:solidFill>
                      <a:srgbClr val="FFFFFF"/>
                    </a:solidFill>
                    <a:latin typeface="Arial"/>
                  </a:rPr>
                  <a:t>RSA 加解密高效算法探究</a:t>
                </a:r>
              </a:p>
            </p:txBody>
          </p:sp>
          <p:sp>
            <p:nvSpPr>
              <p:cNvPr id="17" name="Number5" descr="cca13dfe-bc7d-4d23-9ac5-0831e804dabd">
                <a:extLst>
                  <a:ext uri="{FF2B5EF4-FFF2-40B4-BE49-F238E27FC236}">
                    <a16:creationId xmlns:a16="http://schemas.microsoft.com/office/drawing/2014/main" id="{8109AA08-F7DC-0A85-11E3-BF100CA05691}"/>
                  </a:ext>
                </a:extLst>
              </p:cNvPr>
              <p:cNvSpPr txBox="1"/>
              <p:nvPr/>
            </p:nvSpPr>
            <p:spPr>
              <a:xfrm>
                <a:off x="1098818" y="4689996"/>
                <a:ext cx="1093691" cy="924051"/>
              </a:xfrm>
              <a:prstGeom prst="rect">
                <a:avLst/>
              </a:prstGeom>
              <a:noFill/>
              <a:ln>
                <a:noFill/>
              </a:ln>
            </p:spPr>
            <p:txBody>
              <a:bodyPr wrap="non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pPr algn="r">
                  <a:spcBef>
                    <a:spcPct val="0"/>
                  </a:spcBef>
                  <a:spcAft>
                    <a:spcPct val="0"/>
                  </a:spcAft>
                </a:pPr>
                <a:r>
                  <a:rPr lang="en-US" sz="3600" b="1" i="0" u="none">
                    <a:solidFill>
                      <a:srgbClr val="34C4DC"/>
                    </a:solidFill>
                    <a:latin typeface="Arial"/>
                  </a:rPr>
                  <a:t>05</a:t>
                </a:r>
              </a:p>
            </p:txBody>
          </p:sp>
        </p:grpSp>
        <p:grpSp>
          <p:nvGrpSpPr>
            <p:cNvPr id="22" name="组合 21" descr="c5cdd427-0c11-487a-a00c-823901996341">
              <a:extLst>
                <a:ext uri="{FF2B5EF4-FFF2-40B4-BE49-F238E27FC236}">
                  <a16:creationId xmlns:a16="http://schemas.microsoft.com/office/drawing/2014/main" id="{C1C07D77-E7B4-0E53-0922-78C78A1491E2}"/>
                </a:ext>
              </a:extLst>
            </p:cNvPr>
            <p:cNvGrpSpPr/>
            <p:nvPr/>
          </p:nvGrpSpPr>
          <p:grpSpPr>
            <a:xfrm>
              <a:off x="6583459" y="4689995"/>
              <a:ext cx="4827223" cy="955860"/>
              <a:chOff x="6583459" y="4689995"/>
              <a:chExt cx="4827223" cy="955860"/>
            </a:xfrm>
          </p:grpSpPr>
          <p:sp>
            <p:nvSpPr>
              <p:cNvPr id="18" name="Bullet6" descr="610635c0-8571-4bf7-b648-d4dac15d679a">
                <a:extLst>
                  <a:ext uri="{FF2B5EF4-FFF2-40B4-BE49-F238E27FC236}">
                    <a16:creationId xmlns:a16="http://schemas.microsoft.com/office/drawing/2014/main" id="{58AF11B0-A024-8747-CDCD-78D7C2BD4D3D}"/>
                  </a:ext>
                </a:extLst>
              </p:cNvPr>
              <p:cNvSpPr txBox="1"/>
              <p:nvPr/>
            </p:nvSpPr>
            <p:spPr>
              <a:xfrm>
                <a:off x="7868690" y="4689995"/>
                <a:ext cx="3541992" cy="955860"/>
              </a:xfrm>
              <a:prstGeom prst="rect">
                <a:avLst/>
              </a:prstGeom>
              <a:noFill/>
              <a:ln>
                <a:noFill/>
              </a:ln>
            </p:spPr>
            <p:txBody>
              <a:bodyPr wrap="square" lIns="91440" tIns="45720" rIns="91440" bIns="45720" anchor="ctr" anchorCtr="0">
                <a:normAutofit/>
              </a:bodyPr>
              <a:lstStyle/>
              <a:p>
                <a:pPr algn="l"/>
                <a:r>
                  <a:rPr lang="en-US" sz="1800" b="1" i="0" u="none">
                    <a:solidFill>
                      <a:srgbClr val="FFFFFF"/>
                    </a:solidFill>
                    <a:ea typeface="微软雅黑"/>
                  </a:rPr>
                  <a:t>轻量级 ECC 算法研究</a:t>
                </a:r>
              </a:p>
            </p:txBody>
          </p:sp>
          <p:sp>
            <p:nvSpPr>
              <p:cNvPr id="19" name="Number6" descr="a5281361-f0b0-4d71-94dc-b49080b8ff6c">
                <a:extLst>
                  <a:ext uri="{FF2B5EF4-FFF2-40B4-BE49-F238E27FC236}">
                    <a16:creationId xmlns:a16="http://schemas.microsoft.com/office/drawing/2014/main" id="{9BFEB0BB-7FD5-24C5-967A-604625B42C8B}"/>
                  </a:ext>
                </a:extLst>
              </p:cNvPr>
              <p:cNvSpPr txBox="1"/>
              <p:nvPr/>
            </p:nvSpPr>
            <p:spPr>
              <a:xfrm>
                <a:off x="6583459" y="4689996"/>
                <a:ext cx="1093691" cy="924051"/>
              </a:xfrm>
              <a:prstGeom prst="rect">
                <a:avLst/>
              </a:prstGeom>
              <a:noFill/>
              <a:ln>
                <a:noFill/>
              </a:ln>
            </p:spPr>
            <p:txBody>
              <a:bodyPr wrap="non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sz="4000">
                    <a:latin typeface="Arial" panose="020B0604020202020204" pitchFamily="34" charset="0"/>
                    <a:ea typeface="微软雅黑" panose="020B0503020204020204" pitchFamily="34" charset="-122"/>
                    <a:cs typeface="Arial" panose="020B0604020202020204" pitchFamily="34" charset="0"/>
                  </a:defRPr>
                </a:lvl1pPr>
              </a:lstStyle>
              <a:p>
                <a:pPr algn="r">
                  <a:spcBef>
                    <a:spcPct val="0"/>
                  </a:spcBef>
                  <a:spcAft>
                    <a:spcPct val="0"/>
                  </a:spcAft>
                </a:pPr>
                <a:r>
                  <a:rPr lang="en-US" sz="3600" b="1" i="0" u="none">
                    <a:solidFill>
                      <a:srgbClr val="34C4DC"/>
                    </a:solidFill>
                    <a:latin typeface="Arial"/>
                  </a:rPr>
                  <a:t>06</a:t>
                </a:r>
              </a:p>
            </p:txBody>
          </p:sp>
        </p:grpSp>
      </p:grpSp>
      <p:sp>
        <p:nvSpPr>
          <p:cNvPr id="2" name="标题 1"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a:solidFill>
                  <a:srgbClr val="FFFFFF"/>
                </a:solidFill>
                <a:ea typeface="微软雅黑"/>
              </a:rPr>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descr="a901c192-3a89-4011-a292-a0c08f010ed4"/>
          <p:cNvSpPr>
            <a:spLocks noGrp="1"/>
          </p:cNvSpPr>
          <p:nvPr>
            <p:ph type="title" hasCustomPrompt="1"/>
          </p:nvPr>
        </p:nvSpPr>
        <p:spPr/>
        <p:txBody>
          <a:bodyPr anchorCtr="0"/>
          <a:lstStyle/>
          <a:p>
            <a:pPr algn="l">
              <a:lnSpc>
                <a:spcPct val="100000"/>
              </a:lnSpc>
              <a:spcBef>
                <a:spcPct val="0"/>
              </a:spcBef>
            </a:pPr>
            <a:r>
              <a:rPr lang="en-US" sz="4400" b="1" i="0" u="none">
                <a:solidFill>
                  <a:srgbClr val="FFFFFF"/>
                </a:solidFill>
                <a:ea typeface="微软雅黑"/>
              </a:rPr>
              <a:t>研究背景与意义</a:t>
            </a:r>
          </a:p>
        </p:txBody>
      </p:sp>
      <p:sp>
        <p:nvSpPr>
          <p:cNvPr id="25" name="文本占位符 24" descr="8f57161b-2598-43a7-b514-2ed0f586aeee"/>
          <p:cNvSpPr>
            <a:spLocks noGrp="1"/>
          </p:cNvSpPr>
          <p:nvPr>
            <p:ph type="body" sz="quarter" idx="1" hasCustomPrompt="1"/>
          </p:nvPr>
        </p:nvSpPr>
        <p:spPr/>
        <p:txBody>
          <a:bodyPr anchorCtr="0"/>
          <a:lstStyle/>
          <a:p>
            <a:pPr algn="l">
              <a:lnSpc>
                <a:spcPct val="120000"/>
              </a:lnSpc>
              <a:spcBef>
                <a:spcPts val="1000"/>
              </a:spcBef>
            </a:pPr>
            <a:r>
              <a:rPr lang="en-US" sz="1600" b="0" i="0" u="none">
                <a:solidFill>
                  <a:srgbClr val="FFFFFF"/>
                </a:solidFill>
                <a:ea typeface="微软雅黑"/>
              </a:rPr>
              <a:t>介绍公钥密码在网络安全中的作用，阐述大整数、RSA、ECC在密码学中的地位，强调高效实现对实际系统的重要性，并说明本次展示的研究目标</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90043734-3300-4d8c-bd26-74728c5e3243.source.4.zh-Hans.pptx" descr="ef7fc85a-e242-410e-9e6d-5c16e6c10045">
            <a:extLst>
              <a:ext uri="{FF2B5EF4-FFF2-40B4-BE49-F238E27FC236}">
                <a16:creationId xmlns:a16="http://schemas.microsoft.com/office/drawing/2014/main" id="{4C28A7A1-5EC6-F144-4600-FFFD4654E4D2}"/>
              </a:ext>
            </a:extLst>
          </p:cNvPr>
          <p:cNvGrpSpPr/>
          <p:nvPr/>
        </p:nvGrpSpPr>
        <p:grpSpPr>
          <a:xfrm>
            <a:off x="0" y="1130301"/>
            <a:ext cx="12192000" cy="5727699"/>
            <a:chOff x="0" y="1130301"/>
            <a:chExt cx="12192000" cy="5727699"/>
          </a:xfrm>
        </p:grpSpPr>
        <p:sp>
          <p:nvSpPr>
            <p:cNvPr id="11" name="Title" descr="e736dc06-a68d-485d-9396-abf50ef8cac2">
              <a:extLst>
                <a:ext uri="{FF2B5EF4-FFF2-40B4-BE49-F238E27FC236}">
                  <a16:creationId xmlns:a16="http://schemas.microsoft.com/office/drawing/2014/main" id="{3E1EEA12-B603-C945-28EE-37535BCFCABE}"/>
                </a:ext>
              </a:extLst>
            </p:cNvPr>
            <p:cNvSpPr>
              <a:spLocks/>
            </p:cNvSpPr>
            <p:nvPr/>
          </p:nvSpPr>
          <p:spPr>
            <a:xfrm>
              <a:off x="660400" y="1130301"/>
              <a:ext cx="10858500" cy="582519"/>
            </a:xfrm>
            <a:prstGeom prst="rect">
              <a:avLst/>
            </a:prstGeom>
            <a:noFill/>
            <a:ln w="7620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anchor="ctr" anchorCtr="0">
              <a:normAutofit/>
            </a:bodyPr>
            <a:lstStyle/>
            <a:p>
              <a:pPr algn="l">
                <a:lnSpc>
                  <a:spcPct val="100000"/>
                </a:lnSpc>
                <a:spcBef>
                  <a:spcPct val="0"/>
                </a:spcBef>
              </a:pPr>
              <a:endParaRPr/>
            </a:p>
          </p:txBody>
        </p:sp>
        <p:sp>
          <p:nvSpPr>
            <p:cNvPr id="17" name="PictureMisc1" descr="0bd40e7a-97d5-415d-9f5f-48f35d6cf5c2">
              <a:extLst>
                <a:ext uri="{FF2B5EF4-FFF2-40B4-BE49-F238E27FC236}">
                  <a16:creationId xmlns:a16="http://schemas.microsoft.com/office/drawing/2014/main" id="{810EA7C1-0B32-5506-A80B-BC223CAD9D2C}"/>
                </a:ext>
              </a:extLst>
            </p:cNvPr>
            <p:cNvSpPr>
              <a:spLocks/>
            </p:cNvSpPr>
            <p:nvPr/>
          </p:nvSpPr>
          <p:spPr>
            <a:xfrm>
              <a:off x="0" y="4635351"/>
              <a:ext cx="12192000" cy="2222649"/>
            </a:xfrm>
            <a:prstGeom prst="rect">
              <a:avLst/>
            </a:prstGeom>
            <a:blipFill rotWithShape="1">
              <a:blip r:embed="rId2"/>
              <a:srcRect/>
              <a:stretch>
                <a:fillRect t="-208551" b="-130277"/>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grpSp>
          <p:nvGrpSpPr>
            <p:cNvPr id="65" name="组合 64" descr="2510a54d-a276-4541-bf91-d56dd4c2c776">
              <a:extLst>
                <a:ext uri="{FF2B5EF4-FFF2-40B4-BE49-F238E27FC236}">
                  <a16:creationId xmlns:a16="http://schemas.microsoft.com/office/drawing/2014/main" id="{1F1762D2-8209-0680-6C46-44665239964E}"/>
                </a:ext>
              </a:extLst>
            </p:cNvPr>
            <p:cNvGrpSpPr/>
            <p:nvPr/>
          </p:nvGrpSpPr>
          <p:grpSpPr>
            <a:xfrm>
              <a:off x="660400" y="1783235"/>
              <a:ext cx="5334000" cy="2140501"/>
              <a:chOff x="660400" y="1783235"/>
              <a:chExt cx="5334000" cy="2140501"/>
            </a:xfrm>
          </p:grpSpPr>
          <p:sp>
            <p:nvSpPr>
              <p:cNvPr id="30" name="ComponentBackground1" descr="9eda98f9-2f6a-4e4a-80d3-c652dcf96e52">
                <a:extLst>
                  <a:ext uri="{FF2B5EF4-FFF2-40B4-BE49-F238E27FC236}">
                    <a16:creationId xmlns:a16="http://schemas.microsoft.com/office/drawing/2014/main" id="{3E8EB740-08D8-9B48-D413-3D283511ABFF}"/>
                  </a:ext>
                </a:extLst>
              </p:cNvPr>
              <p:cNvSpPr/>
              <p:nvPr/>
            </p:nvSpPr>
            <p:spPr>
              <a:xfrm>
                <a:off x="660400" y="1783235"/>
                <a:ext cx="5334000" cy="2140501"/>
              </a:xfrm>
              <a:prstGeom prst="roundRect">
                <a:avLst>
                  <a:gd name="adj" fmla="val 3580"/>
                </a:avLst>
              </a:prstGeom>
              <a:solidFill>
                <a:schemeClr val="bg1"/>
              </a:solidFill>
              <a:ln w="6350">
                <a:solidFill>
                  <a:schemeClr val="tx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endParaRPr/>
              </a:p>
            </p:txBody>
          </p:sp>
          <p:sp>
            <p:nvSpPr>
              <p:cNvPr id="31" name="Bullet1" descr="5767c563-823d-4df1-a3df-5d4027e99725">
                <a:extLst>
                  <a:ext uri="{FF2B5EF4-FFF2-40B4-BE49-F238E27FC236}">
                    <a16:creationId xmlns:a16="http://schemas.microsoft.com/office/drawing/2014/main" id="{94E09E00-4056-B1DA-DD5B-1DAC7FDFB066}"/>
                  </a:ext>
                </a:extLst>
              </p:cNvPr>
              <p:cNvSpPr txBox="1">
                <a:spLocks/>
              </p:cNvSpPr>
              <p:nvPr/>
            </p:nvSpPr>
            <p:spPr>
              <a:xfrm>
                <a:off x="1004888" y="1841864"/>
                <a:ext cx="4953000" cy="630708"/>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FFFFFF"/>
                    </a:solidFill>
                    <a:ea typeface="微软雅黑"/>
                  </a:rPr>
                  <a:t>公钥密码在网络安全中的作用</a:t>
                </a:r>
              </a:p>
            </p:txBody>
          </p:sp>
          <p:sp>
            <p:nvSpPr>
              <p:cNvPr id="35" name="Text1" descr="1a28be60-9f6c-496f-aeb8-33b411fd5672">
                <a:extLst>
                  <a:ext uri="{FF2B5EF4-FFF2-40B4-BE49-F238E27FC236}">
                    <a16:creationId xmlns:a16="http://schemas.microsoft.com/office/drawing/2014/main" id="{FB1B9B5B-D3A3-4035-4C29-7B9A7AD0862D}"/>
                  </a:ext>
                </a:extLst>
              </p:cNvPr>
              <p:cNvSpPr txBox="1">
                <a:spLocks/>
              </p:cNvSpPr>
              <p:nvPr/>
            </p:nvSpPr>
            <p:spPr>
              <a:xfrm>
                <a:off x="1004888" y="2472570"/>
                <a:ext cx="4953000" cy="1349220"/>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FFFFFF"/>
                    </a:solidFill>
                    <a:ea typeface="微软雅黑"/>
                  </a:rPr>
                  <a:t>公钥密码在网络安全中发挥着至关重要的作用，它解决了对称密钥密码在密钥分发和管理上的难题。通过公钥加密、私钥解密的机制，确保了通信的保密性、完整性和身份认证，是构建安全网络通信体系的关键技术。</a:t>
                </a:r>
              </a:p>
            </p:txBody>
          </p:sp>
          <p:sp>
            <p:nvSpPr>
              <p:cNvPr id="39" name="Number1" descr="59eac1b8-6a18-487f-8ed9-7f3aeed35297">
                <a:extLst>
                  <a:ext uri="{FF2B5EF4-FFF2-40B4-BE49-F238E27FC236}">
                    <a16:creationId xmlns:a16="http://schemas.microsoft.com/office/drawing/2014/main" id="{E7D9A601-4D82-1DB2-E213-B9DC519996AC}"/>
                  </a:ext>
                </a:extLst>
              </p:cNvPr>
              <p:cNvSpPr>
                <a:spLocks/>
              </p:cNvSpPr>
              <p:nvPr/>
            </p:nvSpPr>
            <p:spPr>
              <a:xfrm>
                <a:off x="702178" y="1841864"/>
                <a:ext cx="302710" cy="630708"/>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l"/>
                <a:r>
                  <a:rPr lang="en-US" sz="1800" b="1" i="0" u="none">
                    <a:solidFill>
                      <a:srgbClr val="34C4DC"/>
                    </a:solidFill>
                    <a:latin typeface="Arial"/>
                  </a:rPr>
                  <a:t>1.</a:t>
                </a:r>
              </a:p>
            </p:txBody>
          </p:sp>
        </p:grpSp>
        <p:grpSp>
          <p:nvGrpSpPr>
            <p:cNvPr id="66" name="组合 65" descr="9307cd79-d7a2-4f06-8255-3cbbbc922c92">
              <a:extLst>
                <a:ext uri="{FF2B5EF4-FFF2-40B4-BE49-F238E27FC236}">
                  <a16:creationId xmlns:a16="http://schemas.microsoft.com/office/drawing/2014/main" id="{FCDDB45C-AB42-6910-4FC9-E69FA9AB298E}"/>
                </a:ext>
              </a:extLst>
            </p:cNvPr>
            <p:cNvGrpSpPr/>
            <p:nvPr/>
          </p:nvGrpSpPr>
          <p:grpSpPr>
            <a:xfrm>
              <a:off x="660400" y="3993600"/>
              <a:ext cx="5334000" cy="2140501"/>
              <a:chOff x="660400" y="3993600"/>
              <a:chExt cx="5334000" cy="2140501"/>
            </a:xfrm>
          </p:grpSpPr>
          <p:sp>
            <p:nvSpPr>
              <p:cNvPr id="24" name="ComponentBackground2" descr="4b6448d2-9063-42cf-8edd-2c12a1647fc3">
                <a:extLst>
                  <a:ext uri="{FF2B5EF4-FFF2-40B4-BE49-F238E27FC236}">
                    <a16:creationId xmlns:a16="http://schemas.microsoft.com/office/drawing/2014/main" id="{6BC6FD9C-1D73-EFD1-9EC0-1758A0A718FD}"/>
                  </a:ext>
                </a:extLst>
              </p:cNvPr>
              <p:cNvSpPr/>
              <p:nvPr/>
            </p:nvSpPr>
            <p:spPr>
              <a:xfrm>
                <a:off x="660400" y="3993600"/>
                <a:ext cx="5334000" cy="2140501"/>
              </a:xfrm>
              <a:prstGeom prst="roundRect">
                <a:avLst>
                  <a:gd name="adj" fmla="val 3580"/>
                </a:avLst>
              </a:prstGeom>
              <a:solidFill>
                <a:schemeClr val="bg1"/>
              </a:solidFill>
              <a:ln w="6350">
                <a:solidFill>
                  <a:schemeClr val="tx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endParaRPr/>
              </a:p>
            </p:txBody>
          </p:sp>
          <p:sp>
            <p:nvSpPr>
              <p:cNvPr id="26" name="Bullet2" descr="fd1dabad-3d7a-4040-b078-5e31096fa2b3">
                <a:extLst>
                  <a:ext uri="{FF2B5EF4-FFF2-40B4-BE49-F238E27FC236}">
                    <a16:creationId xmlns:a16="http://schemas.microsoft.com/office/drawing/2014/main" id="{511C235B-7E71-4C27-5ED7-178A7724C6A7}"/>
                  </a:ext>
                </a:extLst>
              </p:cNvPr>
              <p:cNvSpPr txBox="1">
                <a:spLocks/>
              </p:cNvSpPr>
              <p:nvPr/>
            </p:nvSpPr>
            <p:spPr>
              <a:xfrm>
                <a:off x="1004888" y="4052229"/>
                <a:ext cx="4953000" cy="630708"/>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FFFFFF"/>
                    </a:solidFill>
                    <a:ea typeface="微软雅黑"/>
                  </a:rPr>
                  <a:t>大整数、RSA、ECC在密码学中的地位</a:t>
                </a:r>
              </a:p>
            </p:txBody>
          </p:sp>
          <p:sp>
            <p:nvSpPr>
              <p:cNvPr id="28" name="Text2" descr="c2710a21-9dc1-4fbe-b8c1-86658eca1366">
                <a:extLst>
                  <a:ext uri="{FF2B5EF4-FFF2-40B4-BE49-F238E27FC236}">
                    <a16:creationId xmlns:a16="http://schemas.microsoft.com/office/drawing/2014/main" id="{022E1B21-3B6E-0249-0ED6-402E1CA165BE}"/>
                  </a:ext>
                </a:extLst>
              </p:cNvPr>
              <p:cNvSpPr txBox="1">
                <a:spLocks/>
              </p:cNvSpPr>
              <p:nvPr/>
            </p:nvSpPr>
            <p:spPr>
              <a:xfrm>
                <a:off x="1004888" y="4682935"/>
                <a:ext cx="4953000" cy="1349220"/>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FFFFFF"/>
                    </a:solidFill>
                    <a:ea typeface="微软雅黑"/>
                  </a:rPr>
                  <a:t>大整数是公钥密码算法的基础，RSA和ECC作为两种重要的公钥密码算法，在信息安全领域占据核心地位。RSA算法凭借其简单直观的数学原理，广泛应用于数据加密、数字签名等领域；ECC算法则以更高的安全性和更小的密钥长度，在资源受限的环境中展现出独特的优势。</a:t>
                </a:r>
              </a:p>
            </p:txBody>
          </p:sp>
          <p:sp>
            <p:nvSpPr>
              <p:cNvPr id="29" name="Number2" descr="89639d3f-5142-48aa-86c4-2d105cae60de">
                <a:extLst>
                  <a:ext uri="{FF2B5EF4-FFF2-40B4-BE49-F238E27FC236}">
                    <a16:creationId xmlns:a16="http://schemas.microsoft.com/office/drawing/2014/main" id="{0D139162-E8B5-2098-3B69-F17335B8351D}"/>
                  </a:ext>
                </a:extLst>
              </p:cNvPr>
              <p:cNvSpPr>
                <a:spLocks/>
              </p:cNvSpPr>
              <p:nvPr/>
            </p:nvSpPr>
            <p:spPr>
              <a:xfrm>
                <a:off x="702178" y="4052229"/>
                <a:ext cx="302710" cy="630708"/>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l"/>
                <a:r>
                  <a:rPr lang="en-US" sz="1800" b="1" i="0" u="none">
                    <a:solidFill>
                      <a:srgbClr val="34C4DC"/>
                    </a:solidFill>
                    <a:latin typeface="Arial"/>
                  </a:rPr>
                  <a:t>2.</a:t>
                </a:r>
              </a:p>
            </p:txBody>
          </p:sp>
        </p:grpSp>
        <p:grpSp>
          <p:nvGrpSpPr>
            <p:cNvPr id="67" name="组合 66" descr="6d5c4769-6722-42a9-8088-a8b98ad17ca1">
              <a:extLst>
                <a:ext uri="{FF2B5EF4-FFF2-40B4-BE49-F238E27FC236}">
                  <a16:creationId xmlns:a16="http://schemas.microsoft.com/office/drawing/2014/main" id="{A11188BC-FE17-522A-93FB-6A21AF776879}"/>
                </a:ext>
              </a:extLst>
            </p:cNvPr>
            <p:cNvGrpSpPr/>
            <p:nvPr/>
          </p:nvGrpSpPr>
          <p:grpSpPr>
            <a:xfrm>
              <a:off x="6184900" y="1783234"/>
              <a:ext cx="5334000" cy="2140501"/>
              <a:chOff x="6184900" y="1783234"/>
              <a:chExt cx="5334000" cy="2140501"/>
            </a:xfrm>
          </p:grpSpPr>
          <p:sp>
            <p:nvSpPr>
              <p:cNvPr id="61" name="ComponentBackground3" descr="ed59d19e-b655-4e66-abd0-7ad238835e9d">
                <a:extLst>
                  <a:ext uri="{FF2B5EF4-FFF2-40B4-BE49-F238E27FC236}">
                    <a16:creationId xmlns:a16="http://schemas.microsoft.com/office/drawing/2014/main" id="{DC89DB1D-A14C-0F77-E00D-C79A4C87465C}"/>
                  </a:ext>
                </a:extLst>
              </p:cNvPr>
              <p:cNvSpPr/>
              <p:nvPr/>
            </p:nvSpPr>
            <p:spPr>
              <a:xfrm>
                <a:off x="6184900" y="1783234"/>
                <a:ext cx="5334000" cy="2140501"/>
              </a:xfrm>
              <a:prstGeom prst="roundRect">
                <a:avLst>
                  <a:gd name="adj" fmla="val 3580"/>
                </a:avLst>
              </a:prstGeom>
              <a:solidFill>
                <a:schemeClr val="bg1"/>
              </a:solidFill>
              <a:ln w="6350">
                <a:solidFill>
                  <a:schemeClr val="tx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endParaRPr/>
              </a:p>
            </p:txBody>
          </p:sp>
          <p:sp>
            <p:nvSpPr>
              <p:cNvPr id="62" name="Bullet3" descr="e7259e34-c2d0-42e1-900a-3730f89abdf8">
                <a:extLst>
                  <a:ext uri="{FF2B5EF4-FFF2-40B4-BE49-F238E27FC236}">
                    <a16:creationId xmlns:a16="http://schemas.microsoft.com/office/drawing/2014/main" id="{D7D26FCE-6507-8B1E-60F3-73E2EB5EDF88}"/>
                  </a:ext>
                </a:extLst>
              </p:cNvPr>
              <p:cNvSpPr txBox="1">
                <a:spLocks/>
              </p:cNvSpPr>
              <p:nvPr/>
            </p:nvSpPr>
            <p:spPr>
              <a:xfrm>
                <a:off x="6529388" y="1841863"/>
                <a:ext cx="4953000" cy="630708"/>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FFFFFF"/>
                    </a:solidFill>
                    <a:ea typeface="微软雅黑"/>
                  </a:rPr>
                  <a:t>高效实现对实际系统的重要性</a:t>
                </a:r>
              </a:p>
            </p:txBody>
          </p:sp>
          <p:sp>
            <p:nvSpPr>
              <p:cNvPr id="63" name="Text3" descr="bc278b61-3f9b-40b6-b922-fce6d55e4b83">
                <a:extLst>
                  <a:ext uri="{FF2B5EF4-FFF2-40B4-BE49-F238E27FC236}">
                    <a16:creationId xmlns:a16="http://schemas.microsoft.com/office/drawing/2014/main" id="{0A43FB87-C1AE-C4F6-E9F7-967540919B40}"/>
                  </a:ext>
                </a:extLst>
              </p:cNvPr>
              <p:cNvSpPr txBox="1">
                <a:spLocks/>
              </p:cNvSpPr>
              <p:nvPr/>
            </p:nvSpPr>
            <p:spPr>
              <a:xfrm>
                <a:off x="6529388" y="2472569"/>
                <a:ext cx="4953000" cy="1349220"/>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FFFFFF"/>
                    </a:solidFill>
                    <a:ea typeface="微软雅黑"/>
                  </a:rPr>
                  <a:t>在实际应用中，高效的公钥密码算法实现能够显著提升系统的性能和安全性。高效的算法可以减少计算资源的消耗，加快数据处理速度，提高系统的响应能力，同时降低因计算延迟带来的安全风险。</a:t>
                </a:r>
              </a:p>
            </p:txBody>
          </p:sp>
          <p:sp>
            <p:nvSpPr>
              <p:cNvPr id="64" name="Number3" descr="4b8d157f-6ff2-4d7e-9852-7ab7faa78324">
                <a:extLst>
                  <a:ext uri="{FF2B5EF4-FFF2-40B4-BE49-F238E27FC236}">
                    <a16:creationId xmlns:a16="http://schemas.microsoft.com/office/drawing/2014/main" id="{7644F3D9-2883-BEF0-8FEF-7ECDB4E3E11F}"/>
                  </a:ext>
                </a:extLst>
              </p:cNvPr>
              <p:cNvSpPr>
                <a:spLocks/>
              </p:cNvSpPr>
              <p:nvPr/>
            </p:nvSpPr>
            <p:spPr>
              <a:xfrm>
                <a:off x="6226678" y="1841863"/>
                <a:ext cx="302710" cy="630708"/>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l"/>
                <a:r>
                  <a:rPr lang="en-US" sz="1800" b="1" i="0" u="none">
                    <a:solidFill>
                      <a:srgbClr val="34C4DC"/>
                    </a:solidFill>
                    <a:latin typeface="Arial"/>
                  </a:rPr>
                  <a:t>3.</a:t>
                </a:r>
              </a:p>
            </p:txBody>
          </p:sp>
        </p:grpSp>
        <p:grpSp>
          <p:nvGrpSpPr>
            <p:cNvPr id="68" name="组合 67" descr="f5802772-8065-473c-a18c-9ee79b72f2bd">
              <a:extLst>
                <a:ext uri="{FF2B5EF4-FFF2-40B4-BE49-F238E27FC236}">
                  <a16:creationId xmlns:a16="http://schemas.microsoft.com/office/drawing/2014/main" id="{179A5BC7-C1E3-CB65-0D8D-5D05F042AFDC}"/>
                </a:ext>
              </a:extLst>
            </p:cNvPr>
            <p:cNvGrpSpPr/>
            <p:nvPr/>
          </p:nvGrpSpPr>
          <p:grpSpPr>
            <a:xfrm>
              <a:off x="6184900" y="3993599"/>
              <a:ext cx="5334000" cy="2140501"/>
              <a:chOff x="6184900" y="3993599"/>
              <a:chExt cx="5334000" cy="2140501"/>
            </a:xfrm>
          </p:grpSpPr>
          <p:sp>
            <p:nvSpPr>
              <p:cNvPr id="57" name="ComponentBackground4" descr="1e78b342-c426-4319-b18d-e55bb5f2aebf">
                <a:extLst>
                  <a:ext uri="{FF2B5EF4-FFF2-40B4-BE49-F238E27FC236}">
                    <a16:creationId xmlns:a16="http://schemas.microsoft.com/office/drawing/2014/main" id="{3CBBB027-67EC-2086-B950-E63BFDD80448}"/>
                  </a:ext>
                </a:extLst>
              </p:cNvPr>
              <p:cNvSpPr/>
              <p:nvPr/>
            </p:nvSpPr>
            <p:spPr>
              <a:xfrm>
                <a:off x="6184900" y="3993599"/>
                <a:ext cx="5334000" cy="2140501"/>
              </a:xfrm>
              <a:prstGeom prst="roundRect">
                <a:avLst>
                  <a:gd name="adj" fmla="val 3580"/>
                </a:avLst>
              </a:prstGeom>
              <a:solidFill>
                <a:schemeClr val="bg1"/>
              </a:solidFill>
              <a:ln w="6350">
                <a:solidFill>
                  <a:schemeClr val="tx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endParaRPr/>
              </a:p>
            </p:txBody>
          </p:sp>
          <p:sp>
            <p:nvSpPr>
              <p:cNvPr id="58" name="Bullet4" descr="d3454265-f413-4751-b40f-bdc757eb4389">
                <a:extLst>
                  <a:ext uri="{FF2B5EF4-FFF2-40B4-BE49-F238E27FC236}">
                    <a16:creationId xmlns:a16="http://schemas.microsoft.com/office/drawing/2014/main" id="{34A85653-E6DA-DBB6-BE67-F6CA49619C16}"/>
                  </a:ext>
                </a:extLst>
              </p:cNvPr>
              <p:cNvSpPr txBox="1">
                <a:spLocks/>
              </p:cNvSpPr>
              <p:nvPr/>
            </p:nvSpPr>
            <p:spPr>
              <a:xfrm>
                <a:off x="6529388" y="4052228"/>
                <a:ext cx="4953000" cy="630708"/>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FFFFFF"/>
                    </a:solidFill>
                    <a:ea typeface="微软雅黑"/>
                  </a:rPr>
                  <a:t>本次展示的研究目标</a:t>
                </a:r>
              </a:p>
            </p:txBody>
          </p:sp>
          <p:sp>
            <p:nvSpPr>
              <p:cNvPr id="59" name="Text4" descr="a805dee6-e010-4344-aa98-0aa3636c86bf">
                <a:extLst>
                  <a:ext uri="{FF2B5EF4-FFF2-40B4-BE49-F238E27FC236}">
                    <a16:creationId xmlns:a16="http://schemas.microsoft.com/office/drawing/2014/main" id="{F40C5673-8132-1F5B-26BF-44B062573297}"/>
                  </a:ext>
                </a:extLst>
              </p:cNvPr>
              <p:cNvSpPr txBox="1">
                <a:spLocks/>
              </p:cNvSpPr>
              <p:nvPr/>
            </p:nvSpPr>
            <p:spPr>
              <a:xfrm>
                <a:off x="6529388" y="4682934"/>
                <a:ext cx="4953000" cy="1349220"/>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FFFFFF"/>
                    </a:solidFill>
                    <a:ea typeface="微软雅黑"/>
                  </a:rPr>
                  <a:t>本次展示旨在深入研究和实现大整数、RSA和轻量级ECC算法，分析其原理和性能瓶颈，探索优化方法，以提高算法在实际应用中的效率和安全性，为构建更安全的网络通信系统提供技术支持。</a:t>
                </a:r>
              </a:p>
            </p:txBody>
          </p:sp>
          <p:sp>
            <p:nvSpPr>
              <p:cNvPr id="60" name="Number4" descr="36f0863b-3719-4d05-913e-17cfefc90f45">
                <a:extLst>
                  <a:ext uri="{FF2B5EF4-FFF2-40B4-BE49-F238E27FC236}">
                    <a16:creationId xmlns:a16="http://schemas.microsoft.com/office/drawing/2014/main" id="{663EACC6-F63E-A700-629A-A3F63773F28A}"/>
                  </a:ext>
                </a:extLst>
              </p:cNvPr>
              <p:cNvSpPr>
                <a:spLocks/>
              </p:cNvSpPr>
              <p:nvPr/>
            </p:nvSpPr>
            <p:spPr>
              <a:xfrm>
                <a:off x="6226678" y="4052228"/>
                <a:ext cx="302710" cy="630708"/>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l"/>
                <a:r>
                  <a:rPr lang="en-US" sz="1800" b="1" i="0" u="none">
                    <a:solidFill>
                      <a:srgbClr val="34C4DC"/>
                    </a:solidFill>
                    <a:latin typeface="Arial"/>
                  </a:rPr>
                  <a:t>4.</a:t>
                </a:r>
              </a:p>
            </p:txBody>
          </p:sp>
        </p:grpSp>
      </p:grpSp>
      <p:sp>
        <p:nvSpPr>
          <p:cNvPr id="2" name="标题 1"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strike="noStrike">
                <a:solidFill>
                  <a:srgbClr val="FFFFFF"/>
                </a:solidFill>
                <a:ea typeface="微软雅黑"/>
              </a:rPr>
              <a:t>研究背景与目标</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descr="a901c192-3a89-4011-a292-a0c08f010ed4"/>
          <p:cNvSpPr>
            <a:spLocks noGrp="1"/>
          </p:cNvSpPr>
          <p:nvPr>
            <p:ph type="title" hasCustomPrompt="1"/>
          </p:nvPr>
        </p:nvSpPr>
        <p:spPr/>
        <p:txBody>
          <a:bodyPr anchorCtr="0"/>
          <a:lstStyle/>
          <a:p>
            <a:pPr algn="l">
              <a:lnSpc>
                <a:spcPct val="100000"/>
              </a:lnSpc>
              <a:spcBef>
                <a:spcPct val="0"/>
              </a:spcBef>
            </a:pPr>
            <a:r>
              <a:rPr lang="en-US" sz="4400" b="1" i="0" u="none">
                <a:solidFill>
                  <a:srgbClr val="FFFFFF"/>
                </a:solidFill>
                <a:ea typeface="微软雅黑"/>
              </a:rPr>
              <a:t>展示内容结构</a:t>
            </a:r>
          </a:p>
        </p:txBody>
      </p:sp>
      <p:sp>
        <p:nvSpPr>
          <p:cNvPr id="25" name="文本占位符 24" descr="8f57161b-2598-43a7-b514-2ed0f586aeee"/>
          <p:cNvSpPr>
            <a:spLocks noGrp="1"/>
          </p:cNvSpPr>
          <p:nvPr>
            <p:ph type="body" sz="quarter" idx="1" hasCustomPrompt="1"/>
          </p:nvPr>
        </p:nvSpPr>
        <p:spPr/>
        <p:txBody>
          <a:bodyPr anchorCtr="0"/>
          <a:lstStyle/>
          <a:p>
            <a:pPr algn="l">
              <a:lnSpc>
                <a:spcPct val="120000"/>
              </a:lnSpc>
              <a:spcBef>
                <a:spcPts val="1000"/>
              </a:spcBef>
            </a:pPr>
            <a:r>
              <a:rPr lang="en-US" sz="1600" b="0" i="0" u="none">
                <a:solidFill>
                  <a:srgbClr val="FFFFFF"/>
                </a:solidFill>
                <a:ea typeface="微软雅黑"/>
              </a:rPr>
              <a:t>说明展示内容的具体结构</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300e0c0b-0462-4a6b-95cd-3a67c6baf2bd.source.3.zh-Hans.pptx" descr="ca582bea-dc18-4fcb-912e-9184d47b6e66">
            <a:extLst>
              <a:ext uri="{FF2B5EF4-FFF2-40B4-BE49-F238E27FC236}">
                <a16:creationId xmlns:a16="http://schemas.microsoft.com/office/drawing/2014/main" id="{5C6A90BD-227E-4782-D6D7-14E134CC07EC}"/>
              </a:ext>
            </a:extLst>
          </p:cNvPr>
          <p:cNvGrpSpPr/>
          <p:nvPr/>
        </p:nvGrpSpPr>
        <p:grpSpPr>
          <a:xfrm>
            <a:off x="660400" y="1130301"/>
            <a:ext cx="10858500" cy="5003799"/>
            <a:chOff x="660400" y="1130301"/>
            <a:chExt cx="10858500" cy="5003799"/>
          </a:xfrm>
        </p:grpSpPr>
        <p:sp>
          <p:nvSpPr>
            <p:cNvPr id="5" name="Title" descr="d2bbc6b4-0bb3-4cfc-814d-9ec83df43ee2">
              <a:extLst>
                <a:ext uri="{FF2B5EF4-FFF2-40B4-BE49-F238E27FC236}">
                  <a16:creationId xmlns:a16="http://schemas.microsoft.com/office/drawing/2014/main" id="{FB6A1455-81AA-2669-4B31-65524FA20933}"/>
                </a:ext>
              </a:extLst>
            </p:cNvPr>
            <p:cNvSpPr txBox="1"/>
            <p:nvPr/>
          </p:nvSpPr>
          <p:spPr>
            <a:xfrm>
              <a:off x="660400" y="1130301"/>
              <a:ext cx="2573454" cy="2181612"/>
            </a:xfrm>
            <a:prstGeom prst="roundRect">
              <a:avLst>
                <a:gd name="adj" fmla="val 6882"/>
              </a:avLst>
            </a:prstGeom>
            <a:solidFill>
              <a:schemeClr val="tx1">
                <a:alpha val="5000"/>
              </a:schemeClr>
            </a:solidFill>
          </p:spPr>
          <p:txBody>
            <a:bodyPr wrap="square" lIns="90000" tIns="46800" rIns="90000" bIns="46800" rtlCol="0" anchor="ctr" anchorCtr="0">
              <a:normAutofit/>
            </a:bodyPr>
            <a:lstStyle>
              <a:defPPr>
                <a:defRPr lang="zh-CN"/>
              </a:defPPr>
              <a:lvl1pPr>
                <a:defRPr sz="2400" b="1">
                  <a:cs typeface="+mn-ea"/>
                </a:defRPr>
              </a:lvl1pPr>
            </a:lstStyle>
            <a:p>
              <a:pPr algn="l"/>
              <a:endParaRPr/>
            </a:p>
          </p:txBody>
        </p:sp>
        <p:cxnSp>
          <p:nvCxnSpPr>
            <p:cNvPr id="7" name="直接连接符 6" descr="14887e58-bac8-4750-b87d-eab90be5cd62">
              <a:extLst>
                <a:ext uri="{FF2B5EF4-FFF2-40B4-BE49-F238E27FC236}">
                  <a16:creationId xmlns:a16="http://schemas.microsoft.com/office/drawing/2014/main" id="{6D016FBC-F3DE-998F-8037-2196814BE19A}"/>
                </a:ext>
              </a:extLst>
            </p:cNvPr>
            <p:cNvCxnSpPr>
              <a:cxnSpLocks/>
              <a:stCxn id="40" idx="4"/>
              <a:endCxn id="22" idx="0"/>
            </p:cNvCxnSpPr>
            <p:nvPr/>
          </p:nvCxnSpPr>
          <p:spPr>
            <a:xfrm>
              <a:off x="3625852" y="1628097"/>
              <a:ext cx="0" cy="2923707"/>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nvGrpSpPr>
            <p:cNvPr id="3" name="组合 2" descr="56d1dfe6-2d4a-4a91-b4bc-fb3166f16c6d">
              <a:extLst>
                <a:ext uri="{FF2B5EF4-FFF2-40B4-BE49-F238E27FC236}">
                  <a16:creationId xmlns:a16="http://schemas.microsoft.com/office/drawing/2014/main" id="{2BB20AA2-7B8A-45C6-5757-CF6ED73DE00F}"/>
                </a:ext>
              </a:extLst>
            </p:cNvPr>
            <p:cNvGrpSpPr/>
            <p:nvPr/>
          </p:nvGrpSpPr>
          <p:grpSpPr>
            <a:xfrm>
              <a:off x="3403298" y="1183481"/>
              <a:ext cx="8115602" cy="1582296"/>
              <a:chOff x="3403298" y="1183481"/>
              <a:chExt cx="8115602" cy="1582296"/>
            </a:xfrm>
          </p:grpSpPr>
          <p:sp>
            <p:nvSpPr>
              <p:cNvPr id="42" name="Text1" descr="b1239af4-a13f-44c3-98b5-e50e16eca86c">
                <a:extLst>
                  <a:ext uri="{FF2B5EF4-FFF2-40B4-BE49-F238E27FC236}">
                    <a16:creationId xmlns:a16="http://schemas.microsoft.com/office/drawing/2014/main" id="{07D60B01-C177-C522-B4A6-0F712FC18091}"/>
                  </a:ext>
                </a:extLst>
              </p:cNvPr>
              <p:cNvSpPr txBox="1">
                <a:spLocks/>
              </p:cNvSpPr>
              <p:nvPr/>
            </p:nvSpPr>
            <p:spPr>
              <a:xfrm>
                <a:off x="3890498" y="1628096"/>
                <a:ext cx="7628401" cy="1137681"/>
              </a:xfrm>
              <a:prstGeom prst="rect">
                <a:avLst/>
              </a:prstGeom>
              <a:noFill/>
            </p:spPr>
            <p:txBody>
              <a:bodyPr wrap="square" rtlCol="0" anchor="t" anchorCtr="0">
                <a:normAutofit/>
              </a:bodyPr>
              <a:lstStyle>
                <a:defPPr>
                  <a:defRPr lang="zh-CN"/>
                </a:defPPr>
                <a:lvl1pPr marL="0" algn="l" defTabSz="914400" rtl="0" eaLnBrk="1" latinLnBrk="0" hangingPunct="1">
                  <a:lnSpc>
                    <a:spcPct val="150000"/>
                  </a:lnSpc>
                  <a:defRPr kumimoji="0" sz="1050" i="0" u="none" strike="noStrike" kern="1200" cap="none" spc="0" normalizeH="0" baseline="0">
                    <a:ln>
                      <a:noFill/>
                    </a:ln>
                    <a:solidFill>
                      <a:schemeClr val="tx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FFFFFF"/>
                    </a:solidFill>
                    <a:ea typeface="微软雅黑"/>
                  </a:rPr>
                  <a:t>介绍大整数与Miller–Rabin素性判定算法，包括大整数在密码学中的作用、数据结构设计、基本运算实现、乘法优化以及素性判定问题引入、算法原理、实现与测试等内容。</a:t>
                </a:r>
              </a:p>
            </p:txBody>
          </p:sp>
          <p:sp>
            <p:nvSpPr>
              <p:cNvPr id="43" name="Bullet1" descr="e7ebf6f2-37b6-4a8b-bebb-46a2a6c9305e">
                <a:extLst>
                  <a:ext uri="{FF2B5EF4-FFF2-40B4-BE49-F238E27FC236}">
                    <a16:creationId xmlns:a16="http://schemas.microsoft.com/office/drawing/2014/main" id="{B61A51BB-B63C-EDF9-1694-EB5C36B81F1F}"/>
                  </a:ext>
                </a:extLst>
              </p:cNvPr>
              <p:cNvSpPr txBox="1">
                <a:spLocks/>
              </p:cNvSpPr>
              <p:nvPr/>
            </p:nvSpPr>
            <p:spPr>
              <a:xfrm>
                <a:off x="3890499" y="1183481"/>
                <a:ext cx="7628401" cy="444616"/>
              </a:xfrm>
              <a:prstGeom prst="rect">
                <a:avLst/>
              </a:prstGeom>
              <a:noFill/>
            </p:spPr>
            <p:txBody>
              <a:bodyPr wrap="square" rtlCol="0" anchor="ctr" anchorCtr="0">
                <a:normAutofit/>
              </a:bodyPr>
              <a:lstStyle>
                <a:defPPr>
                  <a:defRPr lang="zh-CN"/>
                </a:defPPr>
                <a:lvl1pPr marL="0" algn="l" defTabSz="914400" rtl="0" eaLnBrk="1" latinLnBrk="0" hangingPunct="1">
                  <a:defRPr kumimoji="0" sz="1400" b="1" i="0" u="none" strike="noStrike" kern="1200" cap="none" spc="0" normalizeH="0" baseline="0">
                    <a:ln>
                      <a:noFill/>
                    </a:ln>
                    <a:solidFill>
                      <a:schemeClr val="accent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FFFFFF"/>
                    </a:solidFill>
                    <a:ea typeface="微软雅黑"/>
                  </a:rPr>
                  <a:t>第一部分</a:t>
                </a:r>
              </a:p>
            </p:txBody>
          </p:sp>
          <p:sp>
            <p:nvSpPr>
              <p:cNvPr id="40" name="Number1" descr="1fdd1c7c-3a56-4131-b9cd-f3378ac76a42">
                <a:extLst>
                  <a:ext uri="{FF2B5EF4-FFF2-40B4-BE49-F238E27FC236}">
                    <a16:creationId xmlns:a16="http://schemas.microsoft.com/office/drawing/2014/main" id="{C6383B5A-6773-94AB-2EDC-5BEF889B0736}"/>
                  </a:ext>
                </a:extLst>
              </p:cNvPr>
              <p:cNvSpPr>
                <a:spLocks/>
              </p:cNvSpPr>
              <p:nvPr/>
            </p:nvSpPr>
            <p:spPr>
              <a:xfrm>
                <a:off x="3403298" y="1183481"/>
                <a:ext cx="445108" cy="4446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b="1" i="0" u="none">
                    <a:solidFill>
                      <a:srgbClr val="FFFFFF"/>
                    </a:solidFill>
                    <a:latin typeface="Arial"/>
                  </a:rPr>
                  <a:t>1</a:t>
                </a:r>
              </a:p>
            </p:txBody>
          </p:sp>
        </p:grpSp>
        <p:grpSp>
          <p:nvGrpSpPr>
            <p:cNvPr id="11" name="组合 10" descr="d0851b89-f6f3-416a-9069-9ef4555c6757">
              <a:extLst>
                <a:ext uri="{FF2B5EF4-FFF2-40B4-BE49-F238E27FC236}">
                  <a16:creationId xmlns:a16="http://schemas.microsoft.com/office/drawing/2014/main" id="{9DEEEA2E-0FE7-7E78-B350-01776B19F18D}"/>
                </a:ext>
              </a:extLst>
            </p:cNvPr>
            <p:cNvGrpSpPr/>
            <p:nvPr/>
          </p:nvGrpSpPr>
          <p:grpSpPr>
            <a:xfrm>
              <a:off x="3403298" y="2867642"/>
              <a:ext cx="8115602" cy="1582296"/>
              <a:chOff x="3403298" y="2454892"/>
              <a:chExt cx="8115602" cy="1582296"/>
            </a:xfrm>
          </p:grpSpPr>
          <p:sp>
            <p:nvSpPr>
              <p:cNvPr id="10" name="Text2" descr="17bb51ea-86f0-4a19-8af9-b59eefbb41f1">
                <a:extLst>
                  <a:ext uri="{FF2B5EF4-FFF2-40B4-BE49-F238E27FC236}">
                    <a16:creationId xmlns:a16="http://schemas.microsoft.com/office/drawing/2014/main" id="{960CFB30-E40D-C247-AA79-434E87FCFE34}"/>
                  </a:ext>
                </a:extLst>
              </p:cNvPr>
              <p:cNvSpPr txBox="1">
                <a:spLocks/>
              </p:cNvSpPr>
              <p:nvPr/>
            </p:nvSpPr>
            <p:spPr>
              <a:xfrm>
                <a:off x="3890498" y="2899507"/>
                <a:ext cx="7628401" cy="1137681"/>
              </a:xfrm>
              <a:prstGeom prst="rect">
                <a:avLst/>
              </a:prstGeom>
              <a:noFill/>
            </p:spPr>
            <p:txBody>
              <a:bodyPr wrap="square" rtlCol="0" anchor="t" anchorCtr="0">
                <a:normAutofit/>
              </a:bodyPr>
              <a:lstStyle>
                <a:defPPr>
                  <a:defRPr lang="zh-CN"/>
                </a:defPPr>
                <a:lvl1pPr marL="0" algn="l" defTabSz="914400" rtl="0" eaLnBrk="1" latinLnBrk="0" hangingPunct="1">
                  <a:lnSpc>
                    <a:spcPct val="150000"/>
                  </a:lnSpc>
                  <a:defRPr kumimoji="0" sz="1050" i="0" u="none" strike="noStrike" kern="1200" cap="none" spc="0" normalizeH="0" baseline="0">
                    <a:ln>
                      <a:noFill/>
                    </a:ln>
                    <a:solidFill>
                      <a:schemeClr val="tx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FFFFFF"/>
                    </a:solidFill>
                    <a:ea typeface="微软雅黑"/>
                  </a:rPr>
                  <a:t>探究RSA加解密高效算法，涵盖RSA算法原理回顾、性能瓶颈分析、快速模幂算法、CRT优化、实验结果分析以及安全性与效率权衡等方面。</a:t>
                </a:r>
              </a:p>
            </p:txBody>
          </p:sp>
          <p:sp>
            <p:nvSpPr>
              <p:cNvPr id="12" name="Bullet2" descr="f5722ede-0157-4317-93db-1397926a3936">
                <a:extLst>
                  <a:ext uri="{FF2B5EF4-FFF2-40B4-BE49-F238E27FC236}">
                    <a16:creationId xmlns:a16="http://schemas.microsoft.com/office/drawing/2014/main" id="{4E02A754-3B33-4378-9BA8-1007B1727A5A}"/>
                  </a:ext>
                </a:extLst>
              </p:cNvPr>
              <p:cNvSpPr txBox="1">
                <a:spLocks/>
              </p:cNvSpPr>
              <p:nvPr/>
            </p:nvSpPr>
            <p:spPr>
              <a:xfrm>
                <a:off x="3890499" y="2454892"/>
                <a:ext cx="7628401" cy="444616"/>
              </a:xfrm>
              <a:prstGeom prst="rect">
                <a:avLst/>
              </a:prstGeom>
              <a:noFill/>
            </p:spPr>
            <p:txBody>
              <a:bodyPr wrap="square" rtlCol="0" anchor="ctr" anchorCtr="0">
                <a:normAutofit/>
              </a:bodyPr>
              <a:lstStyle>
                <a:defPPr>
                  <a:defRPr lang="zh-CN"/>
                </a:defPPr>
                <a:lvl1pPr marL="0" algn="l" defTabSz="914400" rtl="0" eaLnBrk="1" latinLnBrk="0" hangingPunct="1">
                  <a:defRPr kumimoji="0" sz="1400" b="1" i="0" u="none" strike="noStrike" kern="1200" cap="none" spc="0" normalizeH="0" baseline="0">
                    <a:ln>
                      <a:noFill/>
                    </a:ln>
                    <a:solidFill>
                      <a:schemeClr val="accent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FFFFFF"/>
                    </a:solidFill>
                    <a:ea typeface="微软雅黑"/>
                  </a:rPr>
                  <a:t>第二部分</a:t>
                </a:r>
              </a:p>
            </p:txBody>
          </p:sp>
          <p:sp>
            <p:nvSpPr>
              <p:cNvPr id="6" name="Number2" descr="2bda06c6-1c52-4b3a-b9f2-c9f764ece651">
                <a:extLst>
                  <a:ext uri="{FF2B5EF4-FFF2-40B4-BE49-F238E27FC236}">
                    <a16:creationId xmlns:a16="http://schemas.microsoft.com/office/drawing/2014/main" id="{132F3B82-B460-5A31-47FA-B7B50FFC89A1}"/>
                  </a:ext>
                </a:extLst>
              </p:cNvPr>
              <p:cNvSpPr>
                <a:spLocks/>
              </p:cNvSpPr>
              <p:nvPr/>
            </p:nvSpPr>
            <p:spPr>
              <a:xfrm>
                <a:off x="3403298" y="2454892"/>
                <a:ext cx="445108" cy="4446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b="1" i="0" u="none">
                    <a:solidFill>
                      <a:srgbClr val="FFFFFF"/>
                    </a:solidFill>
                    <a:latin typeface="Arial"/>
                  </a:rPr>
                  <a:t>2</a:t>
                </a:r>
              </a:p>
            </p:txBody>
          </p:sp>
        </p:grpSp>
        <p:grpSp>
          <p:nvGrpSpPr>
            <p:cNvPr id="13" name="组合 12" descr="6011ee3e-888e-46b8-9447-ef06dc10c8bd">
              <a:extLst>
                <a:ext uri="{FF2B5EF4-FFF2-40B4-BE49-F238E27FC236}">
                  <a16:creationId xmlns:a16="http://schemas.microsoft.com/office/drawing/2014/main" id="{409A7A21-B6C4-067A-6D54-B754D691A572}"/>
                </a:ext>
              </a:extLst>
            </p:cNvPr>
            <p:cNvGrpSpPr/>
            <p:nvPr/>
          </p:nvGrpSpPr>
          <p:grpSpPr>
            <a:xfrm>
              <a:off x="3403298" y="4551804"/>
              <a:ext cx="8115602" cy="1582296"/>
              <a:chOff x="3403298" y="3726303"/>
              <a:chExt cx="8115602" cy="1582296"/>
            </a:xfrm>
          </p:grpSpPr>
          <p:sp>
            <p:nvSpPr>
              <p:cNvPr id="24" name="Text3" descr="e6359e6c-b062-4f56-bc5a-6157a42b03b2">
                <a:extLst>
                  <a:ext uri="{FF2B5EF4-FFF2-40B4-BE49-F238E27FC236}">
                    <a16:creationId xmlns:a16="http://schemas.microsoft.com/office/drawing/2014/main" id="{2E0AE698-B52C-2041-5467-86F227371E3C}"/>
                  </a:ext>
                </a:extLst>
              </p:cNvPr>
              <p:cNvSpPr txBox="1">
                <a:spLocks/>
              </p:cNvSpPr>
              <p:nvPr/>
            </p:nvSpPr>
            <p:spPr>
              <a:xfrm>
                <a:off x="3890498" y="4170918"/>
                <a:ext cx="7628401" cy="1137681"/>
              </a:xfrm>
              <a:prstGeom prst="rect">
                <a:avLst/>
              </a:prstGeom>
              <a:noFill/>
            </p:spPr>
            <p:txBody>
              <a:bodyPr wrap="square" rtlCol="0" anchor="t" anchorCtr="0">
                <a:normAutofit/>
              </a:bodyPr>
              <a:lstStyle>
                <a:defPPr>
                  <a:defRPr lang="zh-CN"/>
                </a:defPPr>
                <a:lvl1pPr marL="0" algn="l" defTabSz="914400" rtl="0" eaLnBrk="1" latinLnBrk="0" hangingPunct="1">
                  <a:lnSpc>
                    <a:spcPct val="150000"/>
                  </a:lnSpc>
                  <a:defRPr kumimoji="0" sz="1050" i="0" u="none" strike="noStrike" kern="1200" cap="none" spc="0" normalizeH="0" baseline="0">
                    <a:ln>
                      <a:noFill/>
                    </a:ln>
                    <a:solidFill>
                      <a:schemeClr val="tx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FFFFFF"/>
                    </a:solidFill>
                    <a:ea typeface="微软雅黑"/>
                  </a:rPr>
                  <a:t>研究轻量级ECC算法，涉及ECC与轻量级密码学的关系、ECC的优势、应用场景、有限域与曲线参数选择、标量乘与Montgomery Ladder原理、ECDH实现与实验结果以及问题分析与改进方向等。</a:t>
                </a:r>
              </a:p>
            </p:txBody>
          </p:sp>
          <p:sp>
            <p:nvSpPr>
              <p:cNvPr id="25" name="Bullet3" descr="7db39d2b-b656-43fb-b6af-c0596dca7ec6">
                <a:extLst>
                  <a:ext uri="{FF2B5EF4-FFF2-40B4-BE49-F238E27FC236}">
                    <a16:creationId xmlns:a16="http://schemas.microsoft.com/office/drawing/2014/main" id="{292E9BD9-DAFA-AE67-5066-C91FA7B8ABE2}"/>
                  </a:ext>
                </a:extLst>
              </p:cNvPr>
              <p:cNvSpPr txBox="1">
                <a:spLocks/>
              </p:cNvSpPr>
              <p:nvPr/>
            </p:nvSpPr>
            <p:spPr>
              <a:xfrm>
                <a:off x="3890499" y="3726303"/>
                <a:ext cx="7628401" cy="444616"/>
              </a:xfrm>
              <a:prstGeom prst="rect">
                <a:avLst/>
              </a:prstGeom>
              <a:noFill/>
            </p:spPr>
            <p:txBody>
              <a:bodyPr wrap="square" rtlCol="0" anchor="ctr" anchorCtr="0">
                <a:normAutofit/>
              </a:bodyPr>
              <a:lstStyle>
                <a:defPPr>
                  <a:defRPr lang="zh-CN"/>
                </a:defPPr>
                <a:lvl1pPr marL="0" algn="l" defTabSz="914400" rtl="0" eaLnBrk="1" latinLnBrk="0" hangingPunct="1">
                  <a:defRPr kumimoji="0" sz="1400" b="1" i="0" u="none" strike="noStrike" kern="1200" cap="none" spc="0" normalizeH="0" baseline="0">
                    <a:ln>
                      <a:noFill/>
                    </a:ln>
                    <a:solidFill>
                      <a:schemeClr val="accent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FFFFFF"/>
                    </a:solidFill>
                    <a:ea typeface="微软雅黑"/>
                  </a:rPr>
                  <a:t>第三部分</a:t>
                </a:r>
              </a:p>
            </p:txBody>
          </p:sp>
          <p:sp>
            <p:nvSpPr>
              <p:cNvPr id="22" name="Number3" descr="0121bb36-b017-480d-ab30-f1b61221fba3">
                <a:extLst>
                  <a:ext uri="{FF2B5EF4-FFF2-40B4-BE49-F238E27FC236}">
                    <a16:creationId xmlns:a16="http://schemas.microsoft.com/office/drawing/2014/main" id="{77D6366D-9794-C513-D7CA-5E743D3E4650}"/>
                  </a:ext>
                </a:extLst>
              </p:cNvPr>
              <p:cNvSpPr>
                <a:spLocks/>
              </p:cNvSpPr>
              <p:nvPr/>
            </p:nvSpPr>
            <p:spPr>
              <a:xfrm>
                <a:off x="3403298" y="3726303"/>
                <a:ext cx="445108" cy="4446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b="1" i="0" u="none">
                    <a:solidFill>
                      <a:srgbClr val="FFFFFF"/>
                    </a:solidFill>
                    <a:latin typeface="Arial"/>
                  </a:rPr>
                  <a:t>3</a:t>
                </a:r>
              </a:p>
            </p:txBody>
          </p:sp>
        </p:grpSp>
      </p:grpSp>
      <p:sp>
        <p:nvSpPr>
          <p:cNvPr id="2" name="标题 1"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a:solidFill>
                  <a:srgbClr val="FFFFFF"/>
                </a:solidFill>
                <a:ea typeface="微软雅黑"/>
              </a:rPr>
              <a:t>展示内容框架</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descr="a901c192-3a89-4011-a292-a0c08f010ed4"/>
          <p:cNvSpPr>
            <a:spLocks noGrp="1"/>
          </p:cNvSpPr>
          <p:nvPr>
            <p:ph type="title" hasCustomPrompt="1"/>
          </p:nvPr>
        </p:nvSpPr>
        <p:spPr/>
        <p:txBody>
          <a:bodyPr anchorCtr="0"/>
          <a:lstStyle/>
          <a:p>
            <a:pPr algn="l">
              <a:lnSpc>
                <a:spcPct val="100000"/>
              </a:lnSpc>
              <a:spcBef>
                <a:spcPct val="0"/>
              </a:spcBef>
            </a:pPr>
            <a:r>
              <a:rPr lang="en-US" sz="4400" b="1" i="0" u="none">
                <a:solidFill>
                  <a:srgbClr val="FFFFFF"/>
                </a:solidFill>
                <a:ea typeface="微软雅黑"/>
              </a:rPr>
              <a:t>实验与实现环境</a:t>
            </a:r>
          </a:p>
        </p:txBody>
      </p:sp>
      <p:sp>
        <p:nvSpPr>
          <p:cNvPr id="25" name="文本占位符 24" descr="8f57161b-2598-43a7-b514-2ed0f586aeee"/>
          <p:cNvSpPr>
            <a:spLocks noGrp="1"/>
          </p:cNvSpPr>
          <p:nvPr>
            <p:ph type="body" sz="quarter" idx="1" hasCustomPrompt="1"/>
          </p:nvPr>
        </p:nvSpPr>
        <p:spPr/>
        <p:txBody>
          <a:bodyPr anchorCtr="0"/>
          <a:lstStyle/>
          <a:p>
            <a:pPr algn="l">
              <a:lnSpc>
                <a:spcPct val="120000"/>
              </a:lnSpc>
              <a:spcBef>
                <a:spcPts val="1000"/>
              </a:spcBef>
            </a:pPr>
            <a:r>
              <a:rPr lang="en-US" sz="1600" b="0" i="0" u="none">
                <a:solidFill>
                  <a:srgbClr val="FFFFFF"/>
                </a:solidFill>
                <a:ea typeface="微软雅黑"/>
              </a:rPr>
              <a:t>说明编程语言、编译环境、运行平台以及实现方式</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6f6ea536-f6d2-4ea0-b6cb-6d4a02692622.source.4.zh-Hans.pptx" descr="1f332f0c-32bf-4f71-bc2f-cff7803e91d0">
            <a:extLst>
              <a:ext uri="{FF2B5EF4-FFF2-40B4-BE49-F238E27FC236}">
                <a16:creationId xmlns:a16="http://schemas.microsoft.com/office/drawing/2014/main" id="{EC9F6911-075A-F072-44ED-088D410C6451}"/>
              </a:ext>
            </a:extLst>
          </p:cNvPr>
          <p:cNvGrpSpPr/>
          <p:nvPr/>
        </p:nvGrpSpPr>
        <p:grpSpPr>
          <a:xfrm>
            <a:off x="137971" y="681288"/>
            <a:ext cx="11691872" cy="5495423"/>
            <a:chOff x="236825" y="662434"/>
            <a:chExt cx="11691872" cy="5495423"/>
          </a:xfrm>
        </p:grpSpPr>
        <p:sp>
          <p:nvSpPr>
            <p:cNvPr id="49" name="Title" descr="72eea89f-933b-4750-bca9-dc9cd2ae02ea">
              <a:extLst>
                <a:ext uri="{FF2B5EF4-FFF2-40B4-BE49-F238E27FC236}">
                  <a16:creationId xmlns:a16="http://schemas.microsoft.com/office/drawing/2014/main" id="{DE44F044-FAAA-54E1-042F-4BA16DFA9560}"/>
                </a:ext>
              </a:extLst>
            </p:cNvPr>
            <p:cNvSpPr>
              <a:spLocks noChangeAspect="1"/>
            </p:cNvSpPr>
            <p:nvPr/>
          </p:nvSpPr>
          <p:spPr>
            <a:xfrm>
              <a:off x="660399" y="1130301"/>
              <a:ext cx="10858500" cy="9102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gn="ctr"/>
              <a:endParaRPr/>
            </a:p>
          </p:txBody>
        </p:sp>
        <p:grpSp>
          <p:nvGrpSpPr>
            <p:cNvPr id="29" name="图形 24" descr="b3137cab-996b-4dd4-a0ca-77581b201f47">
              <a:extLst>
                <a:ext uri="{FF2B5EF4-FFF2-40B4-BE49-F238E27FC236}">
                  <a16:creationId xmlns:a16="http://schemas.microsoft.com/office/drawing/2014/main" id="{07EE57BC-0CBA-C1B8-B0F3-9C54F3277DD2}"/>
                </a:ext>
              </a:extLst>
            </p:cNvPr>
            <p:cNvGrpSpPr/>
            <p:nvPr/>
          </p:nvGrpSpPr>
          <p:grpSpPr>
            <a:xfrm>
              <a:off x="236825" y="662434"/>
              <a:ext cx="11691872" cy="5495423"/>
              <a:chOff x="4927589" y="3069972"/>
              <a:chExt cx="2333818" cy="713822"/>
            </a:xfrm>
          </p:grpSpPr>
          <p:sp>
            <p:nvSpPr>
              <p:cNvPr id="30" name="任意多边形: 形状 29" descr="edeba0fa-ae91-46fd-811b-a683c9dc04ae">
                <a:extLst>
                  <a:ext uri="{FF2B5EF4-FFF2-40B4-BE49-F238E27FC236}">
                    <a16:creationId xmlns:a16="http://schemas.microsoft.com/office/drawing/2014/main" id="{9C8F8B49-FD3B-5CCC-97BD-080043DF30F5}"/>
                  </a:ext>
                </a:extLst>
              </p:cNvPr>
              <p:cNvSpPr/>
              <p:nvPr/>
            </p:nvSpPr>
            <p:spPr>
              <a:xfrm>
                <a:off x="4933759" y="3075146"/>
                <a:ext cx="2318670" cy="705230"/>
              </a:xfrm>
              <a:custGeom>
                <a:avLst/>
                <a:gdLst>
                  <a:gd name="connsiteX0" fmla="*/ 62389 w 2318670"/>
                  <a:gd name="connsiteY0" fmla="*/ 705231 h 705230"/>
                  <a:gd name="connsiteX1" fmla="*/ 62389 w 2318670"/>
                  <a:gd name="connsiteY1" fmla="*/ 284702 h 705230"/>
                  <a:gd name="connsiteX2" fmla="*/ 0 w 2318670"/>
                  <a:gd name="connsiteY2" fmla="*/ 218218 h 705230"/>
                  <a:gd name="connsiteX3" fmla="*/ 0 w 2318670"/>
                  <a:gd name="connsiteY3" fmla="*/ 0 h 705230"/>
                  <a:gd name="connsiteX4" fmla="*/ 2318671 w 2318670"/>
                  <a:gd name="connsiteY4" fmla="*/ 0 h 705230"/>
                  <a:gd name="connsiteX5" fmla="*/ 2318671 w 2318670"/>
                  <a:gd name="connsiteY5" fmla="*/ 694563 h 705230"/>
                  <a:gd name="connsiteX6" fmla="*/ 1919383 w 2318670"/>
                  <a:gd name="connsiteY6" fmla="*/ 694563 h 705230"/>
                  <a:gd name="connsiteX7" fmla="*/ 1837944 w 2318670"/>
                  <a:gd name="connsiteY7" fmla="*/ 613124 h 705230"/>
                  <a:gd name="connsiteX8" fmla="*/ 1596104 w 2318670"/>
                  <a:gd name="connsiteY8" fmla="*/ 613124 h 705230"/>
                  <a:gd name="connsiteX9" fmla="*/ 1490377 w 2318670"/>
                  <a:gd name="connsiteY9" fmla="*/ 699802 h 705230"/>
                  <a:gd name="connsiteX10" fmla="*/ 425482 w 2318670"/>
                  <a:gd name="connsiteY10" fmla="*/ 699802 h 705230"/>
                  <a:gd name="connsiteX11" fmla="*/ 393764 w 2318670"/>
                  <a:gd name="connsiteY11" fmla="*/ 668084 h 705230"/>
                  <a:gd name="connsiteX12" fmla="*/ 308610 w 2318670"/>
                  <a:gd name="connsiteY12" fmla="*/ 668084 h 705230"/>
                  <a:gd name="connsiteX13" fmla="*/ 271558 w 2318670"/>
                  <a:gd name="connsiteY13" fmla="*/ 705231 h 705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18670" h="705230">
                    <a:moveTo>
                      <a:pt x="62389" y="705231"/>
                    </a:moveTo>
                    <a:lnTo>
                      <a:pt x="62389" y="284702"/>
                    </a:lnTo>
                    <a:lnTo>
                      <a:pt x="0" y="218218"/>
                    </a:lnTo>
                    <a:lnTo>
                      <a:pt x="0" y="0"/>
                    </a:lnTo>
                    <a:lnTo>
                      <a:pt x="2318671" y="0"/>
                    </a:lnTo>
                    <a:lnTo>
                      <a:pt x="2318671" y="694563"/>
                    </a:lnTo>
                    <a:lnTo>
                      <a:pt x="1919383" y="694563"/>
                    </a:lnTo>
                    <a:lnTo>
                      <a:pt x="1837944" y="613124"/>
                    </a:lnTo>
                    <a:lnTo>
                      <a:pt x="1596104" y="613124"/>
                    </a:lnTo>
                    <a:lnTo>
                      <a:pt x="1490377" y="699802"/>
                    </a:lnTo>
                    <a:lnTo>
                      <a:pt x="425482" y="699802"/>
                    </a:lnTo>
                    <a:lnTo>
                      <a:pt x="393764" y="668084"/>
                    </a:lnTo>
                    <a:lnTo>
                      <a:pt x="308610" y="668084"/>
                    </a:lnTo>
                    <a:lnTo>
                      <a:pt x="271558" y="705231"/>
                    </a:lnTo>
                    <a:close/>
                  </a:path>
                </a:pathLst>
              </a:custGeom>
              <a:noFill/>
              <a:ln w="6350" cap="rnd">
                <a:gradFill>
                  <a:gsLst>
                    <a:gs pos="0">
                      <a:schemeClr val="accent1">
                        <a:alpha val="51000"/>
                      </a:schemeClr>
                    </a:gs>
                    <a:gs pos="100000">
                      <a:schemeClr val="accent1">
                        <a:lumMod val="50000"/>
                      </a:schemeClr>
                    </a:gs>
                  </a:gsLst>
                  <a:lin ang="16200000" scaled="1"/>
                </a:gradFill>
                <a:prstDash val="solid"/>
                <a:round/>
              </a:ln>
            </p:spPr>
            <p:txBody>
              <a:bodyPr rtlCol="0" anchor="ctr" anchorCtr="0"/>
              <a:lstStyle/>
              <a:p>
                <a:pPr algn="l"/>
                <a:endParaRPr/>
              </a:p>
            </p:txBody>
          </p:sp>
          <p:grpSp>
            <p:nvGrpSpPr>
              <p:cNvPr id="31" name="图形 24" descr="e7af65f4-f122-4337-8d6f-6fd2fa5fc655">
                <a:extLst>
                  <a:ext uri="{FF2B5EF4-FFF2-40B4-BE49-F238E27FC236}">
                    <a16:creationId xmlns:a16="http://schemas.microsoft.com/office/drawing/2014/main" id="{AFF6CA98-7293-FE84-8B3F-8AD50F66CD93}"/>
                  </a:ext>
                </a:extLst>
              </p:cNvPr>
              <p:cNvGrpSpPr/>
              <p:nvPr/>
            </p:nvGrpSpPr>
            <p:grpSpPr>
              <a:xfrm>
                <a:off x="4927589" y="3069972"/>
                <a:ext cx="2333818" cy="47576"/>
                <a:chOff x="4927589" y="3069972"/>
                <a:chExt cx="2333818" cy="47576"/>
              </a:xfrm>
              <a:solidFill>
                <a:srgbClr val="0C3FFF"/>
              </a:solidFill>
            </p:grpSpPr>
            <p:sp>
              <p:nvSpPr>
                <p:cNvPr id="32" name="任意多边形: 形状 31" descr="49505db4-a5b8-421e-b3a0-b45b5dc4443e">
                  <a:extLst>
                    <a:ext uri="{FF2B5EF4-FFF2-40B4-BE49-F238E27FC236}">
                      <a16:creationId xmlns:a16="http://schemas.microsoft.com/office/drawing/2014/main" id="{FBA07306-3C18-49CA-DCB8-42A4D7985EFC}"/>
                    </a:ext>
                  </a:extLst>
                </p:cNvPr>
                <p:cNvSpPr/>
                <p:nvPr/>
              </p:nvSpPr>
              <p:spPr>
                <a:xfrm>
                  <a:off x="4927589" y="3070671"/>
                  <a:ext cx="55803" cy="35795"/>
                </a:xfrm>
                <a:custGeom>
                  <a:avLst/>
                  <a:gdLst>
                    <a:gd name="connsiteX0" fmla="*/ 149828 w 149828"/>
                    <a:gd name="connsiteY0" fmla="*/ 0 h 149828"/>
                    <a:gd name="connsiteX1" fmla="*/ 28956 w 149828"/>
                    <a:gd name="connsiteY1" fmla="*/ 0 h 149828"/>
                    <a:gd name="connsiteX2" fmla="*/ 0 w 149828"/>
                    <a:gd name="connsiteY2" fmla="*/ 0 h 149828"/>
                    <a:gd name="connsiteX3" fmla="*/ 0 w 149828"/>
                    <a:gd name="connsiteY3" fmla="*/ 28956 h 149828"/>
                    <a:gd name="connsiteX4" fmla="*/ 0 w 149828"/>
                    <a:gd name="connsiteY4" fmla="*/ 149828 h 149828"/>
                    <a:gd name="connsiteX5" fmla="*/ 38481 w 149828"/>
                    <a:gd name="connsiteY5" fmla="*/ 149828 h 149828"/>
                    <a:gd name="connsiteX6" fmla="*/ 38481 w 149828"/>
                    <a:gd name="connsiteY6" fmla="*/ 38481 h 149828"/>
                    <a:gd name="connsiteX7" fmla="*/ 149828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0"/>
                      </a:moveTo>
                      <a:lnTo>
                        <a:pt x="28956" y="0"/>
                      </a:lnTo>
                      <a:lnTo>
                        <a:pt x="0" y="0"/>
                      </a:lnTo>
                      <a:lnTo>
                        <a:pt x="0" y="28956"/>
                      </a:lnTo>
                      <a:lnTo>
                        <a:pt x="0" y="149828"/>
                      </a:lnTo>
                      <a:lnTo>
                        <a:pt x="38481" y="149828"/>
                      </a:lnTo>
                      <a:lnTo>
                        <a:pt x="38481" y="38481"/>
                      </a:lnTo>
                      <a:lnTo>
                        <a:pt x="149828" y="38481"/>
                      </a:lnTo>
                      <a:close/>
                    </a:path>
                  </a:pathLst>
                </a:custGeom>
                <a:solidFill>
                  <a:schemeClr val="accent1"/>
                </a:solidFill>
                <a:ln w="9525" cap="flat">
                  <a:noFill/>
                  <a:prstDash val="solid"/>
                  <a:miter/>
                </a:ln>
              </p:spPr>
              <p:txBody>
                <a:bodyPr rtlCol="0" anchor="ctr" anchorCtr="0"/>
                <a:lstStyle/>
                <a:p>
                  <a:pPr algn="l"/>
                  <a:endParaRPr/>
                </a:p>
              </p:txBody>
            </p:sp>
            <p:sp>
              <p:nvSpPr>
                <p:cNvPr id="33" name="任意多边形: 形状 32" descr="ef98fc23-3536-4665-ab6e-d8add6f741ba">
                  <a:extLst>
                    <a:ext uri="{FF2B5EF4-FFF2-40B4-BE49-F238E27FC236}">
                      <a16:creationId xmlns:a16="http://schemas.microsoft.com/office/drawing/2014/main" id="{4991209A-2D5F-D994-0B76-5A5224108C2B}"/>
                    </a:ext>
                  </a:extLst>
                </p:cNvPr>
                <p:cNvSpPr/>
                <p:nvPr/>
              </p:nvSpPr>
              <p:spPr>
                <a:xfrm>
                  <a:off x="7187239" y="3069972"/>
                  <a:ext cx="74168" cy="47576"/>
                </a:xfrm>
                <a:custGeom>
                  <a:avLst/>
                  <a:gdLst>
                    <a:gd name="connsiteX0" fmla="*/ 0 w 149828"/>
                    <a:gd name="connsiteY0" fmla="*/ 0 h 149828"/>
                    <a:gd name="connsiteX1" fmla="*/ 120777 w 149828"/>
                    <a:gd name="connsiteY1" fmla="*/ 0 h 149828"/>
                    <a:gd name="connsiteX2" fmla="*/ 149828 w 149828"/>
                    <a:gd name="connsiteY2" fmla="*/ 0 h 149828"/>
                    <a:gd name="connsiteX3" fmla="*/ 149828 w 149828"/>
                    <a:gd name="connsiteY3" fmla="*/ 28956 h 149828"/>
                    <a:gd name="connsiteX4" fmla="*/ 149828 w 149828"/>
                    <a:gd name="connsiteY4" fmla="*/ 149828 h 149828"/>
                    <a:gd name="connsiteX5" fmla="*/ 111252 w 149828"/>
                    <a:gd name="connsiteY5" fmla="*/ 149828 h 149828"/>
                    <a:gd name="connsiteX6" fmla="*/ 111252 w 149828"/>
                    <a:gd name="connsiteY6" fmla="*/ 38481 h 149828"/>
                    <a:gd name="connsiteX7" fmla="*/ 0 w 149828"/>
                    <a:gd name="connsiteY7" fmla="*/ 38481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0"/>
                      </a:moveTo>
                      <a:lnTo>
                        <a:pt x="120777" y="0"/>
                      </a:lnTo>
                      <a:lnTo>
                        <a:pt x="149828" y="0"/>
                      </a:lnTo>
                      <a:lnTo>
                        <a:pt x="149828" y="28956"/>
                      </a:lnTo>
                      <a:lnTo>
                        <a:pt x="149828" y="149828"/>
                      </a:lnTo>
                      <a:lnTo>
                        <a:pt x="111252" y="149828"/>
                      </a:lnTo>
                      <a:lnTo>
                        <a:pt x="111252" y="38481"/>
                      </a:lnTo>
                      <a:lnTo>
                        <a:pt x="0" y="38481"/>
                      </a:lnTo>
                      <a:close/>
                    </a:path>
                  </a:pathLst>
                </a:custGeom>
                <a:solidFill>
                  <a:schemeClr val="accent1"/>
                </a:solidFill>
                <a:ln w="9525" cap="flat">
                  <a:noFill/>
                  <a:prstDash val="solid"/>
                  <a:miter/>
                </a:ln>
              </p:spPr>
              <p:txBody>
                <a:bodyPr rtlCol="0" anchor="ctr" anchorCtr="0"/>
                <a:lstStyle/>
                <a:p>
                  <a:pPr algn="l"/>
                  <a:endParaRPr/>
                </a:p>
              </p:txBody>
            </p:sp>
          </p:grpSp>
          <p:grpSp>
            <p:nvGrpSpPr>
              <p:cNvPr id="34" name="图形 24" descr="53015db2-4998-4b36-a181-56fa7881cc53">
                <a:extLst>
                  <a:ext uri="{FF2B5EF4-FFF2-40B4-BE49-F238E27FC236}">
                    <a16:creationId xmlns:a16="http://schemas.microsoft.com/office/drawing/2014/main" id="{913D47C6-7849-06AE-9DF5-9A69CA6C558C}"/>
                  </a:ext>
                </a:extLst>
              </p:cNvPr>
              <p:cNvGrpSpPr/>
              <p:nvPr/>
            </p:nvGrpSpPr>
            <p:grpSpPr>
              <a:xfrm>
                <a:off x="4989096" y="3732662"/>
                <a:ext cx="2271427" cy="51132"/>
                <a:chOff x="4989096" y="3732662"/>
                <a:chExt cx="2271427" cy="51132"/>
              </a:xfrm>
              <a:solidFill>
                <a:srgbClr val="0C3FFF"/>
              </a:solidFill>
            </p:grpSpPr>
            <p:sp>
              <p:nvSpPr>
                <p:cNvPr id="35" name="任意多边形: 形状 34" descr="69708ec7-8d50-40d3-8232-d889038000cd">
                  <a:extLst>
                    <a:ext uri="{FF2B5EF4-FFF2-40B4-BE49-F238E27FC236}">
                      <a16:creationId xmlns:a16="http://schemas.microsoft.com/office/drawing/2014/main" id="{D4FBC7D5-67EE-E3CE-4DA9-8F05444AEF22}"/>
                    </a:ext>
                  </a:extLst>
                </p:cNvPr>
                <p:cNvSpPr/>
                <p:nvPr/>
              </p:nvSpPr>
              <p:spPr>
                <a:xfrm>
                  <a:off x="4989096" y="3747999"/>
                  <a:ext cx="60801" cy="35795"/>
                </a:xfrm>
                <a:custGeom>
                  <a:avLst/>
                  <a:gdLst>
                    <a:gd name="connsiteX0" fmla="*/ 149828 w 149828"/>
                    <a:gd name="connsiteY0" fmla="*/ 149828 h 149828"/>
                    <a:gd name="connsiteX1" fmla="*/ 29051 w 149828"/>
                    <a:gd name="connsiteY1" fmla="*/ 149828 h 149828"/>
                    <a:gd name="connsiteX2" fmla="*/ 0 w 149828"/>
                    <a:gd name="connsiteY2" fmla="*/ 149828 h 149828"/>
                    <a:gd name="connsiteX3" fmla="*/ 0 w 149828"/>
                    <a:gd name="connsiteY3" fmla="*/ 120777 h 149828"/>
                    <a:gd name="connsiteX4" fmla="*/ 0 w 149828"/>
                    <a:gd name="connsiteY4" fmla="*/ 0 h 149828"/>
                    <a:gd name="connsiteX5" fmla="*/ 38576 w 149828"/>
                    <a:gd name="connsiteY5" fmla="*/ 0 h 149828"/>
                    <a:gd name="connsiteX6" fmla="*/ 38576 w 149828"/>
                    <a:gd name="connsiteY6" fmla="*/ 111252 h 149828"/>
                    <a:gd name="connsiteX7" fmla="*/ 149828 w 149828"/>
                    <a:gd name="connsiteY7" fmla="*/ 111252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149828" y="149828"/>
                      </a:moveTo>
                      <a:lnTo>
                        <a:pt x="29051" y="149828"/>
                      </a:lnTo>
                      <a:lnTo>
                        <a:pt x="0" y="149828"/>
                      </a:lnTo>
                      <a:lnTo>
                        <a:pt x="0" y="120777"/>
                      </a:lnTo>
                      <a:lnTo>
                        <a:pt x="0" y="0"/>
                      </a:lnTo>
                      <a:lnTo>
                        <a:pt x="38576" y="0"/>
                      </a:lnTo>
                      <a:lnTo>
                        <a:pt x="38576" y="111252"/>
                      </a:lnTo>
                      <a:lnTo>
                        <a:pt x="149828" y="111252"/>
                      </a:lnTo>
                      <a:close/>
                    </a:path>
                  </a:pathLst>
                </a:custGeom>
                <a:solidFill>
                  <a:schemeClr val="accent1"/>
                </a:solidFill>
                <a:ln w="9525" cap="flat">
                  <a:noFill/>
                  <a:prstDash val="solid"/>
                  <a:miter/>
                </a:ln>
              </p:spPr>
              <p:txBody>
                <a:bodyPr rtlCol="0" anchor="ctr" anchorCtr="0"/>
                <a:lstStyle/>
                <a:p>
                  <a:pPr algn="l"/>
                  <a:endParaRPr/>
                </a:p>
              </p:txBody>
            </p:sp>
            <p:sp>
              <p:nvSpPr>
                <p:cNvPr id="36" name="任意多边形: 形状 35" descr="795731a0-a743-491c-a1f7-5ca047cb79dd">
                  <a:extLst>
                    <a:ext uri="{FF2B5EF4-FFF2-40B4-BE49-F238E27FC236}">
                      <a16:creationId xmlns:a16="http://schemas.microsoft.com/office/drawing/2014/main" id="{A76838A9-D803-EE94-6D61-2D1A9CBA6430}"/>
                    </a:ext>
                  </a:extLst>
                </p:cNvPr>
                <p:cNvSpPr/>
                <p:nvPr/>
              </p:nvSpPr>
              <p:spPr>
                <a:xfrm>
                  <a:off x="7187239" y="3732662"/>
                  <a:ext cx="73284" cy="43144"/>
                </a:xfrm>
                <a:custGeom>
                  <a:avLst/>
                  <a:gdLst>
                    <a:gd name="connsiteX0" fmla="*/ 0 w 149828"/>
                    <a:gd name="connsiteY0" fmla="*/ 149828 h 149828"/>
                    <a:gd name="connsiteX1" fmla="*/ 120777 w 149828"/>
                    <a:gd name="connsiteY1" fmla="*/ 149828 h 149828"/>
                    <a:gd name="connsiteX2" fmla="*/ 149828 w 149828"/>
                    <a:gd name="connsiteY2" fmla="*/ 149828 h 149828"/>
                    <a:gd name="connsiteX3" fmla="*/ 149828 w 149828"/>
                    <a:gd name="connsiteY3" fmla="*/ 120872 h 149828"/>
                    <a:gd name="connsiteX4" fmla="*/ 149828 w 149828"/>
                    <a:gd name="connsiteY4" fmla="*/ 0 h 149828"/>
                    <a:gd name="connsiteX5" fmla="*/ 111252 w 149828"/>
                    <a:gd name="connsiteY5" fmla="*/ 0 h 149828"/>
                    <a:gd name="connsiteX6" fmla="*/ 111252 w 149828"/>
                    <a:gd name="connsiteY6" fmla="*/ 111347 h 149828"/>
                    <a:gd name="connsiteX7" fmla="*/ 0 w 149828"/>
                    <a:gd name="connsiteY7" fmla="*/ 111347 h 14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828" h="149828">
                      <a:moveTo>
                        <a:pt x="0" y="149828"/>
                      </a:moveTo>
                      <a:lnTo>
                        <a:pt x="120777" y="149828"/>
                      </a:lnTo>
                      <a:lnTo>
                        <a:pt x="149828" y="149828"/>
                      </a:lnTo>
                      <a:lnTo>
                        <a:pt x="149828" y="120872"/>
                      </a:lnTo>
                      <a:lnTo>
                        <a:pt x="149828" y="0"/>
                      </a:lnTo>
                      <a:lnTo>
                        <a:pt x="111252" y="0"/>
                      </a:lnTo>
                      <a:lnTo>
                        <a:pt x="111252" y="111347"/>
                      </a:lnTo>
                      <a:lnTo>
                        <a:pt x="0" y="111347"/>
                      </a:lnTo>
                      <a:close/>
                    </a:path>
                  </a:pathLst>
                </a:custGeom>
                <a:solidFill>
                  <a:schemeClr val="accent1"/>
                </a:solidFill>
                <a:ln w="9525" cap="flat">
                  <a:noFill/>
                  <a:prstDash val="solid"/>
                  <a:miter/>
                </a:ln>
              </p:spPr>
              <p:txBody>
                <a:bodyPr rtlCol="0" anchor="ctr" anchorCtr="0"/>
                <a:lstStyle/>
                <a:p>
                  <a:pPr algn="l"/>
                  <a:endParaRPr/>
                </a:p>
              </p:txBody>
            </p:sp>
          </p:grpSp>
          <p:sp>
            <p:nvSpPr>
              <p:cNvPr id="37" name="任意多边形: 形状 36" descr="6981b60f-6cc3-4cd6-a058-1800c27364f2">
                <a:extLst>
                  <a:ext uri="{FF2B5EF4-FFF2-40B4-BE49-F238E27FC236}">
                    <a16:creationId xmlns:a16="http://schemas.microsoft.com/office/drawing/2014/main" id="{CDBB5B9D-9E3F-5A40-3487-73A90DCA2876}"/>
                  </a:ext>
                </a:extLst>
              </p:cNvPr>
              <p:cNvSpPr/>
              <p:nvPr/>
            </p:nvSpPr>
            <p:spPr>
              <a:xfrm>
                <a:off x="5956554" y="3772837"/>
                <a:ext cx="373856" cy="5939"/>
              </a:xfrm>
              <a:custGeom>
                <a:avLst/>
                <a:gdLst>
                  <a:gd name="connsiteX0" fmla="*/ 0 w 373856"/>
                  <a:gd name="connsiteY0" fmla="*/ 0 h 46291"/>
                  <a:gd name="connsiteX1" fmla="*/ 373856 w 373856"/>
                  <a:gd name="connsiteY1" fmla="*/ 0 h 46291"/>
                  <a:gd name="connsiteX2" fmla="*/ 373856 w 373856"/>
                  <a:gd name="connsiteY2" fmla="*/ 46291 h 46291"/>
                  <a:gd name="connsiteX3" fmla="*/ 0 w 373856"/>
                  <a:gd name="connsiteY3" fmla="*/ 46291 h 46291"/>
                </a:gdLst>
                <a:ahLst/>
                <a:cxnLst>
                  <a:cxn ang="0">
                    <a:pos x="connsiteX0" y="connsiteY0"/>
                  </a:cxn>
                  <a:cxn ang="0">
                    <a:pos x="connsiteX1" y="connsiteY1"/>
                  </a:cxn>
                  <a:cxn ang="0">
                    <a:pos x="connsiteX2" y="connsiteY2"/>
                  </a:cxn>
                  <a:cxn ang="0">
                    <a:pos x="connsiteX3" y="connsiteY3"/>
                  </a:cxn>
                </a:cxnLst>
                <a:rect l="l" t="t" r="r" b="b"/>
                <a:pathLst>
                  <a:path w="373856" h="46291">
                    <a:moveTo>
                      <a:pt x="0" y="0"/>
                    </a:moveTo>
                    <a:lnTo>
                      <a:pt x="373856" y="0"/>
                    </a:lnTo>
                    <a:lnTo>
                      <a:pt x="373856" y="46291"/>
                    </a:lnTo>
                    <a:lnTo>
                      <a:pt x="0" y="46291"/>
                    </a:lnTo>
                    <a:close/>
                  </a:path>
                </a:pathLst>
              </a:custGeom>
              <a:solidFill>
                <a:schemeClr val="accent1"/>
              </a:solidFill>
              <a:ln w="9525" cap="flat">
                <a:noFill/>
                <a:prstDash val="solid"/>
                <a:miter/>
              </a:ln>
            </p:spPr>
            <p:txBody>
              <a:bodyPr rtlCol="0" anchor="ctr" anchorCtr="0"/>
              <a:lstStyle/>
              <a:p>
                <a:pPr algn="l"/>
                <a:endParaRPr/>
              </a:p>
            </p:txBody>
          </p:sp>
        </p:grpSp>
        <p:grpSp>
          <p:nvGrpSpPr>
            <p:cNvPr id="68" name="组合 67" descr="2c79749c-e03d-4246-89e4-3f72c7e0b6e9">
              <a:extLst>
                <a:ext uri="{FF2B5EF4-FFF2-40B4-BE49-F238E27FC236}">
                  <a16:creationId xmlns:a16="http://schemas.microsoft.com/office/drawing/2014/main" id="{C3A0D284-1C5C-03E0-7F52-F63D1A263B9A}"/>
                </a:ext>
              </a:extLst>
            </p:cNvPr>
            <p:cNvGrpSpPr/>
            <p:nvPr/>
          </p:nvGrpSpPr>
          <p:grpSpPr>
            <a:xfrm>
              <a:off x="715760" y="2151289"/>
              <a:ext cx="2493504" cy="3172799"/>
              <a:chOff x="771119" y="2305293"/>
              <a:chExt cx="2493504" cy="3172799"/>
            </a:xfrm>
          </p:grpSpPr>
          <p:grpSp>
            <p:nvGrpSpPr>
              <p:cNvPr id="8" name="组合 7" descr="4b0dfc2f-6bb0-4ccb-9afb-d217f0f36df0">
                <a:extLst>
                  <a:ext uri="{FF2B5EF4-FFF2-40B4-BE49-F238E27FC236}">
                    <a16:creationId xmlns:a16="http://schemas.microsoft.com/office/drawing/2014/main" id="{FDF2B8DF-F988-5844-D0F5-ADD1A54B503D}"/>
                  </a:ext>
                </a:extLst>
              </p:cNvPr>
              <p:cNvGrpSpPr>
                <a:grpSpLocks noChangeAspect="1"/>
              </p:cNvGrpSpPr>
              <p:nvPr/>
            </p:nvGrpSpPr>
            <p:grpSpPr>
              <a:xfrm>
                <a:off x="771119" y="2305293"/>
                <a:ext cx="2493504" cy="3172799"/>
                <a:chOff x="4389868" y="1751662"/>
                <a:chExt cx="3399560" cy="3728018"/>
              </a:xfrm>
            </p:grpSpPr>
            <p:sp>
              <p:nvSpPr>
                <p:cNvPr id="9" name="矩形: 圆顶角 1" descr="0cb790db-54b5-4995-aa61-7544152817f2">
                  <a:extLst>
                    <a:ext uri="{FF2B5EF4-FFF2-40B4-BE49-F238E27FC236}">
                      <a16:creationId xmlns:a16="http://schemas.microsoft.com/office/drawing/2014/main" id="{58CAFFD5-2E3B-4792-0C85-8B146D263562}"/>
                    </a:ext>
                  </a:extLst>
                </p:cNvPr>
                <p:cNvSpPr>
                  <a:spLocks/>
                </p:cNvSpPr>
                <p:nvPr/>
              </p:nvSpPr>
              <p:spPr>
                <a:xfrm>
                  <a:off x="4389868" y="1751662"/>
                  <a:ext cx="3399560" cy="3728018"/>
                </a:xfrm>
                <a:prstGeom prst="snip1Rect">
                  <a:avLst/>
                </a:prstGeom>
                <a:gradFill flip="none" rotWithShape="1">
                  <a:gsLst>
                    <a:gs pos="0">
                      <a:schemeClr val="accent1">
                        <a:alpha val="0"/>
                      </a:schemeClr>
                    </a:gs>
                    <a:gs pos="100000">
                      <a:schemeClr val="accent1">
                        <a:alpha val="34000"/>
                      </a:schemeClr>
                    </a:gs>
                  </a:gsLst>
                  <a:lin ang="16200000" scaled="1"/>
                  <a:tileRect/>
                </a:gradFill>
                <a:ln>
                  <a:noFill/>
                </a:ln>
                <a:effectLst>
                  <a:outerShdw blurRad="266700" dist="50800" dir="2400000" sx="98000" sy="98000" algn="ctr"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 name="Bullet1" descr="e2ec233f-f988-4be4-98ef-d47ae695682a">
                  <a:extLst>
                    <a:ext uri="{FF2B5EF4-FFF2-40B4-BE49-F238E27FC236}">
                      <a16:creationId xmlns:a16="http://schemas.microsoft.com/office/drawing/2014/main" id="{6D6318CD-58D8-0885-BFD7-DD982DBBB5C9}"/>
                    </a:ext>
                  </a:extLst>
                </p:cNvPr>
                <p:cNvSpPr txBox="1"/>
                <p:nvPr/>
              </p:nvSpPr>
              <p:spPr>
                <a:xfrm>
                  <a:off x="4553745" y="2045991"/>
                  <a:ext cx="3071818" cy="760021"/>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sz="1600" b="1" i="0" u="none" strike="noStrike">
                      <a:solidFill>
                        <a:srgbClr val="FFFFFF"/>
                      </a:solidFill>
                      <a:ea typeface="微软雅黑"/>
                    </a:rPr>
                    <a:t>编程语言</a:t>
                  </a:r>
                </a:p>
              </p:txBody>
            </p:sp>
            <p:sp>
              <p:nvSpPr>
                <p:cNvPr id="11" name="Text1" descr="f8a5c9bb-8496-4627-a7cb-4a1720378ce8">
                  <a:extLst>
                    <a:ext uri="{FF2B5EF4-FFF2-40B4-BE49-F238E27FC236}">
                      <a16:creationId xmlns:a16="http://schemas.microsoft.com/office/drawing/2014/main" id="{792A1BDD-CFEE-DEA4-F2A6-1B1F74C5B993}"/>
                    </a:ext>
                  </a:extLst>
                </p:cNvPr>
                <p:cNvSpPr txBox="1"/>
                <p:nvPr/>
              </p:nvSpPr>
              <p:spPr>
                <a:xfrm>
                  <a:off x="4553745" y="3215266"/>
                  <a:ext cx="3071818" cy="2047356"/>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FFFFFF"/>
                      </a:solidFill>
                      <a:ea typeface="微软雅黑"/>
                    </a:rPr>
                    <a:t>采用C++作为编程语言，其具有高效的性能和丰富的库支持，适合进行复杂的算法实现。</a:t>
                  </a:r>
                </a:p>
              </p:txBody>
            </p:sp>
          </p:grpSp>
          <p:cxnSp>
            <p:nvCxnSpPr>
              <p:cNvPr id="67" name="直接连接符 66" descr="b11ccfe5-1b7e-483f-8590-8d233e55c657">
                <a:extLst>
                  <a:ext uri="{FF2B5EF4-FFF2-40B4-BE49-F238E27FC236}">
                    <a16:creationId xmlns:a16="http://schemas.microsoft.com/office/drawing/2014/main" id="{7DC6FAFB-5952-9944-7B9B-E2CD99D9A9CF}"/>
                  </a:ext>
                </a:extLst>
              </p:cNvPr>
              <p:cNvCxnSpPr/>
              <p:nvPr/>
            </p:nvCxnSpPr>
            <p:spPr>
              <a:xfrm>
                <a:off x="901700" y="3365500"/>
                <a:ext cx="2237317"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93" name="组合 92" descr="533400ef-554e-4af8-aa0d-33a75372aa25">
              <a:extLst>
                <a:ext uri="{FF2B5EF4-FFF2-40B4-BE49-F238E27FC236}">
                  <a16:creationId xmlns:a16="http://schemas.microsoft.com/office/drawing/2014/main" id="{2A3FF2D1-0A2F-7DD9-0AC8-D08DF69F3A38}"/>
                </a:ext>
              </a:extLst>
            </p:cNvPr>
            <p:cNvGrpSpPr/>
            <p:nvPr/>
          </p:nvGrpSpPr>
          <p:grpSpPr>
            <a:xfrm>
              <a:off x="4227125" y="2151288"/>
              <a:ext cx="2493504" cy="3172799"/>
              <a:chOff x="1531059" y="2305292"/>
              <a:chExt cx="2493504" cy="3172799"/>
            </a:xfrm>
          </p:grpSpPr>
          <p:grpSp>
            <p:nvGrpSpPr>
              <p:cNvPr id="94" name="组合 93" descr="d512d14f-ad82-447d-be02-7227729c9606">
                <a:extLst>
                  <a:ext uri="{FF2B5EF4-FFF2-40B4-BE49-F238E27FC236}">
                    <a16:creationId xmlns:a16="http://schemas.microsoft.com/office/drawing/2014/main" id="{4B0FA8F2-C1A6-E2ED-EC08-689FC072E752}"/>
                  </a:ext>
                </a:extLst>
              </p:cNvPr>
              <p:cNvGrpSpPr>
                <a:grpSpLocks noChangeAspect="1"/>
              </p:cNvGrpSpPr>
              <p:nvPr/>
            </p:nvGrpSpPr>
            <p:grpSpPr>
              <a:xfrm>
                <a:off x="1531059" y="2305292"/>
                <a:ext cx="2493504" cy="3172799"/>
                <a:chOff x="5425945" y="1751661"/>
                <a:chExt cx="3399560" cy="3728018"/>
              </a:xfrm>
            </p:grpSpPr>
            <p:sp>
              <p:nvSpPr>
                <p:cNvPr id="96" name="矩形: 圆顶角 1" descr="471e3b91-9cd1-4fbf-a4e2-6d70d1154307">
                  <a:extLst>
                    <a:ext uri="{FF2B5EF4-FFF2-40B4-BE49-F238E27FC236}">
                      <a16:creationId xmlns:a16="http://schemas.microsoft.com/office/drawing/2014/main" id="{1EA046A1-4B9B-D1C6-BEF1-D8CE1499C7A1}"/>
                    </a:ext>
                  </a:extLst>
                </p:cNvPr>
                <p:cNvSpPr>
                  <a:spLocks/>
                </p:cNvSpPr>
                <p:nvPr/>
              </p:nvSpPr>
              <p:spPr>
                <a:xfrm>
                  <a:off x="5425945" y="1751661"/>
                  <a:ext cx="3399560" cy="3728018"/>
                </a:xfrm>
                <a:prstGeom prst="snip1Rect">
                  <a:avLst/>
                </a:prstGeom>
                <a:gradFill flip="none" rotWithShape="1">
                  <a:gsLst>
                    <a:gs pos="0">
                      <a:schemeClr val="accent1">
                        <a:alpha val="0"/>
                      </a:schemeClr>
                    </a:gs>
                    <a:gs pos="100000">
                      <a:schemeClr val="accent1">
                        <a:alpha val="34000"/>
                      </a:schemeClr>
                    </a:gs>
                  </a:gsLst>
                  <a:lin ang="16200000" scaled="1"/>
                  <a:tileRect/>
                </a:gradFill>
                <a:ln>
                  <a:noFill/>
                </a:ln>
                <a:effectLst>
                  <a:outerShdw blurRad="266700" dist="50800" dir="2400000" sx="98000" sy="98000" algn="ctr"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dirty="0"/>
                </a:p>
              </p:txBody>
            </p:sp>
            <p:sp>
              <p:nvSpPr>
                <p:cNvPr id="97" name="Bullet2" descr="d83630bc-021e-4804-bc1e-de840d14b63f">
                  <a:extLst>
                    <a:ext uri="{FF2B5EF4-FFF2-40B4-BE49-F238E27FC236}">
                      <a16:creationId xmlns:a16="http://schemas.microsoft.com/office/drawing/2014/main" id="{63D86953-4B87-29FC-7B73-77914BB68F59}"/>
                    </a:ext>
                  </a:extLst>
                </p:cNvPr>
                <p:cNvSpPr txBox="1"/>
                <p:nvPr/>
              </p:nvSpPr>
              <p:spPr>
                <a:xfrm>
                  <a:off x="5589816" y="2038398"/>
                  <a:ext cx="3071817" cy="760021"/>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sz="1600" b="1" i="0" u="none" strike="noStrike" dirty="0" err="1">
                      <a:solidFill>
                        <a:srgbClr val="FFFFFF"/>
                      </a:solidFill>
                      <a:ea typeface="微软雅黑"/>
                    </a:rPr>
                    <a:t>编译环境</a:t>
                  </a:r>
                  <a:endParaRPr lang="en-US" sz="1600" b="1" i="0" u="none" strike="noStrike" dirty="0">
                    <a:solidFill>
                      <a:srgbClr val="FFFFFF"/>
                    </a:solidFill>
                    <a:ea typeface="微软雅黑"/>
                  </a:endParaRPr>
                </a:p>
              </p:txBody>
            </p:sp>
            <p:sp>
              <p:nvSpPr>
                <p:cNvPr id="98" name="Text2" descr="86fa2200-b7ec-45e6-b31a-f0995e035489">
                  <a:extLst>
                    <a:ext uri="{FF2B5EF4-FFF2-40B4-BE49-F238E27FC236}">
                      <a16:creationId xmlns:a16="http://schemas.microsoft.com/office/drawing/2014/main" id="{AAB78013-28EF-D181-2818-2A0A698EE355}"/>
                    </a:ext>
                  </a:extLst>
                </p:cNvPr>
                <p:cNvSpPr txBox="1"/>
                <p:nvPr/>
              </p:nvSpPr>
              <p:spPr>
                <a:xfrm>
                  <a:off x="5568282" y="3265805"/>
                  <a:ext cx="3071817" cy="2047356"/>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dirty="0" err="1">
                      <a:solidFill>
                        <a:srgbClr val="FFFFFF"/>
                      </a:solidFill>
                      <a:ea typeface="微软雅黑"/>
                    </a:rPr>
                    <a:t>使用特定的编译环境，以确保代码的正确编译和高效运行</a:t>
                  </a:r>
                  <a:r>
                    <a:rPr lang="en-US" sz="1200" b="0" i="0" u="none" strike="noStrike" dirty="0">
                      <a:solidFill>
                        <a:srgbClr val="FFFFFF"/>
                      </a:solidFill>
                      <a:ea typeface="微软雅黑"/>
                    </a:rPr>
                    <a:t>。</a:t>
                  </a:r>
                </a:p>
              </p:txBody>
            </p:sp>
          </p:grpSp>
          <p:cxnSp>
            <p:nvCxnSpPr>
              <p:cNvPr id="95" name="直接连接符 94" descr="78f75d4a-732c-4327-a151-c3794dd122e0">
                <a:extLst>
                  <a:ext uri="{FF2B5EF4-FFF2-40B4-BE49-F238E27FC236}">
                    <a16:creationId xmlns:a16="http://schemas.microsoft.com/office/drawing/2014/main" id="{AFD342F2-5EDC-80EE-85C7-060D30AACECF}"/>
                  </a:ext>
                </a:extLst>
              </p:cNvPr>
              <p:cNvCxnSpPr/>
              <p:nvPr/>
            </p:nvCxnSpPr>
            <p:spPr>
              <a:xfrm>
                <a:off x="1651255" y="3376915"/>
                <a:ext cx="2237317"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99" name="组合 98" descr="04324ebc-19cc-4299-9abe-4d49fdee2a94">
              <a:extLst>
                <a:ext uri="{FF2B5EF4-FFF2-40B4-BE49-F238E27FC236}">
                  <a16:creationId xmlns:a16="http://schemas.microsoft.com/office/drawing/2014/main" id="{99AEB1B7-E94D-FBF8-6844-B6FFE6139B43}"/>
                </a:ext>
              </a:extLst>
            </p:cNvPr>
            <p:cNvGrpSpPr/>
            <p:nvPr/>
          </p:nvGrpSpPr>
          <p:grpSpPr>
            <a:xfrm>
              <a:off x="8287546" y="2151287"/>
              <a:ext cx="2538481" cy="3172799"/>
              <a:chOff x="2840055" y="2305291"/>
              <a:chExt cx="2538481" cy="3172799"/>
            </a:xfrm>
          </p:grpSpPr>
          <p:grpSp>
            <p:nvGrpSpPr>
              <p:cNvPr id="100" name="组合 99" descr="1a03ab90-9e1a-443b-8485-2ac04c1b9407">
                <a:extLst>
                  <a:ext uri="{FF2B5EF4-FFF2-40B4-BE49-F238E27FC236}">
                    <a16:creationId xmlns:a16="http://schemas.microsoft.com/office/drawing/2014/main" id="{7D902118-49BC-72F2-8335-D146C241E6F9}"/>
                  </a:ext>
                </a:extLst>
              </p:cNvPr>
              <p:cNvGrpSpPr>
                <a:grpSpLocks noChangeAspect="1"/>
              </p:cNvGrpSpPr>
              <p:nvPr/>
            </p:nvGrpSpPr>
            <p:grpSpPr>
              <a:xfrm>
                <a:off x="2840055" y="2305291"/>
                <a:ext cx="2538481" cy="3172799"/>
                <a:chOff x="7210587" y="1751660"/>
                <a:chExt cx="3460880" cy="3728018"/>
              </a:xfrm>
            </p:grpSpPr>
            <p:sp>
              <p:nvSpPr>
                <p:cNvPr id="102" name="矩形: 圆顶角 1" descr="a65c83de-f45a-495b-8a32-3db7a9d0a516">
                  <a:extLst>
                    <a:ext uri="{FF2B5EF4-FFF2-40B4-BE49-F238E27FC236}">
                      <a16:creationId xmlns:a16="http://schemas.microsoft.com/office/drawing/2014/main" id="{EA4399BD-C177-27D9-790B-0D864F9E7067}"/>
                    </a:ext>
                  </a:extLst>
                </p:cNvPr>
                <p:cNvSpPr>
                  <a:spLocks/>
                </p:cNvSpPr>
                <p:nvPr/>
              </p:nvSpPr>
              <p:spPr>
                <a:xfrm>
                  <a:off x="7271907" y="1751660"/>
                  <a:ext cx="3399560" cy="3728018"/>
                </a:xfrm>
                <a:prstGeom prst="snip1Rect">
                  <a:avLst/>
                </a:prstGeom>
                <a:gradFill flip="none" rotWithShape="1">
                  <a:gsLst>
                    <a:gs pos="0">
                      <a:schemeClr val="accent1">
                        <a:alpha val="0"/>
                      </a:schemeClr>
                    </a:gs>
                    <a:gs pos="100000">
                      <a:schemeClr val="accent1">
                        <a:alpha val="34000"/>
                      </a:schemeClr>
                    </a:gs>
                  </a:gsLst>
                  <a:lin ang="16200000" scaled="1"/>
                  <a:tileRect/>
                </a:gradFill>
                <a:ln>
                  <a:noFill/>
                </a:ln>
                <a:effectLst>
                  <a:outerShdw blurRad="266700" dist="50800" dir="2400000" sx="98000" sy="98000" algn="ctr"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3" name="Bullet3" descr="d9d64375-e8a9-4da3-8864-69a39aa7d8e2">
                  <a:extLst>
                    <a:ext uri="{FF2B5EF4-FFF2-40B4-BE49-F238E27FC236}">
                      <a16:creationId xmlns:a16="http://schemas.microsoft.com/office/drawing/2014/main" id="{5C9E5A82-5539-A323-02EC-7B2C9A020485}"/>
                    </a:ext>
                  </a:extLst>
                </p:cNvPr>
                <p:cNvSpPr txBox="1"/>
                <p:nvPr/>
              </p:nvSpPr>
              <p:spPr>
                <a:xfrm>
                  <a:off x="7210587" y="2004186"/>
                  <a:ext cx="3071818" cy="760021"/>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sz="1600" b="1" i="0" u="none" strike="noStrike" dirty="0" err="1">
                      <a:solidFill>
                        <a:srgbClr val="FFFFFF"/>
                      </a:solidFill>
                      <a:ea typeface="微软雅黑"/>
                    </a:rPr>
                    <a:t>运行平台</a:t>
                  </a:r>
                  <a:endParaRPr lang="en-US" sz="1600" b="1" i="0" u="none" strike="noStrike" dirty="0">
                    <a:solidFill>
                      <a:srgbClr val="FFFFFF"/>
                    </a:solidFill>
                    <a:ea typeface="微软雅黑"/>
                  </a:endParaRPr>
                </a:p>
              </p:txBody>
            </p:sp>
            <p:sp>
              <p:nvSpPr>
                <p:cNvPr id="104" name="Text3" descr="5c78ce96-c41e-4252-b045-4e3b2b4d13aa">
                  <a:extLst>
                    <a:ext uri="{FF2B5EF4-FFF2-40B4-BE49-F238E27FC236}">
                      <a16:creationId xmlns:a16="http://schemas.microsoft.com/office/drawing/2014/main" id="{FDAE0712-ECE9-F2AF-E0D4-BC7F6409DB9E}"/>
                    </a:ext>
                  </a:extLst>
                </p:cNvPr>
                <p:cNvSpPr txBox="1"/>
                <p:nvPr/>
              </p:nvSpPr>
              <p:spPr>
                <a:xfrm>
                  <a:off x="7370543" y="3228760"/>
                  <a:ext cx="3071818" cy="2047356"/>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dirty="0" err="1">
                      <a:solidFill>
                        <a:srgbClr val="FFFFFF"/>
                      </a:solidFill>
                      <a:ea typeface="微软雅黑"/>
                    </a:rPr>
                    <a:t>在Windows或Linux平台上进行运行，以适应不同的操作系统环境</a:t>
                  </a:r>
                  <a:r>
                    <a:rPr lang="en-US" sz="1200" b="0" i="0" u="none" strike="noStrike" dirty="0">
                      <a:solidFill>
                        <a:srgbClr val="FFFFFF"/>
                      </a:solidFill>
                      <a:ea typeface="微软雅黑"/>
                    </a:rPr>
                    <a:t>。</a:t>
                  </a:r>
                </a:p>
              </p:txBody>
            </p:sp>
          </p:grpSp>
          <p:cxnSp>
            <p:nvCxnSpPr>
              <p:cNvPr id="101" name="直接连接符 100" descr="03c054d6-0694-4ce3-9897-d21e209dcca0">
                <a:extLst>
                  <a:ext uri="{FF2B5EF4-FFF2-40B4-BE49-F238E27FC236}">
                    <a16:creationId xmlns:a16="http://schemas.microsoft.com/office/drawing/2014/main" id="{76A7396F-7F25-767D-3B19-CECF3B71A775}"/>
                  </a:ext>
                </a:extLst>
              </p:cNvPr>
              <p:cNvCxnSpPr/>
              <p:nvPr/>
            </p:nvCxnSpPr>
            <p:spPr>
              <a:xfrm>
                <a:off x="2965278" y="3339845"/>
                <a:ext cx="2237317"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a:solidFill>
                  <a:srgbClr val="FFFFFF"/>
                </a:solidFill>
                <a:ea typeface="微软雅黑"/>
              </a:rPr>
              <a:t>实验环境详情</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descr="a901c192-3a89-4011-a292-a0c08f010ed4"/>
          <p:cNvSpPr>
            <a:spLocks noGrp="1"/>
          </p:cNvSpPr>
          <p:nvPr>
            <p:ph type="title" hasCustomPrompt="1"/>
          </p:nvPr>
        </p:nvSpPr>
        <p:spPr/>
        <p:txBody>
          <a:bodyPr anchorCtr="0"/>
          <a:lstStyle/>
          <a:p>
            <a:pPr algn="l">
              <a:lnSpc>
                <a:spcPct val="100000"/>
              </a:lnSpc>
              <a:spcBef>
                <a:spcPct val="0"/>
              </a:spcBef>
            </a:pPr>
            <a:r>
              <a:rPr lang="en-US" sz="4400" b="1" i="0" u="none">
                <a:solidFill>
                  <a:srgbClr val="FFFFFF"/>
                </a:solidFill>
                <a:ea typeface="微软雅黑"/>
              </a:rPr>
              <a:t>大整数与 Miller–Rabin 素性判定</a:t>
            </a:r>
          </a:p>
        </p:txBody>
      </p:sp>
      <p:sp>
        <p:nvSpPr>
          <p:cNvPr id="25" name="文本占位符 24" descr="8f57161b-2598-43a7-b514-2ed0f586aeee"/>
          <p:cNvSpPr>
            <a:spLocks noGrp="1"/>
          </p:cNvSpPr>
          <p:nvPr>
            <p:ph type="body" sz="quarter" idx="1" hasCustomPrompt="1"/>
          </p:nvPr>
        </p:nvSpPr>
        <p:spPr/>
        <p:txBody>
          <a:bodyPr anchorCtr="0"/>
          <a:lstStyle/>
          <a:p>
            <a:pPr algn="l">
              <a:lnSpc>
                <a:spcPct val="120000"/>
              </a:lnSpc>
              <a:spcBef>
                <a:spcPts val="1000"/>
              </a:spcBef>
            </a:pPr>
            <a:r>
              <a:rPr lang="en-US" sz="1600" b="0" i="0" u="none">
                <a:solidFill>
                  <a:srgbClr val="FFFFFF"/>
                </a:solidFill>
                <a:ea typeface="微软雅黑"/>
              </a:rPr>
              <a:t>介绍大整数在密码学中的作用、数据结构设计、基本运算实现、乘法优化，以及素性判定问题引入、算法原理、实现与测试等内容</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38c66185-fc6f-4e06-80a3-5baa9f8fa447.source.3.zh-Hans.pptx" descr="57603f31-114b-441a-a789-136097b586dc">
            <a:extLst>
              <a:ext uri="{FF2B5EF4-FFF2-40B4-BE49-F238E27FC236}">
                <a16:creationId xmlns:a16="http://schemas.microsoft.com/office/drawing/2014/main" id="{6A5A2DDB-78FF-B8C3-B29F-C50436189545}"/>
              </a:ext>
            </a:extLst>
          </p:cNvPr>
          <p:cNvGrpSpPr/>
          <p:nvPr/>
        </p:nvGrpSpPr>
        <p:grpSpPr>
          <a:xfrm>
            <a:off x="660400" y="1130312"/>
            <a:ext cx="10858500" cy="5105388"/>
            <a:chOff x="660400" y="1130312"/>
            <a:chExt cx="10858500" cy="5105388"/>
          </a:xfrm>
        </p:grpSpPr>
        <p:sp>
          <p:nvSpPr>
            <p:cNvPr id="3" name="Title" descr="a7c68165-e615-4f2b-a5fe-00e4ed22989b">
              <a:extLst>
                <a:ext uri="{FF2B5EF4-FFF2-40B4-BE49-F238E27FC236}">
                  <a16:creationId xmlns:a16="http://schemas.microsoft.com/office/drawing/2014/main" id="{49304470-9F55-9834-59E1-76EE424F8945}"/>
                </a:ext>
              </a:extLst>
            </p:cNvPr>
            <p:cNvSpPr>
              <a:spLocks noChangeAspect="1"/>
            </p:cNvSpPr>
            <p:nvPr/>
          </p:nvSpPr>
          <p:spPr>
            <a:xfrm>
              <a:off x="660400" y="1130312"/>
              <a:ext cx="10858500" cy="6186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a:p>
          </p:txBody>
        </p:sp>
        <p:cxnSp>
          <p:nvCxnSpPr>
            <p:cNvPr id="5" name="直接连接符 1" descr="1ad8ff3b-9902-4e87-a259-6f35e89d155c">
              <a:extLst>
                <a:ext uri="{FF2B5EF4-FFF2-40B4-BE49-F238E27FC236}">
                  <a16:creationId xmlns:a16="http://schemas.microsoft.com/office/drawing/2014/main" id="{23EE9416-C5AB-D7A8-89DF-DD5D60B2A685}"/>
                </a:ext>
              </a:extLst>
            </p:cNvPr>
            <p:cNvCxnSpPr>
              <a:cxnSpLocks/>
            </p:cNvCxnSpPr>
            <p:nvPr/>
          </p:nvCxnSpPr>
          <p:spPr>
            <a:xfrm>
              <a:off x="6095981" y="1952012"/>
              <a:ext cx="0" cy="4283688"/>
            </a:xfrm>
            <a:prstGeom prst="line">
              <a:avLst/>
            </a:prstGeom>
            <a:ln w="6350">
              <a:solidFill>
                <a:schemeClr val="tx1">
                  <a:alpha val="50000"/>
                </a:schemeClr>
              </a:solidFill>
              <a:prstDash val="solid"/>
              <a:tailEnd type="triangle"/>
            </a:ln>
          </p:spPr>
          <p:style>
            <a:lnRef idx="2">
              <a:schemeClr val="accent1"/>
            </a:lnRef>
            <a:fillRef idx="0">
              <a:schemeClr val="accent1"/>
            </a:fillRef>
            <a:effectRef idx="1">
              <a:schemeClr val="accent1"/>
            </a:effectRef>
            <a:fontRef idx="minor">
              <a:schemeClr val="tx1"/>
            </a:fontRef>
          </p:style>
        </p:cxnSp>
        <p:grpSp>
          <p:nvGrpSpPr>
            <p:cNvPr id="34" name="组合 33" descr="a64495e5-9f89-42e6-b772-c85a3c262643">
              <a:extLst>
                <a:ext uri="{FF2B5EF4-FFF2-40B4-BE49-F238E27FC236}">
                  <a16:creationId xmlns:a16="http://schemas.microsoft.com/office/drawing/2014/main" id="{B5B70701-70E5-8BEC-BDBC-9B665E7A3715}"/>
                </a:ext>
              </a:extLst>
            </p:cNvPr>
            <p:cNvGrpSpPr/>
            <p:nvPr/>
          </p:nvGrpSpPr>
          <p:grpSpPr>
            <a:xfrm>
              <a:off x="660400" y="1937497"/>
              <a:ext cx="5435580" cy="2018511"/>
              <a:chOff x="660400" y="1937497"/>
              <a:chExt cx="5435580" cy="2018511"/>
            </a:xfrm>
          </p:grpSpPr>
          <p:sp>
            <p:nvSpPr>
              <p:cNvPr id="7" name="ComponentBackground1" descr="77a2cd36-fb8e-46ee-845b-16179bf78977">
                <a:extLst>
                  <a:ext uri="{FF2B5EF4-FFF2-40B4-BE49-F238E27FC236}">
                    <a16:creationId xmlns:a16="http://schemas.microsoft.com/office/drawing/2014/main" id="{76F84829-2956-25CB-AE39-EE3709226448}"/>
                  </a:ext>
                </a:extLst>
              </p:cNvPr>
              <p:cNvSpPr>
                <a:spLocks/>
              </p:cNvSpPr>
              <p:nvPr/>
            </p:nvSpPr>
            <p:spPr>
              <a:xfrm>
                <a:off x="660400" y="1937497"/>
                <a:ext cx="5133974" cy="2018511"/>
              </a:xfrm>
              <a:prstGeom prst="rect">
                <a:avLst/>
              </a:prstGeom>
              <a:noFill/>
              <a:ln w="6350">
                <a:solidFill>
                  <a:schemeClr val="tx1">
                    <a:alpha val="50000"/>
                  </a:schemeClr>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a:p>
            </p:txBody>
          </p:sp>
          <p:sp>
            <p:nvSpPr>
              <p:cNvPr id="8" name="Bullet1" descr="b4778ad2-5e14-405e-936d-03e0ddf608e7">
                <a:extLst>
                  <a:ext uri="{FF2B5EF4-FFF2-40B4-BE49-F238E27FC236}">
                    <a16:creationId xmlns:a16="http://schemas.microsoft.com/office/drawing/2014/main" id="{62601AA5-547C-6EAB-79B1-E2B7701EC9B3}"/>
                  </a:ext>
                </a:extLst>
              </p:cNvPr>
              <p:cNvSpPr txBox="1">
                <a:spLocks/>
              </p:cNvSpPr>
              <p:nvPr/>
            </p:nvSpPr>
            <p:spPr bwMode="auto">
              <a:xfrm>
                <a:off x="895524" y="2006677"/>
                <a:ext cx="4571548" cy="4824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pPr>
                <a:r>
                  <a:rPr lang="en-US" sz="1800" b="1" i="0" u="none">
                    <a:solidFill>
                      <a:srgbClr val="FFFFFF"/>
                    </a:solidFill>
                    <a:ea typeface="微软雅黑"/>
                  </a:rPr>
                  <a:t>为什么需要大整数</a:t>
                </a:r>
              </a:p>
            </p:txBody>
          </p:sp>
          <p:sp>
            <p:nvSpPr>
              <p:cNvPr id="9" name="Text1" descr="cd5a80e9-7b6e-40f9-a11f-42ae029a22aa">
                <a:extLst>
                  <a:ext uri="{FF2B5EF4-FFF2-40B4-BE49-F238E27FC236}">
                    <a16:creationId xmlns:a16="http://schemas.microsoft.com/office/drawing/2014/main" id="{29CBDB60-BBD2-29F7-8C9B-089EAE42B7F0}"/>
                  </a:ext>
                </a:extLst>
              </p:cNvPr>
              <p:cNvSpPr txBox="1">
                <a:spLocks/>
              </p:cNvSpPr>
              <p:nvPr/>
            </p:nvSpPr>
            <p:spPr bwMode="auto">
              <a:xfrm>
                <a:off x="895524" y="2558257"/>
                <a:ext cx="4571548" cy="132696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spcAft>
                    <a:spcPct val="0"/>
                  </a:spcAft>
                </a:pPr>
                <a:r>
                  <a:rPr lang="en-US" sz="1200" b="0" i="0" u="none" strike="noStrike">
                    <a:solidFill>
                      <a:srgbClr val="FFFFFF"/>
                    </a:solidFill>
                    <a:ea typeface="微软雅黑"/>
                  </a:rPr>
                  <a:t>在公钥密码算法中，为了保证足够的安全性，通常需要使用非常大的数作为密钥。例如，RSA算法中的模数n通常是两个大素数的乘积，其位数可以达到数百甚至上千位。因此，需要使用大整数来表示和处理这些密钥。</a:t>
                </a:r>
              </a:p>
            </p:txBody>
          </p:sp>
          <p:sp>
            <p:nvSpPr>
              <p:cNvPr id="6" name="Number1" descr="8465369a-39a6-4161-9e36-ac9d1ca2ee9e">
                <a:extLst>
                  <a:ext uri="{FF2B5EF4-FFF2-40B4-BE49-F238E27FC236}">
                    <a16:creationId xmlns:a16="http://schemas.microsoft.com/office/drawing/2014/main" id="{45856FF2-2A78-CB1E-6882-57CA6A9E18E9}"/>
                  </a:ext>
                </a:extLst>
              </p:cNvPr>
              <p:cNvSpPr/>
              <p:nvPr/>
            </p:nvSpPr>
            <p:spPr>
              <a:xfrm>
                <a:off x="5524462" y="2680446"/>
                <a:ext cx="571518" cy="532612"/>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lnSpcReduction="1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0" i="0" u="none">
                    <a:solidFill>
                      <a:srgbClr val="FFFFFF"/>
                    </a:solidFill>
                    <a:latin typeface="Arial"/>
                  </a:rPr>
                  <a:t>1</a:t>
                </a:r>
              </a:p>
            </p:txBody>
          </p:sp>
        </p:grpSp>
        <p:grpSp>
          <p:nvGrpSpPr>
            <p:cNvPr id="35" name="组合 34" descr="23537881-4634-449a-ac45-29d736cdab52">
              <a:extLst>
                <a:ext uri="{FF2B5EF4-FFF2-40B4-BE49-F238E27FC236}">
                  <a16:creationId xmlns:a16="http://schemas.microsoft.com/office/drawing/2014/main" id="{60434D88-A5C9-E59D-78AA-8BFB3AE09CE7}"/>
                </a:ext>
              </a:extLst>
            </p:cNvPr>
            <p:cNvGrpSpPr/>
            <p:nvPr/>
          </p:nvGrpSpPr>
          <p:grpSpPr>
            <a:xfrm>
              <a:off x="6095981" y="3026544"/>
              <a:ext cx="5422919" cy="2018510"/>
              <a:chOff x="6095981" y="3026544"/>
              <a:chExt cx="5422919" cy="2018510"/>
            </a:xfrm>
          </p:grpSpPr>
          <p:sp>
            <p:nvSpPr>
              <p:cNvPr id="13" name="ComponentBackground2" descr="c35e9a13-85e7-4e12-bdac-faf36f7e1afd">
                <a:extLst>
                  <a:ext uri="{FF2B5EF4-FFF2-40B4-BE49-F238E27FC236}">
                    <a16:creationId xmlns:a16="http://schemas.microsoft.com/office/drawing/2014/main" id="{B1209F14-2BEA-C1C4-3B19-C05C7308F3EF}"/>
                  </a:ext>
                </a:extLst>
              </p:cNvPr>
              <p:cNvSpPr>
                <a:spLocks/>
              </p:cNvSpPr>
              <p:nvPr/>
            </p:nvSpPr>
            <p:spPr>
              <a:xfrm flipH="1">
                <a:off x="6397587" y="3026544"/>
                <a:ext cx="5121313" cy="2018510"/>
              </a:xfrm>
              <a:prstGeom prst="rect">
                <a:avLst/>
              </a:prstGeom>
              <a:noFill/>
              <a:ln w="6350">
                <a:solidFill>
                  <a:schemeClr val="tx1">
                    <a:alpha val="50000"/>
                  </a:schemeClr>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a:p>
            </p:txBody>
          </p:sp>
          <p:sp>
            <p:nvSpPr>
              <p:cNvPr id="14" name="Bullet2" descr="185abd63-b710-4ebd-b1af-9b99bbce4de9">
                <a:extLst>
                  <a:ext uri="{FF2B5EF4-FFF2-40B4-BE49-F238E27FC236}">
                    <a16:creationId xmlns:a16="http://schemas.microsoft.com/office/drawing/2014/main" id="{EB50884B-EA40-3766-4BBF-987ABB1D1DAC}"/>
                  </a:ext>
                </a:extLst>
              </p:cNvPr>
              <p:cNvSpPr txBox="1">
                <a:spLocks/>
              </p:cNvSpPr>
              <p:nvPr/>
            </p:nvSpPr>
            <p:spPr bwMode="auto">
              <a:xfrm>
                <a:off x="6701006" y="3095725"/>
                <a:ext cx="4571548" cy="4824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pPr>
                <a:r>
                  <a:rPr lang="en-US" sz="1800" b="1" i="0" u="none">
                    <a:solidFill>
                      <a:srgbClr val="FFFFFF"/>
                    </a:solidFill>
                    <a:latin typeface="Arial"/>
                  </a:rPr>
                  <a:t>RSA / ECC对大整数的依赖</a:t>
                </a:r>
              </a:p>
            </p:txBody>
          </p:sp>
          <p:sp>
            <p:nvSpPr>
              <p:cNvPr id="15" name="Text2" descr="9f453bfb-4c5b-4d8e-954e-98676e3fdfd4">
                <a:extLst>
                  <a:ext uri="{FF2B5EF4-FFF2-40B4-BE49-F238E27FC236}">
                    <a16:creationId xmlns:a16="http://schemas.microsoft.com/office/drawing/2014/main" id="{72914A60-F080-77C9-D2EE-0A2562243717}"/>
                  </a:ext>
                </a:extLst>
              </p:cNvPr>
              <p:cNvSpPr txBox="1">
                <a:spLocks/>
              </p:cNvSpPr>
              <p:nvPr/>
            </p:nvSpPr>
            <p:spPr bwMode="auto">
              <a:xfrm>
                <a:off x="6701006" y="3647306"/>
                <a:ext cx="4571548" cy="132696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spcAft>
                    <a:spcPct val="0"/>
                  </a:spcAft>
                </a:pPr>
                <a:r>
                  <a:rPr lang="en-US" sz="1200" b="0" i="0" u="none" strike="noStrike">
                    <a:solidFill>
                      <a:srgbClr val="FFFFFF"/>
                    </a:solidFill>
                    <a:latin typeface="Arial"/>
                  </a:rPr>
                  <a:t>RSA算法中，密钥生成、加密和解密过程都涉及到大整数的运算，如大整数的模幂、模乘等。ECC算法中，椭圆曲线上的点运算也依赖于大整数的模运算。</a:t>
                </a:r>
              </a:p>
            </p:txBody>
          </p:sp>
          <p:sp>
            <p:nvSpPr>
              <p:cNvPr id="12" name="Number2" descr="3a3476ee-08b3-4234-8c4e-c91191787d25">
                <a:extLst>
                  <a:ext uri="{FF2B5EF4-FFF2-40B4-BE49-F238E27FC236}">
                    <a16:creationId xmlns:a16="http://schemas.microsoft.com/office/drawing/2014/main" id="{C0EDDD03-58FC-4477-7DB4-1322256932F4}"/>
                  </a:ext>
                </a:extLst>
              </p:cNvPr>
              <p:cNvSpPr/>
              <p:nvPr/>
            </p:nvSpPr>
            <p:spPr>
              <a:xfrm>
                <a:off x="6095981" y="3769493"/>
                <a:ext cx="571518" cy="532612"/>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lnSpcReduction="1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0" i="0" u="none">
                    <a:solidFill>
                      <a:srgbClr val="FFFFFF"/>
                    </a:solidFill>
                    <a:latin typeface="Arial"/>
                  </a:rPr>
                  <a:t>2</a:t>
                </a:r>
              </a:p>
            </p:txBody>
          </p:sp>
        </p:grpSp>
        <p:grpSp>
          <p:nvGrpSpPr>
            <p:cNvPr id="36" name="组合 35" descr="e8349f68-0b88-4e44-90a1-82dc0ec14358">
              <a:extLst>
                <a:ext uri="{FF2B5EF4-FFF2-40B4-BE49-F238E27FC236}">
                  <a16:creationId xmlns:a16="http://schemas.microsoft.com/office/drawing/2014/main" id="{2A3FA680-33A8-8A60-7037-51ECB449F1F1}"/>
                </a:ext>
              </a:extLst>
            </p:cNvPr>
            <p:cNvGrpSpPr/>
            <p:nvPr/>
          </p:nvGrpSpPr>
          <p:grpSpPr>
            <a:xfrm>
              <a:off x="660400" y="4115589"/>
              <a:ext cx="5435580" cy="2018511"/>
              <a:chOff x="660400" y="4115589"/>
              <a:chExt cx="5435580" cy="2018511"/>
            </a:xfrm>
          </p:grpSpPr>
          <p:sp>
            <p:nvSpPr>
              <p:cNvPr id="19" name="ComponentBackground3" descr="9cdf7314-8734-41cb-8936-ea53f75931fa">
                <a:extLst>
                  <a:ext uri="{FF2B5EF4-FFF2-40B4-BE49-F238E27FC236}">
                    <a16:creationId xmlns:a16="http://schemas.microsoft.com/office/drawing/2014/main" id="{80ABE1E4-0C91-0517-9C85-2DD838120AB8}"/>
                  </a:ext>
                </a:extLst>
              </p:cNvPr>
              <p:cNvSpPr>
                <a:spLocks/>
              </p:cNvSpPr>
              <p:nvPr/>
            </p:nvSpPr>
            <p:spPr>
              <a:xfrm>
                <a:off x="660400" y="4115589"/>
                <a:ext cx="5133974" cy="2018511"/>
              </a:xfrm>
              <a:prstGeom prst="rect">
                <a:avLst/>
              </a:prstGeom>
              <a:noFill/>
              <a:ln w="6350">
                <a:solidFill>
                  <a:schemeClr val="tx1">
                    <a:alpha val="50000"/>
                  </a:schemeClr>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a:p>
            </p:txBody>
          </p:sp>
          <p:sp>
            <p:nvSpPr>
              <p:cNvPr id="20" name="Bullet3" descr="0c40eb2d-5f83-479d-97a2-ccd366e9ace2">
                <a:extLst>
                  <a:ext uri="{FF2B5EF4-FFF2-40B4-BE49-F238E27FC236}">
                    <a16:creationId xmlns:a16="http://schemas.microsoft.com/office/drawing/2014/main" id="{15C696D8-8E5C-CFB9-D100-C4991A39B522}"/>
                  </a:ext>
                </a:extLst>
              </p:cNvPr>
              <p:cNvSpPr txBox="1">
                <a:spLocks/>
              </p:cNvSpPr>
              <p:nvPr/>
            </p:nvSpPr>
            <p:spPr bwMode="auto">
              <a:xfrm>
                <a:off x="895524" y="4184769"/>
                <a:ext cx="4571548" cy="4824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pPr>
                <a:r>
                  <a:rPr lang="en-US" sz="1800" b="1" i="0" u="none">
                    <a:solidFill>
                      <a:srgbClr val="FFFFFF"/>
                    </a:solidFill>
                    <a:ea typeface="微软雅黑"/>
                  </a:rPr>
                  <a:t>普通整数类型的局限性</a:t>
                </a:r>
              </a:p>
            </p:txBody>
          </p:sp>
          <p:sp>
            <p:nvSpPr>
              <p:cNvPr id="21" name="Text3" descr="47ba6bbd-5a0e-4a92-9172-a87c28359165">
                <a:extLst>
                  <a:ext uri="{FF2B5EF4-FFF2-40B4-BE49-F238E27FC236}">
                    <a16:creationId xmlns:a16="http://schemas.microsoft.com/office/drawing/2014/main" id="{15AB6899-69EB-28E6-6923-B751394668C1}"/>
                  </a:ext>
                </a:extLst>
              </p:cNvPr>
              <p:cNvSpPr txBox="1">
                <a:spLocks/>
              </p:cNvSpPr>
              <p:nvPr/>
            </p:nvSpPr>
            <p:spPr bwMode="auto">
              <a:xfrm>
                <a:off x="895524" y="4736351"/>
                <a:ext cx="4571548" cy="132696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spcAft>
                    <a:spcPct val="0"/>
                  </a:spcAft>
                </a:pPr>
                <a:r>
                  <a:rPr lang="en-US" sz="1200" b="0" i="0" u="none" strike="noStrike">
                    <a:solidFill>
                      <a:srgbClr val="FFFFFF"/>
                    </a:solidFill>
                    <a:ea typeface="微软雅黑"/>
                  </a:rPr>
                  <a:t>普通的整数类型，如int、long等，其表示范围有限，无法满足公钥密码算法对大整数的需求。当处理超过其表示范围的数时，会出现溢出等问题，导致计算结果错误。</a:t>
                </a:r>
              </a:p>
            </p:txBody>
          </p:sp>
          <p:sp>
            <p:nvSpPr>
              <p:cNvPr id="18" name="Number3" descr="ac841195-6b69-4850-b9b4-35d797de0859">
                <a:extLst>
                  <a:ext uri="{FF2B5EF4-FFF2-40B4-BE49-F238E27FC236}">
                    <a16:creationId xmlns:a16="http://schemas.microsoft.com/office/drawing/2014/main" id="{72EDB5D1-AF04-2A79-5D48-646601D260BA}"/>
                  </a:ext>
                </a:extLst>
              </p:cNvPr>
              <p:cNvSpPr/>
              <p:nvPr/>
            </p:nvSpPr>
            <p:spPr>
              <a:xfrm>
                <a:off x="5524462" y="4858538"/>
                <a:ext cx="571518" cy="532612"/>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lnSpcReduction="1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b="0" i="0" u="none">
                    <a:solidFill>
                      <a:srgbClr val="FFFFFF"/>
                    </a:solidFill>
                    <a:latin typeface="Arial"/>
                  </a:rPr>
                  <a:t>3</a:t>
                </a:r>
              </a:p>
            </p:txBody>
          </p:sp>
        </p:grpSp>
      </p:grpSp>
      <p:sp>
        <p:nvSpPr>
          <p:cNvPr id="2" name="标题 1"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a:solidFill>
                  <a:srgbClr val="FFFFFF"/>
                </a:solidFill>
                <a:ea typeface="微软雅黑"/>
              </a:rPr>
              <a:t>大整数在密码学中的作用</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720d478c-9421-4f0f-9cb9-00c560b38fe9.source.3.zh-Hans.pptx" descr="4744ccbf-abe2-4a9e-8255-8ce06f5ac0df">
            <a:extLst>
              <a:ext uri="{FF2B5EF4-FFF2-40B4-BE49-F238E27FC236}">
                <a16:creationId xmlns:a16="http://schemas.microsoft.com/office/drawing/2014/main" id="{65D5A663-851A-4294-BC36-97052E4AA464}"/>
              </a:ext>
            </a:extLst>
          </p:cNvPr>
          <p:cNvGrpSpPr/>
          <p:nvPr/>
        </p:nvGrpSpPr>
        <p:grpSpPr>
          <a:xfrm>
            <a:off x="660400" y="1130301"/>
            <a:ext cx="10864850" cy="5003799"/>
            <a:chOff x="660400" y="1130301"/>
            <a:chExt cx="10864850" cy="5003799"/>
          </a:xfrm>
        </p:grpSpPr>
        <p:sp>
          <p:nvSpPr>
            <p:cNvPr id="49" name="Title" descr="91d35d05-7580-4a6f-8d62-55d22928be75">
              <a:extLst>
                <a:ext uri="{FF2B5EF4-FFF2-40B4-BE49-F238E27FC236}">
                  <a16:creationId xmlns:a16="http://schemas.microsoft.com/office/drawing/2014/main" id="{E1525747-8899-E15B-96DB-4494826D6395}"/>
                </a:ext>
              </a:extLst>
            </p:cNvPr>
            <p:cNvSpPr>
              <a:spLocks noChangeAspect="1"/>
            </p:cNvSpPr>
            <p:nvPr/>
          </p:nvSpPr>
          <p:spPr>
            <a:xfrm>
              <a:off x="666750" y="1130301"/>
              <a:ext cx="10858500" cy="5460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l"/>
              <a:endParaRPr/>
            </a:p>
          </p:txBody>
        </p:sp>
        <p:grpSp>
          <p:nvGrpSpPr>
            <p:cNvPr id="12" name="组合 11" descr="f811618a-eee1-4a99-acd3-26752110da7f">
              <a:extLst>
                <a:ext uri="{FF2B5EF4-FFF2-40B4-BE49-F238E27FC236}">
                  <a16:creationId xmlns:a16="http://schemas.microsoft.com/office/drawing/2014/main" id="{8D243760-C719-A44D-81CF-AAFF86D86124}"/>
                </a:ext>
              </a:extLst>
            </p:cNvPr>
            <p:cNvGrpSpPr/>
            <p:nvPr/>
          </p:nvGrpSpPr>
          <p:grpSpPr>
            <a:xfrm>
              <a:off x="660400" y="1715073"/>
              <a:ext cx="10858499" cy="1444384"/>
              <a:chOff x="1143981" y="1715073"/>
              <a:chExt cx="10858499" cy="1444384"/>
            </a:xfrm>
          </p:grpSpPr>
          <p:grpSp>
            <p:nvGrpSpPr>
              <p:cNvPr id="10" name="组合 9" descr="7c6ee435-b59a-47c8-b18d-d7b66458b25e">
                <a:extLst>
                  <a:ext uri="{FF2B5EF4-FFF2-40B4-BE49-F238E27FC236}">
                    <a16:creationId xmlns:a16="http://schemas.microsoft.com/office/drawing/2014/main" id="{EF0961EE-3BC7-FE4D-9574-F67441C86B12}"/>
                  </a:ext>
                </a:extLst>
              </p:cNvPr>
              <p:cNvGrpSpPr/>
              <p:nvPr/>
            </p:nvGrpSpPr>
            <p:grpSpPr>
              <a:xfrm>
                <a:off x="1362925" y="1715073"/>
                <a:ext cx="10639555" cy="1444384"/>
                <a:chOff x="660398" y="1715073"/>
                <a:chExt cx="10639555" cy="1444384"/>
              </a:xfrm>
            </p:grpSpPr>
            <p:sp>
              <p:nvSpPr>
                <p:cNvPr id="7" name="ComponentBackground1" descr="95430d2f-d95a-4e48-851d-332c53efd4b4">
                  <a:extLst>
                    <a:ext uri="{FF2B5EF4-FFF2-40B4-BE49-F238E27FC236}">
                      <a16:creationId xmlns:a16="http://schemas.microsoft.com/office/drawing/2014/main" id="{36180813-A760-09B3-D541-17E735E930D0}"/>
                    </a:ext>
                  </a:extLst>
                </p:cNvPr>
                <p:cNvSpPr/>
                <p:nvPr/>
              </p:nvSpPr>
              <p:spPr>
                <a:xfrm>
                  <a:off x="660398" y="1715073"/>
                  <a:ext cx="10639555" cy="1444384"/>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a:p>
              </p:txBody>
            </p:sp>
            <p:sp>
              <p:nvSpPr>
                <p:cNvPr id="8" name="Text1" descr="0c6cf89d-2c40-4981-9e8b-4105bb8787dc">
                  <a:extLst>
                    <a:ext uri="{FF2B5EF4-FFF2-40B4-BE49-F238E27FC236}">
                      <a16:creationId xmlns:a16="http://schemas.microsoft.com/office/drawing/2014/main" id="{6AE77748-48AC-284C-BA6F-E41150AB3DCC}"/>
                    </a:ext>
                  </a:extLst>
                </p:cNvPr>
                <p:cNvSpPr>
                  <a:spLocks/>
                </p:cNvSpPr>
                <p:nvPr/>
              </p:nvSpPr>
              <p:spPr>
                <a:xfrm>
                  <a:off x="942123" y="2195528"/>
                  <a:ext cx="10256882"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lnSpc>
                      <a:spcPct val="120000"/>
                    </a:lnSpc>
                  </a:pPr>
                  <a:r>
                    <a:rPr lang="en-US" sz="1200" b="0" i="0" u="none">
                      <a:solidFill>
                        <a:srgbClr val="FFFFFF"/>
                      </a:solidFill>
                      <a:latin typeface="Arial"/>
                    </a:rPr>
                    <a:t>BigInt采用分块存储的方式，将大整数分成多个固定大小的块进行存储。每个块表示一定位数的数，通常选择10^9作为块的大小，这样可以方便地进行大整数的运算。</a:t>
                  </a:r>
                </a:p>
              </p:txBody>
            </p:sp>
            <p:sp>
              <p:nvSpPr>
                <p:cNvPr id="9" name="Bullet1" descr="d2a7c11e-d235-4827-b432-82c06210634c">
                  <a:extLst>
                    <a:ext uri="{FF2B5EF4-FFF2-40B4-BE49-F238E27FC236}">
                      <a16:creationId xmlns:a16="http://schemas.microsoft.com/office/drawing/2014/main" id="{10B89975-06E8-0E4D-A7E7-01797C90FAE2}"/>
                    </a:ext>
                  </a:extLst>
                </p:cNvPr>
                <p:cNvSpPr>
                  <a:spLocks/>
                </p:cNvSpPr>
                <p:nvPr/>
              </p:nvSpPr>
              <p:spPr>
                <a:xfrm>
                  <a:off x="942123" y="1753484"/>
                  <a:ext cx="1025689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l">
                    <a:lnSpc>
                      <a:spcPct val="120000"/>
                    </a:lnSpc>
                  </a:pPr>
                  <a:r>
                    <a:rPr lang="en-US" sz="1800" b="1" i="0" u="none">
                      <a:solidFill>
                        <a:srgbClr val="FFFFFF"/>
                      </a:solidFill>
                      <a:ea typeface="微软雅黑"/>
                    </a:rPr>
                    <a:t>基本存储方式（分块存储）</a:t>
                  </a:r>
                </a:p>
              </p:txBody>
            </p:sp>
          </p:grpSp>
          <p:sp>
            <p:nvSpPr>
              <p:cNvPr id="11" name="Number1" descr="02a87498-c48b-4778-ad26-9901cf40abbe">
                <a:extLst>
                  <a:ext uri="{FF2B5EF4-FFF2-40B4-BE49-F238E27FC236}">
                    <a16:creationId xmlns:a16="http://schemas.microsoft.com/office/drawing/2014/main" id="{6299ED16-C8BE-9417-9FDF-CBEE358AA800}"/>
                  </a:ext>
                </a:extLst>
              </p:cNvPr>
              <p:cNvSpPr>
                <a:spLocks/>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a:r>
                  <a:rPr lang="en-US" sz="1600" b="0" i="0" u="none">
                    <a:solidFill>
                      <a:srgbClr val="FFFFFF"/>
                    </a:solidFill>
                    <a:latin typeface="Arial"/>
                  </a:rPr>
                  <a:t>1</a:t>
                </a:r>
              </a:p>
            </p:txBody>
          </p:sp>
        </p:grpSp>
        <p:grpSp>
          <p:nvGrpSpPr>
            <p:cNvPr id="13" name="组合 12" descr="5bf329a3-bb99-4405-9274-71f573cf52ab">
              <a:extLst>
                <a:ext uri="{FF2B5EF4-FFF2-40B4-BE49-F238E27FC236}">
                  <a16:creationId xmlns:a16="http://schemas.microsoft.com/office/drawing/2014/main" id="{D454A36F-E388-BEF8-8EB9-FED3F9BBFB25}"/>
                </a:ext>
              </a:extLst>
            </p:cNvPr>
            <p:cNvGrpSpPr/>
            <p:nvPr/>
          </p:nvGrpSpPr>
          <p:grpSpPr>
            <a:xfrm>
              <a:off x="660400" y="3202395"/>
              <a:ext cx="10858499" cy="1444384"/>
              <a:chOff x="1143981" y="1715073"/>
              <a:chExt cx="10858499" cy="1444384"/>
            </a:xfrm>
          </p:grpSpPr>
          <p:grpSp>
            <p:nvGrpSpPr>
              <p:cNvPr id="14" name="组合 13" descr="5e72edde-1056-41a6-a9b9-0d2f0ca57a2d">
                <a:extLst>
                  <a:ext uri="{FF2B5EF4-FFF2-40B4-BE49-F238E27FC236}">
                    <a16:creationId xmlns:a16="http://schemas.microsoft.com/office/drawing/2014/main" id="{966FC8CB-7D55-0488-8213-0ED32170EB57}"/>
                  </a:ext>
                </a:extLst>
              </p:cNvPr>
              <p:cNvGrpSpPr/>
              <p:nvPr/>
            </p:nvGrpSpPr>
            <p:grpSpPr>
              <a:xfrm>
                <a:off x="1362925" y="1715073"/>
                <a:ext cx="10639555" cy="1444384"/>
                <a:chOff x="660398" y="1715073"/>
                <a:chExt cx="10639555" cy="1444384"/>
              </a:xfrm>
            </p:grpSpPr>
            <p:sp>
              <p:nvSpPr>
                <p:cNvPr id="16" name="ComponentBackground2" descr="265d1a25-e958-4aab-a066-9f84bc07345f">
                  <a:extLst>
                    <a:ext uri="{FF2B5EF4-FFF2-40B4-BE49-F238E27FC236}">
                      <a16:creationId xmlns:a16="http://schemas.microsoft.com/office/drawing/2014/main" id="{C579D0E7-E1E5-7762-F2A7-5CD743B4513A}"/>
                    </a:ext>
                  </a:extLst>
                </p:cNvPr>
                <p:cNvSpPr/>
                <p:nvPr/>
              </p:nvSpPr>
              <p:spPr>
                <a:xfrm>
                  <a:off x="660398" y="1715073"/>
                  <a:ext cx="10639555" cy="1444384"/>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a:p>
              </p:txBody>
            </p:sp>
            <p:sp>
              <p:nvSpPr>
                <p:cNvPr id="17" name="Text2" descr="fb893e4c-56c1-493c-9348-8297e9303b82">
                  <a:extLst>
                    <a:ext uri="{FF2B5EF4-FFF2-40B4-BE49-F238E27FC236}">
                      <a16:creationId xmlns:a16="http://schemas.microsoft.com/office/drawing/2014/main" id="{D282A85B-68E5-1BF1-C442-06E3247D8357}"/>
                    </a:ext>
                  </a:extLst>
                </p:cNvPr>
                <p:cNvSpPr>
                  <a:spLocks/>
                </p:cNvSpPr>
                <p:nvPr/>
              </p:nvSpPr>
              <p:spPr>
                <a:xfrm>
                  <a:off x="942123" y="2195528"/>
                  <a:ext cx="10256882"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lnSpc>
                      <a:spcPct val="120000"/>
                    </a:lnSpc>
                  </a:pPr>
                  <a:r>
                    <a:rPr lang="en-US" sz="1200" b="0" i="0" u="none">
                      <a:solidFill>
                        <a:srgbClr val="FFFFFF"/>
                      </a:solidFill>
                      <a:ea typeface="微软雅黑"/>
                    </a:rPr>
                    <a:t>选择10^9作为BASE，是因为它接近于2^30，在计算机中处理起来比较方便。同时，10^9是一个较大的数，可以减少块的个数，降低存储空间的消耗。</a:t>
                  </a:r>
                </a:p>
              </p:txBody>
            </p:sp>
            <p:sp>
              <p:nvSpPr>
                <p:cNvPr id="18" name="Bullet2" descr="d4b65f1b-6fe6-4886-a344-72b8f5a4d7da">
                  <a:extLst>
                    <a:ext uri="{FF2B5EF4-FFF2-40B4-BE49-F238E27FC236}">
                      <a16:creationId xmlns:a16="http://schemas.microsoft.com/office/drawing/2014/main" id="{0188688C-78A4-D60A-0DCF-7DFAF5F62FA5}"/>
                    </a:ext>
                  </a:extLst>
                </p:cNvPr>
                <p:cNvSpPr>
                  <a:spLocks/>
                </p:cNvSpPr>
                <p:nvPr/>
              </p:nvSpPr>
              <p:spPr>
                <a:xfrm>
                  <a:off x="942123" y="1753484"/>
                  <a:ext cx="1025689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l">
                    <a:lnSpc>
                      <a:spcPct val="120000"/>
                    </a:lnSpc>
                  </a:pPr>
                  <a:r>
                    <a:rPr lang="en-US" sz="1800" b="1" i="0" u="none">
                      <a:solidFill>
                        <a:srgbClr val="FFFFFF"/>
                      </a:solidFill>
                      <a:latin typeface="Arial"/>
                    </a:rPr>
                    <a:t>BASE选择原因</a:t>
                  </a:r>
                </a:p>
              </p:txBody>
            </p:sp>
          </p:grpSp>
          <p:sp>
            <p:nvSpPr>
              <p:cNvPr id="15" name="Number2" descr="7e5c18c6-6379-4b25-93bc-460d29f9301e">
                <a:extLst>
                  <a:ext uri="{FF2B5EF4-FFF2-40B4-BE49-F238E27FC236}">
                    <a16:creationId xmlns:a16="http://schemas.microsoft.com/office/drawing/2014/main" id="{3320CFA7-41FC-5C2B-F6AB-30C3C936A517}"/>
                  </a:ext>
                </a:extLst>
              </p:cNvPr>
              <p:cNvSpPr>
                <a:spLocks/>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a:r>
                  <a:rPr lang="en-US" sz="1600" b="0" i="0" u="none">
                    <a:solidFill>
                      <a:srgbClr val="FFFFFF"/>
                    </a:solidFill>
                    <a:latin typeface="Arial"/>
                  </a:rPr>
                  <a:t>2</a:t>
                </a:r>
              </a:p>
            </p:txBody>
          </p:sp>
        </p:grpSp>
        <p:grpSp>
          <p:nvGrpSpPr>
            <p:cNvPr id="19" name="组合 18" descr="b41aa253-3051-4368-8523-e49d344308a8">
              <a:extLst>
                <a:ext uri="{FF2B5EF4-FFF2-40B4-BE49-F238E27FC236}">
                  <a16:creationId xmlns:a16="http://schemas.microsoft.com/office/drawing/2014/main" id="{C18C4321-45BE-38B6-F589-FEAF9442C293}"/>
                </a:ext>
              </a:extLst>
            </p:cNvPr>
            <p:cNvGrpSpPr/>
            <p:nvPr/>
          </p:nvGrpSpPr>
          <p:grpSpPr>
            <a:xfrm>
              <a:off x="660400" y="4689716"/>
              <a:ext cx="10858499" cy="1444384"/>
              <a:chOff x="1143981" y="1715073"/>
              <a:chExt cx="10858499" cy="1444384"/>
            </a:xfrm>
          </p:grpSpPr>
          <p:grpSp>
            <p:nvGrpSpPr>
              <p:cNvPr id="20" name="组合 19" descr="2b549f3e-b53c-4be7-83d0-419459d5512e">
                <a:extLst>
                  <a:ext uri="{FF2B5EF4-FFF2-40B4-BE49-F238E27FC236}">
                    <a16:creationId xmlns:a16="http://schemas.microsoft.com/office/drawing/2014/main" id="{50128178-59AA-B554-A31F-C11426BBC9CD}"/>
                  </a:ext>
                </a:extLst>
              </p:cNvPr>
              <p:cNvGrpSpPr/>
              <p:nvPr/>
            </p:nvGrpSpPr>
            <p:grpSpPr>
              <a:xfrm>
                <a:off x="1362925" y="1715073"/>
                <a:ext cx="10639555" cy="1444384"/>
                <a:chOff x="660398" y="1715073"/>
                <a:chExt cx="10639555" cy="1444384"/>
              </a:xfrm>
            </p:grpSpPr>
            <p:sp>
              <p:nvSpPr>
                <p:cNvPr id="22" name="ComponentBackground3" descr="c4e83793-bfe1-465f-b7d2-6d2daca07457">
                  <a:extLst>
                    <a:ext uri="{FF2B5EF4-FFF2-40B4-BE49-F238E27FC236}">
                      <a16:creationId xmlns:a16="http://schemas.microsoft.com/office/drawing/2014/main" id="{23C04B07-B992-A447-BA6F-EA43BA25DF8A}"/>
                    </a:ext>
                  </a:extLst>
                </p:cNvPr>
                <p:cNvSpPr/>
                <p:nvPr/>
              </p:nvSpPr>
              <p:spPr>
                <a:xfrm>
                  <a:off x="660398" y="1715073"/>
                  <a:ext cx="10639555" cy="1444384"/>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a:p>
              </p:txBody>
            </p:sp>
            <p:sp>
              <p:nvSpPr>
                <p:cNvPr id="23" name="Text3" descr="9d3a4f22-f874-40e2-8f6c-8e9a69db3808">
                  <a:extLst>
                    <a:ext uri="{FF2B5EF4-FFF2-40B4-BE49-F238E27FC236}">
                      <a16:creationId xmlns:a16="http://schemas.microsoft.com/office/drawing/2014/main" id="{7B4590D2-BC72-A675-89D4-6873F8FF0463}"/>
                    </a:ext>
                  </a:extLst>
                </p:cNvPr>
                <p:cNvSpPr>
                  <a:spLocks/>
                </p:cNvSpPr>
                <p:nvPr/>
              </p:nvSpPr>
              <p:spPr>
                <a:xfrm>
                  <a:off x="942123" y="2195528"/>
                  <a:ext cx="10256882"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lnSpc>
                      <a:spcPct val="120000"/>
                    </a:lnSpc>
                  </a:pPr>
                  <a:r>
                    <a:rPr lang="en-US" sz="1200" b="0" i="0" u="none">
                      <a:solidFill>
                        <a:srgbClr val="FFFFFF"/>
                      </a:solidFill>
                      <a:ea typeface="微软雅黑"/>
                    </a:rPr>
                    <a:t>在存储大整数时，需要考虑小端和大端存储的问题。小端存储是指低位字节存储在内存的低地址处，而大端存储则相反。在不同的计算机体系结构中，可能采用不同的存储方式，因此在编写代码时需要考虑兼容性。</a:t>
                  </a:r>
                </a:p>
              </p:txBody>
            </p:sp>
            <p:sp>
              <p:nvSpPr>
                <p:cNvPr id="25" name="Bullet3" descr="92de9f5c-8d19-4d2d-a6e9-52a65d0d9786">
                  <a:extLst>
                    <a:ext uri="{FF2B5EF4-FFF2-40B4-BE49-F238E27FC236}">
                      <a16:creationId xmlns:a16="http://schemas.microsoft.com/office/drawing/2014/main" id="{944DFB20-D896-D752-1A48-79137303FC60}"/>
                    </a:ext>
                  </a:extLst>
                </p:cNvPr>
                <p:cNvSpPr>
                  <a:spLocks/>
                </p:cNvSpPr>
                <p:nvPr/>
              </p:nvSpPr>
              <p:spPr>
                <a:xfrm>
                  <a:off x="942123" y="1753484"/>
                  <a:ext cx="1025689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l">
                    <a:lnSpc>
                      <a:spcPct val="120000"/>
                    </a:lnSpc>
                  </a:pPr>
                  <a:r>
                    <a:rPr lang="en-US" sz="1800" b="1" i="0" u="none">
                      <a:solidFill>
                        <a:srgbClr val="FFFFFF"/>
                      </a:solidFill>
                      <a:ea typeface="微软雅黑"/>
                    </a:rPr>
                    <a:t>小端 / 大端存储思想</a:t>
                  </a:r>
                </a:p>
              </p:txBody>
            </p:sp>
          </p:grpSp>
          <p:sp>
            <p:nvSpPr>
              <p:cNvPr id="21" name="Number3" descr="3eea997f-db81-4caa-b349-776f4ebbe3ac">
                <a:extLst>
                  <a:ext uri="{FF2B5EF4-FFF2-40B4-BE49-F238E27FC236}">
                    <a16:creationId xmlns:a16="http://schemas.microsoft.com/office/drawing/2014/main" id="{F306AD2F-BAAE-D1A7-C27F-81D94FA47520}"/>
                  </a:ext>
                </a:extLst>
              </p:cNvPr>
              <p:cNvSpPr>
                <a:spLocks/>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a:r>
                  <a:rPr lang="en-US" sz="1600" b="0" i="0" u="none">
                    <a:solidFill>
                      <a:srgbClr val="FFFFFF"/>
                    </a:solidFill>
                    <a:latin typeface="Arial"/>
                  </a:rPr>
                  <a:t>3</a:t>
                </a:r>
              </a:p>
            </p:txBody>
          </p:sp>
        </p:grpSp>
      </p:grpSp>
      <p:sp>
        <p:nvSpPr>
          <p:cNvPr id="3" name="标题 4294967294"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a:solidFill>
                  <a:srgbClr val="FFFFFF"/>
                </a:solidFill>
                <a:latin typeface="Arial"/>
              </a:rPr>
              <a:t>BigInt 数据结构设计</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4b004cc0-3cd5-4b10-8930-671a7c2f9fd4.source.3.zh-Hans.pptx" descr="de31b670-7c6d-4219-916a-88667d6146a6">
            <a:extLst>
              <a:ext uri="{FF2B5EF4-FFF2-40B4-BE49-F238E27FC236}">
                <a16:creationId xmlns:a16="http://schemas.microsoft.com/office/drawing/2014/main" id="{DFE67049-89F9-A0CE-4DF4-C3A29C4B7A50}"/>
              </a:ext>
            </a:extLst>
          </p:cNvPr>
          <p:cNvGrpSpPr/>
          <p:nvPr/>
        </p:nvGrpSpPr>
        <p:grpSpPr>
          <a:xfrm>
            <a:off x="660400" y="1130300"/>
            <a:ext cx="10858500" cy="5003800"/>
            <a:chOff x="660400" y="1130300"/>
            <a:chExt cx="10858500" cy="5003800"/>
          </a:xfrm>
        </p:grpSpPr>
        <p:sp>
          <p:nvSpPr>
            <p:cNvPr id="5" name="Title" descr="45cacd95-1b95-4f10-9a8e-343ca7e434d6">
              <a:extLst>
                <a:ext uri="{FF2B5EF4-FFF2-40B4-BE49-F238E27FC236}">
                  <a16:creationId xmlns:a16="http://schemas.microsoft.com/office/drawing/2014/main" id="{82A97BF6-537A-400C-6A0E-12B69CABFAD3}"/>
                </a:ext>
              </a:extLst>
            </p:cNvPr>
            <p:cNvSpPr txBox="1"/>
            <p:nvPr/>
          </p:nvSpPr>
          <p:spPr>
            <a:xfrm>
              <a:off x="673107" y="1130300"/>
              <a:ext cx="10845792" cy="697491"/>
            </a:xfrm>
            <a:prstGeom prst="rect">
              <a:avLst/>
            </a:prstGeom>
            <a:noFill/>
          </p:spPr>
          <p:txBody>
            <a:bodyPr wrap="square" lIns="90000" tIns="46800" rIns="90000" bIns="46800" rtlCol="0" anchor="ctr" anchorCtr="0">
              <a:normAutofit/>
            </a:bodyPr>
            <a:lstStyle>
              <a:defPPr>
                <a:defRPr lang="en-US"/>
              </a:defPPr>
              <a:lvl1pPr>
                <a:defRPr sz="2400" b="1"/>
              </a:lvl1pPr>
            </a:lstStyle>
            <a:p>
              <a:pPr algn="l"/>
              <a:endParaRPr/>
            </a:p>
          </p:txBody>
        </p:sp>
        <p:cxnSp>
          <p:nvCxnSpPr>
            <p:cNvPr id="3" name="直接连接符 2" descr="27dc4cce-ef7c-45da-823b-8f7c222228e7">
              <a:extLst>
                <a:ext uri="{FF2B5EF4-FFF2-40B4-BE49-F238E27FC236}">
                  <a16:creationId xmlns:a16="http://schemas.microsoft.com/office/drawing/2014/main" id="{33B818D5-C596-BA01-F33B-3E5CF9399221}"/>
                </a:ext>
              </a:extLst>
            </p:cNvPr>
            <p:cNvCxnSpPr>
              <a:cxnSpLocks/>
            </p:cNvCxnSpPr>
            <p:nvPr/>
          </p:nvCxnSpPr>
          <p:spPr>
            <a:xfrm>
              <a:off x="850907" y="2256501"/>
              <a:ext cx="10667992" cy="0"/>
            </a:xfrm>
            <a:prstGeom prst="line">
              <a:avLst/>
            </a:prstGeom>
            <a:ln w="6350" cap="flat" cmpd="sng" algn="ctr">
              <a:solidFill>
                <a:schemeClr val="tx1">
                  <a:alpha val="5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4" name="组合 13" descr="87973010-a374-4a78-9904-4c2331b54dda">
              <a:extLst>
                <a:ext uri="{FF2B5EF4-FFF2-40B4-BE49-F238E27FC236}">
                  <a16:creationId xmlns:a16="http://schemas.microsoft.com/office/drawing/2014/main" id="{D6344C55-F24A-B072-E6B2-C2204921FA71}"/>
                </a:ext>
              </a:extLst>
            </p:cNvPr>
            <p:cNvGrpSpPr/>
            <p:nvPr/>
          </p:nvGrpSpPr>
          <p:grpSpPr>
            <a:xfrm>
              <a:off x="660400" y="2186959"/>
              <a:ext cx="3435728" cy="3947141"/>
              <a:chOff x="660400" y="2186959"/>
              <a:chExt cx="3435728" cy="3947141"/>
            </a:xfrm>
          </p:grpSpPr>
          <p:sp>
            <p:nvSpPr>
              <p:cNvPr id="6" name="Icon1" descr="8608dbf2-7f6b-49e9-8de8-1140c7ead3f8">
                <a:extLst>
                  <a:ext uri="{FF2B5EF4-FFF2-40B4-BE49-F238E27FC236}">
                    <a16:creationId xmlns:a16="http://schemas.microsoft.com/office/drawing/2014/main" id="{BACC2CDA-74B4-13C2-D926-A584893C9911}"/>
                  </a:ext>
                </a:extLst>
              </p:cNvPr>
              <p:cNvSpPr/>
              <p:nvPr/>
            </p:nvSpPr>
            <p:spPr>
              <a:xfrm>
                <a:off x="711207" y="2186959"/>
                <a:ext cx="139700" cy="139085"/>
              </a:xfrm>
              <a:custGeom>
                <a:avLst/>
                <a:gdLst>
                  <a:gd name="T0" fmla="*/ 6802 w 6847"/>
                  <a:gd name="T1" fmla="*/ 3333 h 6827"/>
                  <a:gd name="T2" fmla="*/ 3503 w 6847"/>
                  <a:gd name="T3" fmla="*/ 33 h 6827"/>
                  <a:gd name="T4" fmla="*/ 3422 w 6847"/>
                  <a:gd name="T5" fmla="*/ 0 h 6827"/>
                  <a:gd name="T6" fmla="*/ 123 w 6847"/>
                  <a:gd name="T7" fmla="*/ 0 h 6827"/>
                  <a:gd name="T8" fmla="*/ 18 w 6847"/>
                  <a:gd name="T9" fmla="*/ 70 h 6827"/>
                  <a:gd name="T10" fmla="*/ 42 w 6847"/>
                  <a:gd name="T11" fmla="*/ 194 h 6827"/>
                  <a:gd name="T12" fmla="*/ 3261 w 6847"/>
                  <a:gd name="T13" fmla="*/ 3413 h 6827"/>
                  <a:gd name="T14" fmla="*/ 42 w 6847"/>
                  <a:gd name="T15" fmla="*/ 6632 h 6827"/>
                  <a:gd name="T16" fmla="*/ 18 w 6847"/>
                  <a:gd name="T17" fmla="*/ 6756 h 6827"/>
                  <a:gd name="T18" fmla="*/ 123 w 6847"/>
                  <a:gd name="T19" fmla="*/ 6827 h 6827"/>
                  <a:gd name="T20" fmla="*/ 3422 w 6847"/>
                  <a:gd name="T21" fmla="*/ 6827 h 6827"/>
                  <a:gd name="T22" fmla="*/ 3503 w 6847"/>
                  <a:gd name="T23" fmla="*/ 6793 h 6827"/>
                  <a:gd name="T24" fmla="*/ 6802 w 6847"/>
                  <a:gd name="T25" fmla="*/ 3494 h 6827"/>
                  <a:gd name="T26" fmla="*/ 6802 w 6847"/>
                  <a:gd name="T27" fmla="*/ 333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847" h="6827">
                    <a:moveTo>
                      <a:pt x="6802" y="3333"/>
                    </a:moveTo>
                    <a:lnTo>
                      <a:pt x="3503" y="33"/>
                    </a:lnTo>
                    <a:cubicBezTo>
                      <a:pt x="3482" y="12"/>
                      <a:pt x="3453" y="0"/>
                      <a:pt x="3422" y="0"/>
                    </a:cubicBezTo>
                    <a:lnTo>
                      <a:pt x="123" y="0"/>
                    </a:lnTo>
                    <a:cubicBezTo>
                      <a:pt x="77" y="0"/>
                      <a:pt x="35" y="28"/>
                      <a:pt x="18" y="70"/>
                    </a:cubicBezTo>
                    <a:cubicBezTo>
                      <a:pt x="0" y="113"/>
                      <a:pt x="10" y="162"/>
                      <a:pt x="42" y="194"/>
                    </a:cubicBezTo>
                    <a:lnTo>
                      <a:pt x="3261" y="3413"/>
                    </a:lnTo>
                    <a:lnTo>
                      <a:pt x="42" y="6632"/>
                    </a:lnTo>
                    <a:cubicBezTo>
                      <a:pt x="10" y="6665"/>
                      <a:pt x="0" y="6714"/>
                      <a:pt x="18" y="6756"/>
                    </a:cubicBezTo>
                    <a:cubicBezTo>
                      <a:pt x="35" y="6799"/>
                      <a:pt x="77" y="6827"/>
                      <a:pt x="123" y="6827"/>
                    </a:cubicBezTo>
                    <a:lnTo>
                      <a:pt x="3422" y="6827"/>
                    </a:lnTo>
                    <a:cubicBezTo>
                      <a:pt x="3453" y="6827"/>
                      <a:pt x="3482" y="6815"/>
                      <a:pt x="3503" y="6793"/>
                    </a:cubicBezTo>
                    <a:lnTo>
                      <a:pt x="6802" y="3494"/>
                    </a:lnTo>
                    <a:cubicBezTo>
                      <a:pt x="6847" y="3449"/>
                      <a:pt x="6847" y="3377"/>
                      <a:pt x="6802" y="3333"/>
                    </a:cubicBezTo>
                    <a:close/>
                  </a:path>
                </a:pathLst>
              </a:cu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7" name="Bullet1" descr="2c68b99a-5105-45fc-99fe-60d0bbe895c1">
                <a:extLst>
                  <a:ext uri="{FF2B5EF4-FFF2-40B4-BE49-F238E27FC236}">
                    <a16:creationId xmlns:a16="http://schemas.microsoft.com/office/drawing/2014/main" id="{07A09442-1851-C5C7-3EB0-E9A27EA692C6}"/>
                  </a:ext>
                </a:extLst>
              </p:cNvPr>
              <p:cNvSpPr txBox="1"/>
              <p:nvPr/>
            </p:nvSpPr>
            <p:spPr>
              <a:xfrm>
                <a:off x="660400" y="2424781"/>
                <a:ext cx="3435728" cy="558406"/>
              </a:xfrm>
              <a:prstGeom prst="rect">
                <a:avLst/>
              </a:prstGeom>
              <a:noFill/>
            </p:spPr>
            <p:txBody>
              <a:bodyPr wrap="square" rtlCol="0" anchor="ctr" anchorCtr="0">
                <a:normAutofit/>
              </a:bodyPr>
              <a:lstStyle/>
              <a:p>
                <a:pPr algn="l">
                  <a:lnSpc>
                    <a:spcPct val="120000"/>
                  </a:lnSpc>
                </a:pPr>
                <a:r>
                  <a:rPr lang="en-US" sz="1800" b="1" i="0" u="none">
                    <a:solidFill>
                      <a:srgbClr val="FFFFFF"/>
                    </a:solidFill>
                    <a:ea typeface="微软雅黑"/>
                  </a:rPr>
                  <a:t>加法与进位</a:t>
                </a:r>
              </a:p>
            </p:txBody>
          </p:sp>
          <p:sp>
            <p:nvSpPr>
              <p:cNvPr id="8" name="Text1" descr="659427ad-2f5f-4382-b433-9a94026e631a">
                <a:extLst>
                  <a:ext uri="{FF2B5EF4-FFF2-40B4-BE49-F238E27FC236}">
                    <a16:creationId xmlns:a16="http://schemas.microsoft.com/office/drawing/2014/main" id="{9228DEA5-44E6-4D0B-09B1-8D4F09B4F525}"/>
                  </a:ext>
                </a:extLst>
              </p:cNvPr>
              <p:cNvSpPr txBox="1"/>
              <p:nvPr/>
            </p:nvSpPr>
            <p:spPr>
              <a:xfrm>
                <a:off x="660400" y="3081924"/>
                <a:ext cx="3435728" cy="3052176"/>
              </a:xfrm>
              <a:prstGeom prst="rect">
                <a:avLst/>
              </a:prstGeom>
              <a:noFill/>
            </p:spPr>
            <p:txBody>
              <a:bodyPr wrap="square" rtlCol="0" anchor="t" anchorCtr="0">
                <a:normAutofit/>
              </a:bodyPr>
              <a:lstStyle/>
              <a:p>
                <a:pPr algn="l">
                  <a:lnSpc>
                    <a:spcPct val="120000"/>
                  </a:lnSpc>
                </a:pPr>
                <a:r>
                  <a:rPr lang="en-US" sz="1200" b="0" i="0" u="none" strike="noStrike">
                    <a:solidFill>
                      <a:srgbClr val="FFFFFF"/>
                    </a:solidFill>
                    <a:ea typeface="微软雅黑"/>
                  </a:rPr>
                  <a:t>大整数的加法运算采用逐位相加的方式，当某一位的和超过BASE时，需要向高位进位。进位操作可以通过简单的数学运算实现，保证加法运算的正确性。</a:t>
                </a:r>
              </a:p>
            </p:txBody>
          </p:sp>
        </p:grpSp>
        <p:grpSp>
          <p:nvGrpSpPr>
            <p:cNvPr id="19" name="组合 18" descr="67aed504-1b8f-442d-a690-2ce8c9798b39">
              <a:extLst>
                <a:ext uri="{FF2B5EF4-FFF2-40B4-BE49-F238E27FC236}">
                  <a16:creationId xmlns:a16="http://schemas.microsoft.com/office/drawing/2014/main" id="{51BBC554-3FBB-1EA6-F416-7F6144BA6753}"/>
                </a:ext>
              </a:extLst>
            </p:cNvPr>
            <p:cNvGrpSpPr/>
            <p:nvPr/>
          </p:nvGrpSpPr>
          <p:grpSpPr>
            <a:xfrm>
              <a:off x="4371786" y="2186959"/>
              <a:ext cx="3435728" cy="3947141"/>
              <a:chOff x="4371786" y="2186959"/>
              <a:chExt cx="3435728" cy="3947141"/>
            </a:xfrm>
          </p:grpSpPr>
          <p:sp>
            <p:nvSpPr>
              <p:cNvPr id="11" name="Icon2" descr="b32e8088-b104-4604-9636-f65ce16e10df">
                <a:extLst>
                  <a:ext uri="{FF2B5EF4-FFF2-40B4-BE49-F238E27FC236}">
                    <a16:creationId xmlns:a16="http://schemas.microsoft.com/office/drawing/2014/main" id="{007D7354-EF5F-0893-E52D-CA69FCEA5BF2}"/>
                  </a:ext>
                </a:extLst>
              </p:cNvPr>
              <p:cNvSpPr/>
              <p:nvPr/>
            </p:nvSpPr>
            <p:spPr>
              <a:xfrm>
                <a:off x="4537607" y="2186959"/>
                <a:ext cx="139700" cy="139085"/>
              </a:xfrm>
              <a:custGeom>
                <a:avLst/>
                <a:gdLst>
                  <a:gd name="T0" fmla="*/ 6802 w 6847"/>
                  <a:gd name="T1" fmla="*/ 3333 h 6827"/>
                  <a:gd name="T2" fmla="*/ 3503 w 6847"/>
                  <a:gd name="T3" fmla="*/ 33 h 6827"/>
                  <a:gd name="T4" fmla="*/ 3422 w 6847"/>
                  <a:gd name="T5" fmla="*/ 0 h 6827"/>
                  <a:gd name="T6" fmla="*/ 123 w 6847"/>
                  <a:gd name="T7" fmla="*/ 0 h 6827"/>
                  <a:gd name="T8" fmla="*/ 18 w 6847"/>
                  <a:gd name="T9" fmla="*/ 70 h 6827"/>
                  <a:gd name="T10" fmla="*/ 42 w 6847"/>
                  <a:gd name="T11" fmla="*/ 194 h 6827"/>
                  <a:gd name="T12" fmla="*/ 3261 w 6847"/>
                  <a:gd name="T13" fmla="*/ 3413 h 6827"/>
                  <a:gd name="T14" fmla="*/ 42 w 6847"/>
                  <a:gd name="T15" fmla="*/ 6632 h 6827"/>
                  <a:gd name="T16" fmla="*/ 18 w 6847"/>
                  <a:gd name="T17" fmla="*/ 6756 h 6827"/>
                  <a:gd name="T18" fmla="*/ 123 w 6847"/>
                  <a:gd name="T19" fmla="*/ 6827 h 6827"/>
                  <a:gd name="T20" fmla="*/ 3422 w 6847"/>
                  <a:gd name="T21" fmla="*/ 6827 h 6827"/>
                  <a:gd name="T22" fmla="*/ 3503 w 6847"/>
                  <a:gd name="T23" fmla="*/ 6793 h 6827"/>
                  <a:gd name="T24" fmla="*/ 6802 w 6847"/>
                  <a:gd name="T25" fmla="*/ 3494 h 6827"/>
                  <a:gd name="T26" fmla="*/ 6802 w 6847"/>
                  <a:gd name="T27" fmla="*/ 333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847" h="6827">
                    <a:moveTo>
                      <a:pt x="6802" y="3333"/>
                    </a:moveTo>
                    <a:lnTo>
                      <a:pt x="3503" y="33"/>
                    </a:lnTo>
                    <a:cubicBezTo>
                      <a:pt x="3482" y="12"/>
                      <a:pt x="3453" y="0"/>
                      <a:pt x="3422" y="0"/>
                    </a:cubicBezTo>
                    <a:lnTo>
                      <a:pt x="123" y="0"/>
                    </a:lnTo>
                    <a:cubicBezTo>
                      <a:pt x="77" y="0"/>
                      <a:pt x="35" y="28"/>
                      <a:pt x="18" y="70"/>
                    </a:cubicBezTo>
                    <a:cubicBezTo>
                      <a:pt x="0" y="113"/>
                      <a:pt x="10" y="162"/>
                      <a:pt x="42" y="194"/>
                    </a:cubicBezTo>
                    <a:lnTo>
                      <a:pt x="3261" y="3413"/>
                    </a:lnTo>
                    <a:lnTo>
                      <a:pt x="42" y="6632"/>
                    </a:lnTo>
                    <a:cubicBezTo>
                      <a:pt x="10" y="6665"/>
                      <a:pt x="0" y="6714"/>
                      <a:pt x="18" y="6756"/>
                    </a:cubicBezTo>
                    <a:cubicBezTo>
                      <a:pt x="35" y="6799"/>
                      <a:pt x="77" y="6827"/>
                      <a:pt x="123" y="6827"/>
                    </a:cubicBezTo>
                    <a:lnTo>
                      <a:pt x="3422" y="6827"/>
                    </a:lnTo>
                    <a:cubicBezTo>
                      <a:pt x="3453" y="6827"/>
                      <a:pt x="3482" y="6815"/>
                      <a:pt x="3503" y="6793"/>
                    </a:cubicBezTo>
                    <a:lnTo>
                      <a:pt x="6802" y="3494"/>
                    </a:lnTo>
                    <a:cubicBezTo>
                      <a:pt x="6847" y="3449"/>
                      <a:pt x="6847" y="3377"/>
                      <a:pt x="6802" y="3333"/>
                    </a:cubicBezTo>
                    <a:close/>
                  </a:path>
                </a:pathLst>
              </a:cu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12" name="Bullet2" descr="6bfd2475-6a2b-4b5d-af6a-41bf0ba4a68f">
                <a:extLst>
                  <a:ext uri="{FF2B5EF4-FFF2-40B4-BE49-F238E27FC236}">
                    <a16:creationId xmlns:a16="http://schemas.microsoft.com/office/drawing/2014/main" id="{28A599F9-C514-93F2-6B98-373FB314101B}"/>
                  </a:ext>
                </a:extLst>
              </p:cNvPr>
              <p:cNvSpPr txBox="1"/>
              <p:nvPr/>
            </p:nvSpPr>
            <p:spPr>
              <a:xfrm>
                <a:off x="4371786" y="2424781"/>
                <a:ext cx="3435728" cy="558406"/>
              </a:xfrm>
              <a:prstGeom prst="rect">
                <a:avLst/>
              </a:prstGeom>
              <a:noFill/>
            </p:spPr>
            <p:txBody>
              <a:bodyPr wrap="square" rtlCol="0" anchor="ctr" anchorCtr="0">
                <a:normAutofit/>
              </a:bodyPr>
              <a:lstStyle/>
              <a:p>
                <a:pPr algn="l">
                  <a:lnSpc>
                    <a:spcPct val="120000"/>
                  </a:lnSpc>
                </a:pPr>
                <a:r>
                  <a:rPr lang="en-US" sz="1800" b="1" i="0" u="none">
                    <a:solidFill>
                      <a:srgbClr val="FFFFFF"/>
                    </a:solidFill>
                    <a:ea typeface="微软雅黑"/>
                  </a:rPr>
                  <a:t>减法与借位</a:t>
                </a:r>
              </a:p>
            </p:txBody>
          </p:sp>
          <p:sp>
            <p:nvSpPr>
              <p:cNvPr id="13" name="Text2" descr="584621b1-01ea-496d-ac21-824896fb02df">
                <a:extLst>
                  <a:ext uri="{FF2B5EF4-FFF2-40B4-BE49-F238E27FC236}">
                    <a16:creationId xmlns:a16="http://schemas.microsoft.com/office/drawing/2014/main" id="{7ECFE7AB-1A27-2831-B16C-85B2FAE4668E}"/>
                  </a:ext>
                </a:extLst>
              </p:cNvPr>
              <p:cNvSpPr txBox="1"/>
              <p:nvPr/>
            </p:nvSpPr>
            <p:spPr>
              <a:xfrm>
                <a:off x="4371786" y="3081924"/>
                <a:ext cx="3435728" cy="3052176"/>
              </a:xfrm>
              <a:prstGeom prst="rect">
                <a:avLst/>
              </a:prstGeom>
              <a:noFill/>
            </p:spPr>
            <p:txBody>
              <a:bodyPr wrap="square" rtlCol="0" anchor="t" anchorCtr="0">
                <a:normAutofit/>
              </a:bodyPr>
              <a:lstStyle/>
              <a:p>
                <a:pPr algn="l">
                  <a:lnSpc>
                    <a:spcPct val="120000"/>
                  </a:lnSpc>
                </a:pPr>
                <a:r>
                  <a:rPr lang="en-US" sz="1200" b="0" i="0" u="none" strike="noStrike">
                    <a:solidFill>
                      <a:srgbClr val="FFFFFF"/>
                    </a:solidFill>
                    <a:ea typeface="微软雅黑"/>
                  </a:rPr>
                  <a:t>大整数的减法运算也是逐位相减，当某一位不够减时，需要向高位借位。借位操作同样可以通过数学运算实现，确保减法运算的准确性。</a:t>
                </a:r>
              </a:p>
            </p:txBody>
          </p:sp>
        </p:grpSp>
        <p:grpSp>
          <p:nvGrpSpPr>
            <p:cNvPr id="20" name="组合 19" descr="554e118b-88b9-4d4e-a299-fa761e02e450">
              <a:extLst>
                <a:ext uri="{FF2B5EF4-FFF2-40B4-BE49-F238E27FC236}">
                  <a16:creationId xmlns:a16="http://schemas.microsoft.com/office/drawing/2014/main" id="{8807A170-DF92-F872-28EC-255152F7027F}"/>
                </a:ext>
              </a:extLst>
            </p:cNvPr>
            <p:cNvGrpSpPr/>
            <p:nvPr/>
          </p:nvGrpSpPr>
          <p:grpSpPr>
            <a:xfrm>
              <a:off x="8083172" y="2186959"/>
              <a:ext cx="3435728" cy="3947141"/>
              <a:chOff x="8083172" y="2186959"/>
              <a:chExt cx="3435728" cy="3947141"/>
            </a:xfrm>
          </p:grpSpPr>
          <p:sp>
            <p:nvSpPr>
              <p:cNvPr id="17" name="Bullet3" descr="59cfc1e0-8a8d-443e-a4ff-3b3de245fc30">
                <a:extLst>
                  <a:ext uri="{FF2B5EF4-FFF2-40B4-BE49-F238E27FC236}">
                    <a16:creationId xmlns:a16="http://schemas.microsoft.com/office/drawing/2014/main" id="{5124372D-9427-0902-C916-577A35D362E7}"/>
                  </a:ext>
                </a:extLst>
              </p:cNvPr>
              <p:cNvSpPr txBox="1"/>
              <p:nvPr/>
            </p:nvSpPr>
            <p:spPr>
              <a:xfrm>
                <a:off x="8083172" y="2424781"/>
                <a:ext cx="3435728" cy="558406"/>
              </a:xfrm>
              <a:prstGeom prst="rect">
                <a:avLst/>
              </a:prstGeom>
              <a:noFill/>
            </p:spPr>
            <p:txBody>
              <a:bodyPr wrap="square" rtlCol="0" anchor="ctr" anchorCtr="0">
                <a:normAutofit/>
              </a:bodyPr>
              <a:lstStyle/>
              <a:p>
                <a:pPr algn="l">
                  <a:lnSpc>
                    <a:spcPct val="120000"/>
                  </a:lnSpc>
                </a:pPr>
                <a:r>
                  <a:rPr lang="en-US" sz="1800" b="1" i="0" u="none">
                    <a:solidFill>
                      <a:srgbClr val="FFFFFF"/>
                    </a:solidFill>
                    <a:ea typeface="微软雅黑"/>
                  </a:rPr>
                  <a:t>除以2（用于快速幂）</a:t>
                </a:r>
              </a:p>
            </p:txBody>
          </p:sp>
          <p:sp>
            <p:nvSpPr>
              <p:cNvPr id="18" name="Text3" descr="53cece2d-085d-465f-ac5f-b7ad01b617dc">
                <a:extLst>
                  <a:ext uri="{FF2B5EF4-FFF2-40B4-BE49-F238E27FC236}">
                    <a16:creationId xmlns:a16="http://schemas.microsoft.com/office/drawing/2014/main" id="{897533ED-348D-2822-D85C-659853A294D0}"/>
                  </a:ext>
                </a:extLst>
              </p:cNvPr>
              <p:cNvSpPr txBox="1"/>
              <p:nvPr/>
            </p:nvSpPr>
            <p:spPr>
              <a:xfrm>
                <a:off x="8083172" y="3081924"/>
                <a:ext cx="3435728" cy="3052176"/>
              </a:xfrm>
              <a:prstGeom prst="rect">
                <a:avLst/>
              </a:prstGeom>
              <a:noFill/>
            </p:spPr>
            <p:txBody>
              <a:bodyPr wrap="square" rtlCol="0" anchor="t" anchorCtr="0">
                <a:normAutofit/>
              </a:bodyPr>
              <a:lstStyle/>
              <a:p>
                <a:pPr algn="l">
                  <a:lnSpc>
                    <a:spcPct val="120000"/>
                  </a:lnSpc>
                </a:pPr>
                <a:r>
                  <a:rPr lang="en-US" sz="1200" b="0" i="0" u="none" strike="noStrike">
                    <a:solidFill>
                      <a:srgbClr val="FFFFFF"/>
                    </a:solidFill>
                    <a:ea typeface="微软雅黑"/>
                  </a:rPr>
                  <a:t>大整数除以2的运算可以用于快速幂算法中。通过将每一位除以2，并记录余数，可以实现大整数的快速除法。这对于提高模幂运算的效率非常重要。</a:t>
                </a:r>
              </a:p>
            </p:txBody>
          </p:sp>
          <p:sp>
            <p:nvSpPr>
              <p:cNvPr id="16" name="Icon3" descr="d02fd8f0-c76c-4460-8d92-939d49178444">
                <a:extLst>
                  <a:ext uri="{FF2B5EF4-FFF2-40B4-BE49-F238E27FC236}">
                    <a16:creationId xmlns:a16="http://schemas.microsoft.com/office/drawing/2014/main" id="{A3752A79-0EB9-41D1-93D4-FEA03902117E}"/>
                  </a:ext>
                </a:extLst>
              </p:cNvPr>
              <p:cNvSpPr/>
              <p:nvPr/>
            </p:nvSpPr>
            <p:spPr>
              <a:xfrm>
                <a:off x="8248993" y="2186959"/>
                <a:ext cx="139700" cy="139085"/>
              </a:xfrm>
              <a:custGeom>
                <a:avLst/>
                <a:gdLst>
                  <a:gd name="T0" fmla="*/ 6802 w 6847"/>
                  <a:gd name="T1" fmla="*/ 3333 h 6827"/>
                  <a:gd name="T2" fmla="*/ 3503 w 6847"/>
                  <a:gd name="T3" fmla="*/ 33 h 6827"/>
                  <a:gd name="T4" fmla="*/ 3422 w 6847"/>
                  <a:gd name="T5" fmla="*/ 0 h 6827"/>
                  <a:gd name="T6" fmla="*/ 123 w 6847"/>
                  <a:gd name="T7" fmla="*/ 0 h 6827"/>
                  <a:gd name="T8" fmla="*/ 18 w 6847"/>
                  <a:gd name="T9" fmla="*/ 70 h 6827"/>
                  <a:gd name="T10" fmla="*/ 42 w 6847"/>
                  <a:gd name="T11" fmla="*/ 194 h 6827"/>
                  <a:gd name="T12" fmla="*/ 3261 w 6847"/>
                  <a:gd name="T13" fmla="*/ 3413 h 6827"/>
                  <a:gd name="T14" fmla="*/ 42 w 6847"/>
                  <a:gd name="T15" fmla="*/ 6632 h 6827"/>
                  <a:gd name="T16" fmla="*/ 18 w 6847"/>
                  <a:gd name="T17" fmla="*/ 6756 h 6827"/>
                  <a:gd name="T18" fmla="*/ 123 w 6847"/>
                  <a:gd name="T19" fmla="*/ 6827 h 6827"/>
                  <a:gd name="T20" fmla="*/ 3422 w 6847"/>
                  <a:gd name="T21" fmla="*/ 6827 h 6827"/>
                  <a:gd name="T22" fmla="*/ 3503 w 6847"/>
                  <a:gd name="T23" fmla="*/ 6793 h 6827"/>
                  <a:gd name="T24" fmla="*/ 6802 w 6847"/>
                  <a:gd name="T25" fmla="*/ 3494 h 6827"/>
                  <a:gd name="T26" fmla="*/ 6802 w 6847"/>
                  <a:gd name="T27" fmla="*/ 3333 h 6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847" h="6827">
                    <a:moveTo>
                      <a:pt x="6802" y="3333"/>
                    </a:moveTo>
                    <a:lnTo>
                      <a:pt x="3503" y="33"/>
                    </a:lnTo>
                    <a:cubicBezTo>
                      <a:pt x="3482" y="12"/>
                      <a:pt x="3453" y="0"/>
                      <a:pt x="3422" y="0"/>
                    </a:cubicBezTo>
                    <a:lnTo>
                      <a:pt x="123" y="0"/>
                    </a:lnTo>
                    <a:cubicBezTo>
                      <a:pt x="77" y="0"/>
                      <a:pt x="35" y="28"/>
                      <a:pt x="18" y="70"/>
                    </a:cubicBezTo>
                    <a:cubicBezTo>
                      <a:pt x="0" y="113"/>
                      <a:pt x="10" y="162"/>
                      <a:pt x="42" y="194"/>
                    </a:cubicBezTo>
                    <a:lnTo>
                      <a:pt x="3261" y="3413"/>
                    </a:lnTo>
                    <a:lnTo>
                      <a:pt x="42" y="6632"/>
                    </a:lnTo>
                    <a:cubicBezTo>
                      <a:pt x="10" y="6665"/>
                      <a:pt x="0" y="6714"/>
                      <a:pt x="18" y="6756"/>
                    </a:cubicBezTo>
                    <a:cubicBezTo>
                      <a:pt x="35" y="6799"/>
                      <a:pt x="77" y="6827"/>
                      <a:pt x="123" y="6827"/>
                    </a:cubicBezTo>
                    <a:lnTo>
                      <a:pt x="3422" y="6827"/>
                    </a:lnTo>
                    <a:cubicBezTo>
                      <a:pt x="3453" y="6827"/>
                      <a:pt x="3482" y="6815"/>
                      <a:pt x="3503" y="6793"/>
                    </a:cubicBezTo>
                    <a:lnTo>
                      <a:pt x="6802" y="3494"/>
                    </a:lnTo>
                    <a:cubicBezTo>
                      <a:pt x="6847" y="3449"/>
                      <a:pt x="6847" y="3377"/>
                      <a:pt x="6802" y="3333"/>
                    </a:cubicBezTo>
                    <a:close/>
                  </a:path>
                </a:pathLst>
              </a:cu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25000" lnSpcReduction="2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grpSp>
      </p:grpSp>
      <p:sp>
        <p:nvSpPr>
          <p:cNvPr id="2" name="标题 1"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a:solidFill>
                  <a:srgbClr val="FFFFFF"/>
                </a:solidFill>
                <a:ea typeface="微软雅黑"/>
              </a:rPr>
              <a:t>大整数基本运算实现</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f3a6d23e-f17e-4b19-9ad2-04b4a318ed61.source.3.zh-Hans.pptx" descr="36f49cbf-7056-4ca2-93d5-d1a11475d0bd">
            <a:extLst>
              <a:ext uri="{FF2B5EF4-FFF2-40B4-BE49-F238E27FC236}">
                <a16:creationId xmlns:a16="http://schemas.microsoft.com/office/drawing/2014/main" id="{A57C3D8B-04B0-2A1C-7843-7C3F3E9FEF5A}"/>
              </a:ext>
            </a:extLst>
          </p:cNvPr>
          <p:cNvGrpSpPr/>
          <p:nvPr/>
        </p:nvGrpSpPr>
        <p:grpSpPr>
          <a:xfrm>
            <a:off x="0" y="1130301"/>
            <a:ext cx="12192000" cy="5727699"/>
            <a:chOff x="0" y="1130301"/>
            <a:chExt cx="12192000" cy="5727699"/>
          </a:xfrm>
        </p:grpSpPr>
        <p:sp>
          <p:nvSpPr>
            <p:cNvPr id="8" name="PictureMisc1" descr="b5ba31a1-0c0f-4757-81c9-31d4a970ebb0">
              <a:extLst>
                <a:ext uri="{FF2B5EF4-FFF2-40B4-BE49-F238E27FC236}">
                  <a16:creationId xmlns:a16="http://schemas.microsoft.com/office/drawing/2014/main" id="{3A7815C4-9C8E-BF68-837D-E173ADFC2267}"/>
                </a:ext>
              </a:extLst>
            </p:cNvPr>
            <p:cNvSpPr>
              <a:spLocks/>
            </p:cNvSpPr>
            <p:nvPr/>
          </p:nvSpPr>
          <p:spPr>
            <a:xfrm>
              <a:off x="0" y="5562667"/>
              <a:ext cx="12192000" cy="1295333"/>
            </a:xfrm>
            <a:prstGeom prst="rect">
              <a:avLst/>
            </a:prstGeom>
            <a:blipFill rotWithShape="1">
              <a:blip r:embed="rId2"/>
              <a:srcRect/>
              <a:stretch>
                <a:fillRect t="-8697" b="-418803"/>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9" name="c" descr="27a94f48-4908-49ba-943e-9a235da7f91f">
              <a:extLst>
                <a:ext uri="{FF2B5EF4-FFF2-40B4-BE49-F238E27FC236}">
                  <a16:creationId xmlns:a16="http://schemas.microsoft.com/office/drawing/2014/main" id="{FE2003D7-E849-300E-51CE-8839802DFC3E}"/>
                </a:ext>
              </a:extLst>
            </p:cNvPr>
            <p:cNvSpPr/>
            <p:nvPr/>
          </p:nvSpPr>
          <p:spPr>
            <a:xfrm>
              <a:off x="660399" y="1777184"/>
              <a:ext cx="10858500" cy="4356916"/>
            </a:xfrm>
            <a:prstGeom prst="roundRect">
              <a:avLst>
                <a:gd name="adj" fmla="val 3015"/>
              </a:avLst>
            </a:prstGeom>
            <a:gradFill flip="none" rotWithShape="1">
              <a:gsLst>
                <a:gs pos="0">
                  <a:schemeClr val="bg1"/>
                </a:gs>
                <a:gs pos="100000">
                  <a:schemeClr val="bg1">
                    <a:alpha val="90000"/>
                  </a:schemeClr>
                </a:gs>
              </a:gsLst>
              <a:lin ang="5400000" scaled="1"/>
              <a:tileRect/>
            </a:gradFill>
            <a:ln w="6350">
              <a:gradFill flip="none" rotWithShape="1">
                <a:gsLst>
                  <a:gs pos="0">
                    <a:schemeClr val="tx1">
                      <a:alpha val="50000"/>
                    </a:schemeClr>
                  </a:gs>
                  <a:gs pos="100000">
                    <a:schemeClr val="tx1">
                      <a:alpha val="0"/>
                    </a:schemeClr>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lnSpc>
                  <a:spcPct val="120000"/>
                </a:lnSpc>
              </a:pPr>
              <a:endParaRPr/>
            </a:p>
          </p:txBody>
        </p:sp>
        <p:sp>
          <p:nvSpPr>
            <p:cNvPr id="10" name="Title" descr="c8a9289f-5edb-4fcf-be62-a0c67942e97a">
              <a:extLst>
                <a:ext uri="{FF2B5EF4-FFF2-40B4-BE49-F238E27FC236}">
                  <a16:creationId xmlns:a16="http://schemas.microsoft.com/office/drawing/2014/main" id="{5C340490-72D7-6E9D-9781-EEE0D631F461}"/>
                </a:ext>
              </a:extLst>
            </p:cNvPr>
            <p:cNvSpPr>
              <a:spLocks/>
            </p:cNvSpPr>
            <p:nvPr/>
          </p:nvSpPr>
          <p:spPr>
            <a:xfrm>
              <a:off x="660399" y="1130301"/>
              <a:ext cx="10858500" cy="586098"/>
            </a:xfrm>
            <a:prstGeom prst="rect">
              <a:avLst/>
            </a:prstGeom>
            <a:noFill/>
            <a:ln w="7620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anchor="ctr" anchorCtr="0">
              <a:normAutofit/>
            </a:bodyPr>
            <a:lstStyle/>
            <a:p>
              <a:pPr algn="l"/>
              <a:endParaRPr/>
            </a:p>
          </p:txBody>
        </p:sp>
        <p:grpSp>
          <p:nvGrpSpPr>
            <p:cNvPr id="37" name="组合 36" descr="fd55ba25-8397-4240-9285-a19f2d4f2d1e">
              <a:extLst>
                <a:ext uri="{FF2B5EF4-FFF2-40B4-BE49-F238E27FC236}">
                  <a16:creationId xmlns:a16="http://schemas.microsoft.com/office/drawing/2014/main" id="{B6820A27-9424-DE40-3D7A-0DC5E558CA8A}"/>
                </a:ext>
              </a:extLst>
            </p:cNvPr>
            <p:cNvGrpSpPr/>
            <p:nvPr/>
          </p:nvGrpSpPr>
          <p:grpSpPr>
            <a:xfrm>
              <a:off x="885625" y="1931699"/>
              <a:ext cx="5038520" cy="1822378"/>
              <a:chOff x="885625" y="1931699"/>
              <a:chExt cx="5038520" cy="1822378"/>
            </a:xfrm>
          </p:grpSpPr>
          <p:sp>
            <p:nvSpPr>
              <p:cNvPr id="34" name="Number1" descr="07afbc34-0cf4-4645-90c3-4b4dedbfed61">
                <a:extLst>
                  <a:ext uri="{FF2B5EF4-FFF2-40B4-BE49-F238E27FC236}">
                    <a16:creationId xmlns:a16="http://schemas.microsoft.com/office/drawing/2014/main" id="{AE89D52D-C3BA-EF2C-57C9-1DEC4664E545}"/>
                  </a:ext>
                </a:extLst>
              </p:cNvPr>
              <p:cNvSpPr/>
              <p:nvPr/>
            </p:nvSpPr>
            <p:spPr>
              <a:xfrm flipH="1">
                <a:off x="885625" y="1931699"/>
                <a:ext cx="472502" cy="472662"/>
              </a:xfrm>
              <a:prstGeom prst="ellipse">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1" i="0" u="none">
                    <a:solidFill>
                      <a:srgbClr val="34C4DC"/>
                    </a:solidFill>
                    <a:latin typeface="Arial"/>
                  </a:rPr>
                  <a:t>1</a:t>
                </a:r>
              </a:p>
            </p:txBody>
          </p:sp>
          <p:sp>
            <p:nvSpPr>
              <p:cNvPr id="35" name="Bullet1" descr="79375e0c-a482-4e12-8374-fae2a389e3f8">
                <a:extLst>
                  <a:ext uri="{FF2B5EF4-FFF2-40B4-BE49-F238E27FC236}">
                    <a16:creationId xmlns:a16="http://schemas.microsoft.com/office/drawing/2014/main" id="{1B079846-DD93-7DDE-3763-763EE172A75C}"/>
                  </a:ext>
                </a:extLst>
              </p:cNvPr>
              <p:cNvSpPr txBox="1">
                <a:spLocks/>
              </p:cNvSpPr>
              <p:nvPr/>
            </p:nvSpPr>
            <p:spPr>
              <a:xfrm>
                <a:off x="1383527" y="1931699"/>
                <a:ext cx="454061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FFFFFF"/>
                    </a:solidFill>
                    <a:ea typeface="微软雅黑"/>
                  </a:rPr>
                  <a:t>普通O(n²)乘法</a:t>
                </a:r>
              </a:p>
            </p:txBody>
          </p:sp>
          <p:sp>
            <p:nvSpPr>
              <p:cNvPr id="36" name="Text1" descr="cffa9084-c7e2-4614-a604-dc7906e9bf8d">
                <a:extLst>
                  <a:ext uri="{FF2B5EF4-FFF2-40B4-BE49-F238E27FC236}">
                    <a16:creationId xmlns:a16="http://schemas.microsoft.com/office/drawing/2014/main" id="{CD462BE0-EFA8-5A18-CBA5-A56AA9443B4A}"/>
                  </a:ext>
                </a:extLst>
              </p:cNvPr>
              <p:cNvSpPr txBox="1">
                <a:spLocks/>
              </p:cNvSpPr>
              <p:nvPr/>
            </p:nvSpPr>
            <p:spPr>
              <a:xfrm>
                <a:off x="1383527" y="2404361"/>
                <a:ext cx="4540618" cy="1349716"/>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FFFFFF"/>
                    </a:solidFill>
                    <a:ea typeface="微软雅黑"/>
                  </a:rPr>
                  <a:t>普通的大整数乘法采用逐位相乘的方式，时间复杂度为O(n²)。当大整数的位数较大时，这种方法的效率较低，无法满足实际需求。</a:t>
                </a:r>
              </a:p>
            </p:txBody>
          </p:sp>
        </p:grpSp>
        <p:grpSp>
          <p:nvGrpSpPr>
            <p:cNvPr id="38" name="组合 37" descr="ecc9ad7e-0a57-4e00-983e-f3f8941e1f83">
              <a:extLst>
                <a:ext uri="{FF2B5EF4-FFF2-40B4-BE49-F238E27FC236}">
                  <a16:creationId xmlns:a16="http://schemas.microsoft.com/office/drawing/2014/main" id="{CAB12542-F11A-B4DE-4EE8-E3024B6AB3E6}"/>
                </a:ext>
              </a:extLst>
            </p:cNvPr>
            <p:cNvGrpSpPr/>
            <p:nvPr/>
          </p:nvGrpSpPr>
          <p:grpSpPr>
            <a:xfrm>
              <a:off x="885625" y="4204072"/>
              <a:ext cx="5038520" cy="1822378"/>
              <a:chOff x="885625" y="4204072"/>
              <a:chExt cx="5038520" cy="1822378"/>
            </a:xfrm>
          </p:grpSpPr>
          <p:sp>
            <p:nvSpPr>
              <p:cNvPr id="27" name="Number2" descr="32f842ae-f94b-4bd5-b67e-bf18c4875598">
                <a:extLst>
                  <a:ext uri="{FF2B5EF4-FFF2-40B4-BE49-F238E27FC236}">
                    <a16:creationId xmlns:a16="http://schemas.microsoft.com/office/drawing/2014/main" id="{FEAAE07E-0936-9FEF-284B-5241DDDEF95C}"/>
                  </a:ext>
                </a:extLst>
              </p:cNvPr>
              <p:cNvSpPr/>
              <p:nvPr/>
            </p:nvSpPr>
            <p:spPr>
              <a:xfrm flipH="1">
                <a:off x="885625" y="4204072"/>
                <a:ext cx="472502" cy="472662"/>
              </a:xfrm>
              <a:prstGeom prst="ellipse">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1" i="0" u="none">
                    <a:solidFill>
                      <a:srgbClr val="34C4DC"/>
                    </a:solidFill>
                    <a:latin typeface="Arial"/>
                  </a:rPr>
                  <a:t>2</a:t>
                </a:r>
              </a:p>
            </p:txBody>
          </p:sp>
          <p:sp>
            <p:nvSpPr>
              <p:cNvPr id="28" name="Bullet2" descr="6d64d2b8-b6f4-4d05-a979-64ce62ade2b4">
                <a:extLst>
                  <a:ext uri="{FF2B5EF4-FFF2-40B4-BE49-F238E27FC236}">
                    <a16:creationId xmlns:a16="http://schemas.microsoft.com/office/drawing/2014/main" id="{FAC3CE05-DA6E-4515-DB61-0E8C0117A62A}"/>
                  </a:ext>
                </a:extLst>
              </p:cNvPr>
              <p:cNvSpPr txBox="1">
                <a:spLocks/>
              </p:cNvSpPr>
              <p:nvPr/>
            </p:nvSpPr>
            <p:spPr>
              <a:xfrm>
                <a:off x="1383527" y="4204072"/>
                <a:ext cx="454061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FFFFFF"/>
                    </a:solidFill>
                    <a:latin typeface="Arial"/>
                  </a:rPr>
                  <a:t>Karatsuba乘法思想</a:t>
                </a:r>
              </a:p>
            </p:txBody>
          </p:sp>
          <p:sp>
            <p:nvSpPr>
              <p:cNvPr id="29" name="Text2" descr="063f33fe-ac01-49a5-bc9d-6ffed31906fd">
                <a:extLst>
                  <a:ext uri="{FF2B5EF4-FFF2-40B4-BE49-F238E27FC236}">
                    <a16:creationId xmlns:a16="http://schemas.microsoft.com/office/drawing/2014/main" id="{C1AC37A7-3FCE-6B2C-9E2A-A1727D65CCBB}"/>
                  </a:ext>
                </a:extLst>
              </p:cNvPr>
              <p:cNvSpPr txBox="1">
                <a:spLocks/>
              </p:cNvSpPr>
              <p:nvPr/>
            </p:nvSpPr>
            <p:spPr>
              <a:xfrm>
                <a:off x="1383527" y="4676734"/>
                <a:ext cx="4540618" cy="1349716"/>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FFFFFF"/>
                    </a:solidFill>
                    <a:latin typeface="Arial"/>
                  </a:rPr>
                  <a:t>Karatsuba乘法是一种分治算法，它将大整数分成两部分，分别计算它们的乘积，然后通过一些简单的加减乘运算得到最终的结果。其时间复杂度可以降低到O(n^log₃4)，在大整数位数较大时具有明显的优势。</a:t>
                </a:r>
              </a:p>
            </p:txBody>
          </p:sp>
        </p:grpSp>
        <p:grpSp>
          <p:nvGrpSpPr>
            <p:cNvPr id="39" name="组合 38" descr="751f78e8-9043-4dfa-be45-2385d2eb38a4">
              <a:extLst>
                <a:ext uri="{FF2B5EF4-FFF2-40B4-BE49-F238E27FC236}">
                  <a16:creationId xmlns:a16="http://schemas.microsoft.com/office/drawing/2014/main" id="{A6D715BA-7FA9-9EC7-E538-1D954AF63BDA}"/>
                </a:ext>
              </a:extLst>
            </p:cNvPr>
            <p:cNvGrpSpPr/>
            <p:nvPr/>
          </p:nvGrpSpPr>
          <p:grpSpPr>
            <a:xfrm>
              <a:off x="6026873" y="3044453"/>
              <a:ext cx="5038520" cy="2981997"/>
              <a:chOff x="6026873" y="3044453"/>
              <a:chExt cx="5038520" cy="2981997"/>
            </a:xfrm>
          </p:grpSpPr>
          <p:sp>
            <p:nvSpPr>
              <p:cNvPr id="24" name="Number3" descr="9e15b6b8-890d-49aa-82b7-f8c0df0d073c">
                <a:extLst>
                  <a:ext uri="{FF2B5EF4-FFF2-40B4-BE49-F238E27FC236}">
                    <a16:creationId xmlns:a16="http://schemas.microsoft.com/office/drawing/2014/main" id="{A13C4D32-44AE-0C2D-432E-3A37881C6A88}"/>
                  </a:ext>
                </a:extLst>
              </p:cNvPr>
              <p:cNvSpPr/>
              <p:nvPr/>
            </p:nvSpPr>
            <p:spPr>
              <a:xfrm flipH="1">
                <a:off x="6026873" y="3044453"/>
                <a:ext cx="472502" cy="472662"/>
              </a:xfrm>
              <a:prstGeom prst="ellipse">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r>
                  <a:rPr lang="en-US" sz="1200" b="1" i="0" u="none">
                    <a:solidFill>
                      <a:srgbClr val="34C4DC"/>
                    </a:solidFill>
                    <a:latin typeface="Arial"/>
                  </a:rPr>
                  <a:t>3</a:t>
                </a:r>
              </a:p>
            </p:txBody>
          </p:sp>
          <p:sp>
            <p:nvSpPr>
              <p:cNvPr id="25" name="Bullet3" descr="e4468241-d2fd-4d33-b6b6-375582a0350a">
                <a:extLst>
                  <a:ext uri="{FF2B5EF4-FFF2-40B4-BE49-F238E27FC236}">
                    <a16:creationId xmlns:a16="http://schemas.microsoft.com/office/drawing/2014/main" id="{494843C2-4C9B-38EA-2027-286E7B65B403}"/>
                  </a:ext>
                </a:extLst>
              </p:cNvPr>
              <p:cNvSpPr txBox="1">
                <a:spLocks/>
              </p:cNvSpPr>
              <p:nvPr/>
            </p:nvSpPr>
            <p:spPr>
              <a:xfrm>
                <a:off x="6524775" y="3044453"/>
                <a:ext cx="454061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FFFFFF"/>
                    </a:solidFill>
                    <a:ea typeface="微软雅黑"/>
                  </a:rPr>
                  <a:t>不同规模下的性能选择</a:t>
                </a:r>
              </a:p>
            </p:txBody>
          </p:sp>
          <p:sp>
            <p:nvSpPr>
              <p:cNvPr id="26" name="Text3" descr="fb5982ab-b12b-4bf8-bae6-8d5523d2f9f1">
                <a:extLst>
                  <a:ext uri="{FF2B5EF4-FFF2-40B4-BE49-F238E27FC236}">
                    <a16:creationId xmlns:a16="http://schemas.microsoft.com/office/drawing/2014/main" id="{BFB52404-1060-9C49-7D1B-5CF73656E7F6}"/>
                  </a:ext>
                </a:extLst>
              </p:cNvPr>
              <p:cNvSpPr txBox="1">
                <a:spLocks/>
              </p:cNvSpPr>
              <p:nvPr/>
            </p:nvSpPr>
            <p:spPr>
              <a:xfrm>
                <a:off x="6524775" y="3517115"/>
                <a:ext cx="4540618" cy="2509335"/>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FFFFFF"/>
                    </a:solidFill>
                    <a:ea typeface="微软雅黑"/>
                  </a:rPr>
                  <a:t>在实际应用中，需要根据大整数的规模选择合适的乘法算法。当大整数位数较小时，普通O(n²)乘法可能更快；当大整数位数较大时，Karatsuba乘法则表现出更好的性能。</a:t>
                </a:r>
              </a:p>
            </p:txBody>
          </p:sp>
        </p:grpSp>
      </p:grpSp>
      <p:sp>
        <p:nvSpPr>
          <p:cNvPr id="2" name="标题 1"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a:solidFill>
                  <a:srgbClr val="FFFFFF"/>
                </a:solidFill>
                <a:ea typeface="微软雅黑"/>
              </a:rPr>
              <a:t>大整数乘法优化</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209b288e-08fb-4dd4-aa76-a4b68b900cab.source.3.zh-Hans.pptx" descr="080f8882-b540-4411-9210-1e2255fb48ed">
            <a:extLst>
              <a:ext uri="{FF2B5EF4-FFF2-40B4-BE49-F238E27FC236}">
                <a16:creationId xmlns:a16="http://schemas.microsoft.com/office/drawing/2014/main" id="{56FD7539-1289-558E-997D-49C156A78256}"/>
              </a:ext>
            </a:extLst>
          </p:cNvPr>
          <p:cNvGrpSpPr/>
          <p:nvPr/>
        </p:nvGrpSpPr>
        <p:grpSpPr>
          <a:xfrm>
            <a:off x="660400" y="1130300"/>
            <a:ext cx="10858500" cy="5003800"/>
            <a:chOff x="660400" y="1130300"/>
            <a:chExt cx="10858500" cy="5003800"/>
          </a:xfrm>
        </p:grpSpPr>
        <p:sp>
          <p:nvSpPr>
            <p:cNvPr id="8" name="Title" descr="08333e16-713c-435d-9fe9-1d8b7971f187">
              <a:extLst>
                <a:ext uri="{FF2B5EF4-FFF2-40B4-BE49-F238E27FC236}">
                  <a16:creationId xmlns:a16="http://schemas.microsoft.com/office/drawing/2014/main" id="{748D3429-CE1D-FFF0-8CD0-E6DD2ADBBD6C}"/>
                </a:ext>
              </a:extLst>
            </p:cNvPr>
            <p:cNvSpPr>
              <a:spLocks/>
            </p:cNvSpPr>
            <p:nvPr/>
          </p:nvSpPr>
          <p:spPr>
            <a:xfrm>
              <a:off x="660400" y="1130300"/>
              <a:ext cx="10858500" cy="4901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a:p>
          </p:txBody>
        </p:sp>
        <p:grpSp>
          <p:nvGrpSpPr>
            <p:cNvPr id="7" name="组合 6" descr="b1dd61c6-f4f8-424f-baa1-e385a881c989">
              <a:extLst>
                <a:ext uri="{FF2B5EF4-FFF2-40B4-BE49-F238E27FC236}">
                  <a16:creationId xmlns:a16="http://schemas.microsoft.com/office/drawing/2014/main" id="{57B99AC8-0583-E565-BE92-8D22AEEC9E95}"/>
                </a:ext>
              </a:extLst>
            </p:cNvPr>
            <p:cNvGrpSpPr/>
            <p:nvPr/>
          </p:nvGrpSpPr>
          <p:grpSpPr>
            <a:xfrm>
              <a:off x="660400" y="1655179"/>
              <a:ext cx="10858500" cy="1331051"/>
              <a:chOff x="660400" y="1655179"/>
              <a:chExt cx="10858500" cy="1331051"/>
            </a:xfrm>
          </p:grpSpPr>
          <p:sp>
            <p:nvSpPr>
              <p:cNvPr id="6" name="ComponentBackground1" descr="25d1fc54-88c9-4647-9da7-909bb75edaef">
                <a:extLst>
                  <a:ext uri="{FF2B5EF4-FFF2-40B4-BE49-F238E27FC236}">
                    <a16:creationId xmlns:a16="http://schemas.microsoft.com/office/drawing/2014/main" id="{5DF76B54-72A8-A151-D83F-EE981552DCA6}"/>
                  </a:ext>
                </a:extLst>
              </p:cNvPr>
              <p:cNvSpPr/>
              <p:nvPr/>
            </p:nvSpPr>
            <p:spPr>
              <a:xfrm>
                <a:off x="660400" y="1655179"/>
                <a:ext cx="10858500" cy="1331051"/>
              </a:xfrm>
              <a:prstGeom prst="roundRect">
                <a:avLst>
                  <a:gd name="adj" fmla="val 7854"/>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3" name="Text1" descr="200e7e23-1b04-4611-9845-5702b81167a8">
                <a:extLst>
                  <a:ext uri="{FF2B5EF4-FFF2-40B4-BE49-F238E27FC236}">
                    <a16:creationId xmlns:a16="http://schemas.microsoft.com/office/drawing/2014/main" id="{32C6CE0C-D239-84FC-53D9-2D60439F388F}"/>
                  </a:ext>
                </a:extLst>
              </p:cNvPr>
              <p:cNvSpPr txBox="1">
                <a:spLocks/>
              </p:cNvSpPr>
              <p:nvPr/>
            </p:nvSpPr>
            <p:spPr>
              <a:xfrm>
                <a:off x="1232157" y="2088336"/>
                <a:ext cx="10197843" cy="783593"/>
              </a:xfrm>
              <a:prstGeom prst="rect">
                <a:avLst/>
              </a:prstGeom>
              <a:noFill/>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FFFFFF"/>
                    </a:solidFill>
                    <a:ea typeface="微软雅黑"/>
                  </a:rPr>
                  <a:t>在RSA算法中，素数是生成密钥的基础。模数n必须是两个大素数的乘积，才能保证算法的安全性。因此，判断一个数是否为素数是RSA算法中的关键问题。</a:t>
                </a:r>
              </a:p>
            </p:txBody>
          </p:sp>
          <p:sp>
            <p:nvSpPr>
              <p:cNvPr id="4" name="Bullet1" descr="2be4ad23-ed70-4668-a00d-e569ef1e3942">
                <a:extLst>
                  <a:ext uri="{FF2B5EF4-FFF2-40B4-BE49-F238E27FC236}">
                    <a16:creationId xmlns:a16="http://schemas.microsoft.com/office/drawing/2014/main" id="{BA5443AE-4AC2-8A48-67B9-9DB2D4AA5AEE}"/>
                  </a:ext>
                </a:extLst>
              </p:cNvPr>
              <p:cNvSpPr txBox="1">
                <a:spLocks/>
              </p:cNvSpPr>
              <p:nvPr/>
            </p:nvSpPr>
            <p:spPr>
              <a:xfrm>
                <a:off x="1232157" y="1697384"/>
                <a:ext cx="10197843" cy="390954"/>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strike="noStrike">
                    <a:solidFill>
                      <a:srgbClr val="FFFFFF"/>
                    </a:solidFill>
                    <a:ea typeface="微软雅黑"/>
                  </a:rPr>
                  <a:t>素数在RSA中的关键作用</a:t>
                </a:r>
              </a:p>
            </p:txBody>
          </p:sp>
          <p:sp>
            <p:nvSpPr>
              <p:cNvPr id="26" name="Number1" descr="279b8fb5-8f3a-40af-9cbd-f2ed9a90f125">
                <a:extLst>
                  <a:ext uri="{FF2B5EF4-FFF2-40B4-BE49-F238E27FC236}">
                    <a16:creationId xmlns:a16="http://schemas.microsoft.com/office/drawing/2014/main" id="{84FADAD4-C0D6-3DC9-ACF3-74605DBD71F9}"/>
                  </a:ext>
                </a:extLst>
              </p:cNvPr>
              <p:cNvSpPr>
                <a:spLocks/>
              </p:cNvSpPr>
              <p:nvPr/>
            </p:nvSpPr>
            <p:spPr>
              <a:xfrm>
                <a:off x="660400" y="1657350"/>
                <a:ext cx="456814" cy="4568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1600" b="0" i="0" u="none">
                    <a:solidFill>
                      <a:srgbClr val="FFFFFF"/>
                    </a:solidFill>
                    <a:latin typeface="Arial"/>
                  </a:rPr>
                  <a:t>1</a:t>
                </a:r>
              </a:p>
            </p:txBody>
          </p:sp>
        </p:grpSp>
        <p:grpSp>
          <p:nvGrpSpPr>
            <p:cNvPr id="9" name="组合 8" descr="3ebef08f-eb1b-464b-af5b-0ce953d8a2dd">
              <a:extLst>
                <a:ext uri="{FF2B5EF4-FFF2-40B4-BE49-F238E27FC236}">
                  <a16:creationId xmlns:a16="http://schemas.microsoft.com/office/drawing/2014/main" id="{B1AA6C1E-8A55-ECE1-A67D-9D1763137689}"/>
                </a:ext>
              </a:extLst>
            </p:cNvPr>
            <p:cNvGrpSpPr/>
            <p:nvPr/>
          </p:nvGrpSpPr>
          <p:grpSpPr>
            <a:xfrm>
              <a:off x="660400" y="3229114"/>
              <a:ext cx="10858500" cy="1331051"/>
              <a:chOff x="660400" y="2791234"/>
              <a:chExt cx="10858500" cy="1331051"/>
            </a:xfrm>
          </p:grpSpPr>
          <p:sp>
            <p:nvSpPr>
              <p:cNvPr id="146" name="ComponentBackground2" descr="4037f9a9-1825-4da7-b7ea-a6ddb06e8277">
                <a:extLst>
                  <a:ext uri="{FF2B5EF4-FFF2-40B4-BE49-F238E27FC236}">
                    <a16:creationId xmlns:a16="http://schemas.microsoft.com/office/drawing/2014/main" id="{AC8EEDD4-DC84-BB67-8641-7DAEC7E5249C}"/>
                  </a:ext>
                </a:extLst>
              </p:cNvPr>
              <p:cNvSpPr/>
              <p:nvPr/>
            </p:nvSpPr>
            <p:spPr>
              <a:xfrm>
                <a:off x="660400" y="2791234"/>
                <a:ext cx="10858500" cy="1331051"/>
              </a:xfrm>
              <a:prstGeom prst="roundRect">
                <a:avLst>
                  <a:gd name="adj" fmla="val 7854"/>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48" name="Text2" descr="a7ae8571-b7d1-45f1-8ba0-a300ff69bd6a">
                <a:extLst>
                  <a:ext uri="{FF2B5EF4-FFF2-40B4-BE49-F238E27FC236}">
                    <a16:creationId xmlns:a16="http://schemas.microsoft.com/office/drawing/2014/main" id="{DE745480-5300-D4CC-0FBD-FFE65A110115}"/>
                  </a:ext>
                </a:extLst>
              </p:cNvPr>
              <p:cNvSpPr txBox="1">
                <a:spLocks/>
              </p:cNvSpPr>
              <p:nvPr/>
            </p:nvSpPr>
            <p:spPr>
              <a:xfrm>
                <a:off x="1232157" y="3224391"/>
                <a:ext cx="10197843" cy="783593"/>
              </a:xfrm>
              <a:prstGeom prst="rect">
                <a:avLst/>
              </a:prstGeom>
              <a:noFill/>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FFFFFF"/>
                    </a:solidFill>
                    <a:ea typeface="微软雅黑"/>
                  </a:rPr>
                  <a:t>试除法是一种简单的素数判定方法，它通过判断一个数能否被小于它的所有正整数整除来确定其是否为素数。然而，当数的位数较大时，试除法的时间复杂度非常高，无法满足实际需求。</a:t>
                </a:r>
              </a:p>
            </p:txBody>
          </p:sp>
          <p:sp>
            <p:nvSpPr>
              <p:cNvPr id="149" name="Bullet2" descr="94efb225-508b-4d9a-a971-61497285f439">
                <a:extLst>
                  <a:ext uri="{FF2B5EF4-FFF2-40B4-BE49-F238E27FC236}">
                    <a16:creationId xmlns:a16="http://schemas.microsoft.com/office/drawing/2014/main" id="{0497B67B-76D1-1D23-23A6-0E878A6457D7}"/>
                  </a:ext>
                </a:extLst>
              </p:cNvPr>
              <p:cNvSpPr txBox="1">
                <a:spLocks/>
              </p:cNvSpPr>
              <p:nvPr/>
            </p:nvSpPr>
            <p:spPr>
              <a:xfrm>
                <a:off x="1232157" y="2833439"/>
                <a:ext cx="10197843" cy="390954"/>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strike="noStrike">
                    <a:solidFill>
                      <a:srgbClr val="FFFFFF"/>
                    </a:solidFill>
                    <a:ea typeface="微软雅黑"/>
                  </a:rPr>
                  <a:t>试除法的不足</a:t>
                </a:r>
              </a:p>
            </p:txBody>
          </p:sp>
          <p:sp>
            <p:nvSpPr>
              <p:cNvPr id="145" name="Number2" descr="4ac02057-6d2c-4e96-9976-f368c92935c9">
                <a:extLst>
                  <a:ext uri="{FF2B5EF4-FFF2-40B4-BE49-F238E27FC236}">
                    <a16:creationId xmlns:a16="http://schemas.microsoft.com/office/drawing/2014/main" id="{84D350E5-6F71-8BC9-BB37-F3E0E1D2FE10}"/>
                  </a:ext>
                </a:extLst>
              </p:cNvPr>
              <p:cNvSpPr>
                <a:spLocks/>
              </p:cNvSpPr>
              <p:nvPr/>
            </p:nvSpPr>
            <p:spPr>
              <a:xfrm>
                <a:off x="660400" y="2793405"/>
                <a:ext cx="456814" cy="4568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1600" b="0" i="0" u="none">
                    <a:solidFill>
                      <a:srgbClr val="FFFFFF"/>
                    </a:solidFill>
                    <a:latin typeface="Arial"/>
                  </a:rPr>
                  <a:t>2</a:t>
                </a:r>
              </a:p>
            </p:txBody>
          </p:sp>
        </p:grpSp>
        <p:grpSp>
          <p:nvGrpSpPr>
            <p:cNvPr id="10" name="组合 9" descr="3944699b-7aad-4666-836b-6b0885156356">
              <a:extLst>
                <a:ext uri="{FF2B5EF4-FFF2-40B4-BE49-F238E27FC236}">
                  <a16:creationId xmlns:a16="http://schemas.microsoft.com/office/drawing/2014/main" id="{74D5124A-447E-1658-1160-3EAB50B3189D}"/>
                </a:ext>
              </a:extLst>
            </p:cNvPr>
            <p:cNvGrpSpPr/>
            <p:nvPr/>
          </p:nvGrpSpPr>
          <p:grpSpPr>
            <a:xfrm>
              <a:off x="660400" y="4803049"/>
              <a:ext cx="10858500" cy="1331051"/>
              <a:chOff x="660400" y="3927289"/>
              <a:chExt cx="10858500" cy="1331051"/>
            </a:xfrm>
          </p:grpSpPr>
          <p:sp>
            <p:nvSpPr>
              <p:cNvPr id="153" name="ComponentBackground3" descr="ba44688e-1da3-445f-9aae-fed7f9c62ce4">
                <a:extLst>
                  <a:ext uri="{FF2B5EF4-FFF2-40B4-BE49-F238E27FC236}">
                    <a16:creationId xmlns:a16="http://schemas.microsoft.com/office/drawing/2014/main" id="{99498F78-BAA7-8FCA-91D2-770DC812350E}"/>
                  </a:ext>
                </a:extLst>
              </p:cNvPr>
              <p:cNvSpPr/>
              <p:nvPr/>
            </p:nvSpPr>
            <p:spPr>
              <a:xfrm>
                <a:off x="660400" y="3927289"/>
                <a:ext cx="10858500" cy="1331051"/>
              </a:xfrm>
              <a:prstGeom prst="roundRect">
                <a:avLst>
                  <a:gd name="adj" fmla="val 7854"/>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55" name="Text3" descr="828eaccd-e478-4f9c-8f36-052b1dd4559f">
                <a:extLst>
                  <a:ext uri="{FF2B5EF4-FFF2-40B4-BE49-F238E27FC236}">
                    <a16:creationId xmlns:a16="http://schemas.microsoft.com/office/drawing/2014/main" id="{9AF26C84-FB90-5D37-030F-561765CEAD87}"/>
                  </a:ext>
                </a:extLst>
              </p:cNvPr>
              <p:cNvSpPr txBox="1">
                <a:spLocks/>
              </p:cNvSpPr>
              <p:nvPr/>
            </p:nvSpPr>
            <p:spPr>
              <a:xfrm>
                <a:off x="1232157" y="4360446"/>
                <a:ext cx="10197843" cy="783593"/>
              </a:xfrm>
              <a:prstGeom prst="rect">
                <a:avLst/>
              </a:prstGeom>
              <a:noFill/>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FFFFFF"/>
                    </a:solidFill>
                    <a:ea typeface="微软雅黑"/>
                  </a:rPr>
                  <a:t>由于试除法等确定性算法在大数素性判定上的不足，概率型算法应运而生。概率型算法可以在一定概率下判断一个数是否为素数，虽然不能保证100%的准确性，但可以在可接受的时间内得到较准确的结果。</a:t>
                </a:r>
              </a:p>
            </p:txBody>
          </p:sp>
          <p:sp>
            <p:nvSpPr>
              <p:cNvPr id="156" name="Bullet3" descr="131c9396-7bf8-45ad-9658-a86d418e9733">
                <a:extLst>
                  <a:ext uri="{FF2B5EF4-FFF2-40B4-BE49-F238E27FC236}">
                    <a16:creationId xmlns:a16="http://schemas.microsoft.com/office/drawing/2014/main" id="{9BEFAC9B-6E3F-C7D0-BBD8-80AAFC060977}"/>
                  </a:ext>
                </a:extLst>
              </p:cNvPr>
              <p:cNvSpPr txBox="1">
                <a:spLocks/>
              </p:cNvSpPr>
              <p:nvPr/>
            </p:nvSpPr>
            <p:spPr>
              <a:xfrm>
                <a:off x="1232157" y="3969494"/>
                <a:ext cx="10197843" cy="390954"/>
              </a:xfrm>
              <a:prstGeom prst="rect">
                <a:avLst/>
              </a:prstGeom>
              <a:noFill/>
            </p:spPr>
            <p:txBody>
              <a:bodyPr wrap="square" rtlCol="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strike="noStrike">
                    <a:solidFill>
                      <a:srgbClr val="FFFFFF"/>
                    </a:solidFill>
                    <a:ea typeface="微软雅黑"/>
                  </a:rPr>
                  <a:t>概率型算法的必要性</a:t>
                </a:r>
              </a:p>
            </p:txBody>
          </p:sp>
          <p:sp>
            <p:nvSpPr>
              <p:cNvPr id="152" name="Number3" descr="6d1ae77d-6156-44d7-a95a-30d6c317a62f">
                <a:extLst>
                  <a:ext uri="{FF2B5EF4-FFF2-40B4-BE49-F238E27FC236}">
                    <a16:creationId xmlns:a16="http://schemas.microsoft.com/office/drawing/2014/main" id="{7C355033-361D-87A5-AAF1-890327FE7F21}"/>
                  </a:ext>
                </a:extLst>
              </p:cNvPr>
              <p:cNvSpPr>
                <a:spLocks/>
              </p:cNvSpPr>
              <p:nvPr/>
            </p:nvSpPr>
            <p:spPr>
              <a:xfrm>
                <a:off x="660400" y="3929460"/>
                <a:ext cx="456814" cy="456814"/>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1600" b="0" i="0" u="none">
                    <a:solidFill>
                      <a:srgbClr val="FFFFFF"/>
                    </a:solidFill>
                    <a:latin typeface="Arial"/>
                  </a:rPr>
                  <a:t>3</a:t>
                </a:r>
              </a:p>
            </p:txBody>
          </p:sp>
        </p:grpSp>
      </p:grpSp>
      <p:sp>
        <p:nvSpPr>
          <p:cNvPr id="2" name="标题 1"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a:solidFill>
                  <a:srgbClr val="FFFFFF"/>
                </a:solidFill>
                <a:ea typeface="微软雅黑"/>
              </a:rPr>
              <a:t>素性判定问题引入</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37e9254f-cd01-4222-a8b3-518de6c71795.source.3.zh-Hans.pptx" descr="37fc26f4-d437-4982-8e9c-510625fb3c1c">
            <a:extLst>
              <a:ext uri="{FF2B5EF4-FFF2-40B4-BE49-F238E27FC236}">
                <a16:creationId xmlns:a16="http://schemas.microsoft.com/office/drawing/2014/main" id="{4B67268B-40CA-998D-B7BC-F51C28E8AF21}"/>
              </a:ext>
            </a:extLst>
          </p:cNvPr>
          <p:cNvGrpSpPr/>
          <p:nvPr/>
        </p:nvGrpSpPr>
        <p:grpSpPr>
          <a:xfrm>
            <a:off x="660399" y="1130301"/>
            <a:ext cx="10858501" cy="5003799"/>
            <a:chOff x="660399" y="1130301"/>
            <a:chExt cx="10858501" cy="5003799"/>
          </a:xfrm>
        </p:grpSpPr>
        <p:sp>
          <p:nvSpPr>
            <p:cNvPr id="10" name="Title" descr="529f15c4-ab04-4ff2-8a5f-aa675f3d456c">
              <a:extLst>
                <a:ext uri="{FF2B5EF4-FFF2-40B4-BE49-F238E27FC236}">
                  <a16:creationId xmlns:a16="http://schemas.microsoft.com/office/drawing/2014/main" id="{1917146B-566D-E24A-4D93-F53E58805625}"/>
                </a:ext>
              </a:extLst>
            </p:cNvPr>
            <p:cNvSpPr>
              <a:spLocks/>
            </p:cNvSpPr>
            <p:nvPr/>
          </p:nvSpPr>
          <p:spPr>
            <a:xfrm>
              <a:off x="660399" y="1130301"/>
              <a:ext cx="10858500" cy="586098"/>
            </a:xfrm>
            <a:prstGeom prst="rect">
              <a:avLst/>
            </a:prstGeom>
            <a:noFill/>
            <a:ln w="7620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anchor="ctr" anchorCtr="0">
              <a:normAutofit/>
            </a:bodyPr>
            <a:lstStyle/>
            <a:p>
              <a:pPr algn="l"/>
              <a:endParaRPr/>
            </a:p>
          </p:txBody>
        </p:sp>
        <p:grpSp>
          <p:nvGrpSpPr>
            <p:cNvPr id="37" name="组合 36" descr="211370cb-ebb0-4b02-ade0-8066439210e1">
              <a:extLst>
                <a:ext uri="{FF2B5EF4-FFF2-40B4-BE49-F238E27FC236}">
                  <a16:creationId xmlns:a16="http://schemas.microsoft.com/office/drawing/2014/main" id="{FC81A1FF-A457-E519-C4C4-D11E8840BE3C}"/>
                </a:ext>
              </a:extLst>
            </p:cNvPr>
            <p:cNvGrpSpPr/>
            <p:nvPr/>
          </p:nvGrpSpPr>
          <p:grpSpPr>
            <a:xfrm>
              <a:off x="660400" y="1761003"/>
              <a:ext cx="10858500" cy="1408612"/>
              <a:chOff x="885625" y="1931699"/>
              <a:chExt cx="10858500" cy="1408612"/>
            </a:xfrm>
          </p:grpSpPr>
          <p:sp>
            <p:nvSpPr>
              <p:cNvPr id="34" name="Number1" descr="83348fe8-560a-4c96-a17c-a7fb60654846">
                <a:extLst>
                  <a:ext uri="{FF2B5EF4-FFF2-40B4-BE49-F238E27FC236}">
                    <a16:creationId xmlns:a16="http://schemas.microsoft.com/office/drawing/2014/main" id="{4A9F02B9-2A22-7122-0FD4-AD1A13F02064}"/>
                  </a:ext>
                </a:extLst>
              </p:cNvPr>
              <p:cNvSpPr/>
              <p:nvPr/>
            </p:nvSpPr>
            <p:spPr>
              <a:xfrm flipH="1">
                <a:off x="885625" y="1931699"/>
                <a:ext cx="472502" cy="472662"/>
              </a:xfrm>
              <a:prstGeom prst="ellipse">
                <a:avLst/>
              </a:prstGeom>
              <a:no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fontScale="92500" lnSpcReduction="10000"/>
              </a:bodyPr>
              <a:lstStyle/>
              <a:p>
                <a:pPr algn="ctr"/>
                <a:r>
                  <a:rPr lang="en-US" sz="1800" b="0" i="0" u="none">
                    <a:solidFill>
                      <a:srgbClr val="34C4DC"/>
                    </a:solidFill>
                    <a:latin typeface="Arial"/>
                  </a:rPr>
                  <a:t>1</a:t>
                </a:r>
              </a:p>
            </p:txBody>
          </p:sp>
          <p:sp>
            <p:nvSpPr>
              <p:cNvPr id="35" name="Bullet1" descr="6ff2e7b4-ae48-4943-b5f9-a862385423f3">
                <a:extLst>
                  <a:ext uri="{FF2B5EF4-FFF2-40B4-BE49-F238E27FC236}">
                    <a16:creationId xmlns:a16="http://schemas.microsoft.com/office/drawing/2014/main" id="{877D742E-9C11-962F-0A57-946046E179C0}"/>
                  </a:ext>
                </a:extLst>
              </p:cNvPr>
              <p:cNvSpPr txBox="1">
                <a:spLocks/>
              </p:cNvSpPr>
              <p:nvPr/>
            </p:nvSpPr>
            <p:spPr>
              <a:xfrm>
                <a:off x="1383527" y="1931699"/>
                <a:ext cx="1036059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FFFFFF"/>
                    </a:solidFill>
                    <a:latin typeface="Arial"/>
                  </a:rPr>
                  <a:t>n - 1分解为d × 2^s</a:t>
                </a:r>
              </a:p>
            </p:txBody>
          </p:sp>
          <p:sp>
            <p:nvSpPr>
              <p:cNvPr id="36" name="Text1" descr="18b9a8b7-78f4-49ea-b031-0d75da372ff9">
                <a:extLst>
                  <a:ext uri="{FF2B5EF4-FFF2-40B4-BE49-F238E27FC236}">
                    <a16:creationId xmlns:a16="http://schemas.microsoft.com/office/drawing/2014/main" id="{63D152DC-2883-2FAB-5716-07852BCDBC1A}"/>
                  </a:ext>
                </a:extLst>
              </p:cNvPr>
              <p:cNvSpPr txBox="1">
                <a:spLocks/>
              </p:cNvSpPr>
              <p:nvPr/>
            </p:nvSpPr>
            <p:spPr>
              <a:xfrm>
                <a:off x="1383527" y="2404360"/>
                <a:ext cx="10360598" cy="935951"/>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FFFFFF"/>
                    </a:solidFill>
                    <a:ea typeface="微软雅黑"/>
                  </a:rPr>
                  <a:t>在Miller–Rabin算法中，首先将n - 1分解为d × 2^s的形式，其中d是奇数。这一分解过程为后续的判定提供了基础。</a:t>
                </a:r>
              </a:p>
            </p:txBody>
          </p:sp>
        </p:grpSp>
        <p:grpSp>
          <p:nvGrpSpPr>
            <p:cNvPr id="9" name="组合 1" descr="64f83a74-a450-4820-97c8-13ad2f3d976a">
              <a:extLst>
                <a:ext uri="{FF2B5EF4-FFF2-40B4-BE49-F238E27FC236}">
                  <a16:creationId xmlns:a16="http://schemas.microsoft.com/office/drawing/2014/main" id="{4C6048AA-87BB-BD2B-30D9-CBCCB477A886}"/>
                </a:ext>
              </a:extLst>
            </p:cNvPr>
            <p:cNvGrpSpPr/>
            <p:nvPr/>
          </p:nvGrpSpPr>
          <p:grpSpPr>
            <a:xfrm>
              <a:off x="660400" y="3243246"/>
              <a:ext cx="10858500" cy="1408612"/>
              <a:chOff x="885625" y="1931699"/>
              <a:chExt cx="10858500" cy="1408612"/>
            </a:xfrm>
          </p:grpSpPr>
          <p:sp>
            <p:nvSpPr>
              <p:cNvPr id="3" name="Number2" descr="60621995-5825-4fd8-8e1c-2c534872ef31">
                <a:extLst>
                  <a:ext uri="{FF2B5EF4-FFF2-40B4-BE49-F238E27FC236}">
                    <a16:creationId xmlns:a16="http://schemas.microsoft.com/office/drawing/2014/main" id="{E723EC43-AF31-82AF-139C-5FB99A7C7936}"/>
                  </a:ext>
                </a:extLst>
              </p:cNvPr>
              <p:cNvSpPr/>
              <p:nvPr/>
            </p:nvSpPr>
            <p:spPr>
              <a:xfrm flipH="1">
                <a:off x="885625" y="1931699"/>
                <a:ext cx="472502" cy="472662"/>
              </a:xfrm>
              <a:prstGeom prst="ellipse">
                <a:avLst/>
              </a:prstGeom>
              <a:no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fontScale="92500" lnSpcReduction="10000"/>
              </a:bodyPr>
              <a:lstStyle/>
              <a:p>
                <a:pPr algn="ctr"/>
                <a:r>
                  <a:rPr lang="en-US" sz="1800" b="0" i="0" u="none">
                    <a:solidFill>
                      <a:srgbClr val="34C4DC"/>
                    </a:solidFill>
                    <a:latin typeface="Arial"/>
                  </a:rPr>
                  <a:t>2</a:t>
                </a:r>
              </a:p>
            </p:txBody>
          </p:sp>
          <p:sp>
            <p:nvSpPr>
              <p:cNvPr id="4" name="Bullet2" descr="0123b2c1-3a64-4e66-82e3-614aee91cc1f">
                <a:extLst>
                  <a:ext uri="{FF2B5EF4-FFF2-40B4-BE49-F238E27FC236}">
                    <a16:creationId xmlns:a16="http://schemas.microsoft.com/office/drawing/2014/main" id="{F4FBC59C-4887-9103-2516-EB69EB0F968B}"/>
                  </a:ext>
                </a:extLst>
              </p:cNvPr>
              <p:cNvSpPr txBox="1">
                <a:spLocks/>
              </p:cNvSpPr>
              <p:nvPr/>
            </p:nvSpPr>
            <p:spPr>
              <a:xfrm>
                <a:off x="1383527" y="1931699"/>
                <a:ext cx="1036059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FFFFFF"/>
                    </a:solidFill>
                    <a:ea typeface="微软雅黑"/>
                  </a:rPr>
                  <a:t>随机底数测试</a:t>
                </a:r>
              </a:p>
            </p:txBody>
          </p:sp>
          <p:sp>
            <p:nvSpPr>
              <p:cNvPr id="5" name="Text2" descr="917e7a28-91ba-4b88-85a2-3a16b1def3f3">
                <a:extLst>
                  <a:ext uri="{FF2B5EF4-FFF2-40B4-BE49-F238E27FC236}">
                    <a16:creationId xmlns:a16="http://schemas.microsoft.com/office/drawing/2014/main" id="{8A68049D-109D-B26B-34F2-2247206ED0CE}"/>
                  </a:ext>
                </a:extLst>
              </p:cNvPr>
              <p:cNvSpPr txBox="1">
                <a:spLocks/>
              </p:cNvSpPr>
              <p:nvPr/>
            </p:nvSpPr>
            <p:spPr>
              <a:xfrm>
                <a:off x="1383527" y="2404360"/>
                <a:ext cx="10360598" cy="935951"/>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FFFFFF"/>
                    </a:solidFill>
                    <a:ea typeface="微软雅黑"/>
                  </a:rPr>
                  <a:t>选择一个随机底数a，计算a^d mod n的值。如果a^d mod n等于1或n - 1，则n可能是素数；否则，继续进行下一步。</a:t>
                </a:r>
              </a:p>
            </p:txBody>
          </p:sp>
        </p:grpSp>
        <p:grpSp>
          <p:nvGrpSpPr>
            <p:cNvPr id="6" name="组合 5" descr="f7622804-9359-4a7b-9285-c47e98a3a50d">
              <a:extLst>
                <a:ext uri="{FF2B5EF4-FFF2-40B4-BE49-F238E27FC236}">
                  <a16:creationId xmlns:a16="http://schemas.microsoft.com/office/drawing/2014/main" id="{FBD6225E-72D2-F478-E1EE-701A08C9294E}"/>
                </a:ext>
              </a:extLst>
            </p:cNvPr>
            <p:cNvGrpSpPr/>
            <p:nvPr/>
          </p:nvGrpSpPr>
          <p:grpSpPr>
            <a:xfrm>
              <a:off x="660400" y="4725488"/>
              <a:ext cx="10858500" cy="1408612"/>
              <a:chOff x="885625" y="1931699"/>
              <a:chExt cx="10858500" cy="1408612"/>
            </a:xfrm>
          </p:grpSpPr>
          <p:sp>
            <p:nvSpPr>
              <p:cNvPr id="7" name="Number3" descr="cafaa2e8-c1ed-4f16-82c1-73102866461d">
                <a:extLst>
                  <a:ext uri="{FF2B5EF4-FFF2-40B4-BE49-F238E27FC236}">
                    <a16:creationId xmlns:a16="http://schemas.microsoft.com/office/drawing/2014/main" id="{7DF51940-3593-9994-8CD1-8BD0B0324939}"/>
                  </a:ext>
                </a:extLst>
              </p:cNvPr>
              <p:cNvSpPr/>
              <p:nvPr/>
            </p:nvSpPr>
            <p:spPr>
              <a:xfrm flipH="1">
                <a:off x="885625" y="1931699"/>
                <a:ext cx="472502" cy="472662"/>
              </a:xfrm>
              <a:prstGeom prst="ellipse">
                <a:avLst/>
              </a:prstGeom>
              <a:no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fontScale="92500" lnSpcReduction="10000"/>
              </a:bodyPr>
              <a:lstStyle/>
              <a:p>
                <a:pPr algn="ctr"/>
                <a:r>
                  <a:rPr lang="en-US" sz="1800" b="0" i="0" u="none">
                    <a:solidFill>
                      <a:srgbClr val="34C4DC"/>
                    </a:solidFill>
                    <a:latin typeface="Arial"/>
                  </a:rPr>
                  <a:t>3</a:t>
                </a:r>
              </a:p>
            </p:txBody>
          </p:sp>
          <p:sp>
            <p:nvSpPr>
              <p:cNvPr id="11" name="Bullet3" descr="278b1d9e-0b59-4579-a6f5-e7077e538633">
                <a:extLst>
                  <a:ext uri="{FF2B5EF4-FFF2-40B4-BE49-F238E27FC236}">
                    <a16:creationId xmlns:a16="http://schemas.microsoft.com/office/drawing/2014/main" id="{7AF4B05A-9512-21F2-19A1-956C4AB919DC}"/>
                  </a:ext>
                </a:extLst>
              </p:cNvPr>
              <p:cNvSpPr txBox="1">
                <a:spLocks/>
              </p:cNvSpPr>
              <p:nvPr/>
            </p:nvSpPr>
            <p:spPr>
              <a:xfrm>
                <a:off x="1383527" y="1931699"/>
                <a:ext cx="1036059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FFFFFF"/>
                    </a:solidFill>
                    <a:ea typeface="微软雅黑"/>
                  </a:rPr>
                  <a:t>合数判定条件</a:t>
                </a:r>
              </a:p>
            </p:txBody>
          </p:sp>
          <p:sp>
            <p:nvSpPr>
              <p:cNvPr id="12" name="Text3" descr="d3129ac9-2476-4a44-9d8d-b370cbd34701">
                <a:extLst>
                  <a:ext uri="{FF2B5EF4-FFF2-40B4-BE49-F238E27FC236}">
                    <a16:creationId xmlns:a16="http://schemas.microsoft.com/office/drawing/2014/main" id="{D7C4BE5C-89E9-1A26-CB0C-CD3DA5621863}"/>
                  </a:ext>
                </a:extLst>
              </p:cNvPr>
              <p:cNvSpPr txBox="1">
                <a:spLocks/>
              </p:cNvSpPr>
              <p:nvPr/>
            </p:nvSpPr>
            <p:spPr>
              <a:xfrm>
                <a:off x="1383527" y="2404360"/>
                <a:ext cx="10360598" cy="935951"/>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FFFFFF"/>
                    </a:solidFill>
                    <a:ea typeface="微软雅黑"/>
                  </a:rPr>
                  <a:t>如果a^d mod n不等于1或n - 1，则继续进行s - 1轮迭代。在每一轮迭代中，计算a^{(2^j)d} mod n的值，其中j从0到s - 1。如果在某一轮迭代中a^{(2^j)d} mod n等于n - 1，则n可能是素数；如果所有迭代结束后都没有出现这种情况，则n一定是合数。</a:t>
                </a:r>
              </a:p>
            </p:txBody>
          </p:sp>
        </p:grpSp>
      </p:grpSp>
      <p:sp>
        <p:nvSpPr>
          <p:cNvPr id="2" name="标题 1"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a:solidFill>
                  <a:srgbClr val="FFFFFF"/>
                </a:solidFill>
                <a:latin typeface="Arial"/>
              </a:rPr>
              <a:t>Miller–Rabin 算法原理</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6d649ebf-74bc-446c-add3-cfd664cd660c.source.3.zh-Hans.pptx" descr="a7a007fb-4878-4e9f-a2db-476968d4baf7">
            <a:extLst>
              <a:ext uri="{FF2B5EF4-FFF2-40B4-BE49-F238E27FC236}">
                <a16:creationId xmlns:a16="http://schemas.microsoft.com/office/drawing/2014/main" id="{863987AA-CAC8-6A3F-3599-0C2FB61D1227}"/>
              </a:ext>
            </a:extLst>
          </p:cNvPr>
          <p:cNvGrpSpPr/>
          <p:nvPr/>
        </p:nvGrpSpPr>
        <p:grpSpPr>
          <a:xfrm>
            <a:off x="1" y="1130300"/>
            <a:ext cx="12191999" cy="5727700"/>
            <a:chOff x="1" y="1130300"/>
            <a:chExt cx="12191999" cy="5727700"/>
          </a:xfrm>
        </p:grpSpPr>
        <p:sp>
          <p:nvSpPr>
            <p:cNvPr id="65" name="PictureMisc1" descr="dc327a52-86fb-4b64-ad19-b0575044ce86">
              <a:extLst>
                <a:ext uri="{FF2B5EF4-FFF2-40B4-BE49-F238E27FC236}">
                  <a16:creationId xmlns:a16="http://schemas.microsoft.com/office/drawing/2014/main" id="{5DB9263E-74BC-324D-8274-8640186FCC47}"/>
                </a:ext>
              </a:extLst>
            </p:cNvPr>
            <p:cNvSpPr/>
            <p:nvPr/>
          </p:nvSpPr>
          <p:spPr>
            <a:xfrm>
              <a:off x="1" y="4454604"/>
              <a:ext cx="12191999" cy="2403396"/>
            </a:xfrm>
            <a:prstGeom prst="rect">
              <a:avLst/>
            </a:prstGeom>
            <a:blipFill rotWithShape="1">
              <a:blip r:embed="rId2"/>
              <a:srcRect/>
              <a:stretch>
                <a:fillRect t="-5341" b="-184535"/>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 name="c" descr="57f825d6-94cb-4389-abad-10a642d23543">
              <a:extLst>
                <a:ext uri="{FF2B5EF4-FFF2-40B4-BE49-F238E27FC236}">
                  <a16:creationId xmlns:a16="http://schemas.microsoft.com/office/drawing/2014/main" id="{F586F91A-F926-94C4-B940-7B33FA137CEB}"/>
                </a:ext>
              </a:extLst>
            </p:cNvPr>
            <p:cNvSpPr/>
            <p:nvPr/>
          </p:nvSpPr>
          <p:spPr>
            <a:xfrm>
              <a:off x="598591" y="1824048"/>
              <a:ext cx="10994819" cy="4310052"/>
            </a:xfrm>
            <a:prstGeom prst="roundRect">
              <a:avLst>
                <a:gd name="adj" fmla="val 3015"/>
              </a:avLst>
            </a:prstGeom>
            <a:gradFill flip="none" rotWithShape="1">
              <a:gsLst>
                <a:gs pos="0">
                  <a:schemeClr val="bg1"/>
                </a:gs>
                <a:gs pos="100000">
                  <a:schemeClr val="bg1">
                    <a:alpha val="90000"/>
                  </a:schemeClr>
                </a:gs>
              </a:gsLst>
              <a:lin ang="5400000" scaled="1"/>
              <a:tileRect/>
            </a:gradFill>
            <a:ln w="6350">
              <a:gradFill flip="none" rotWithShape="1">
                <a:gsLst>
                  <a:gs pos="0">
                    <a:schemeClr val="tx1">
                      <a:alpha val="50000"/>
                    </a:schemeClr>
                  </a:gs>
                  <a:gs pos="100000">
                    <a:schemeClr val="tx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lnSpc>
                  <a:spcPct val="120000"/>
                </a:lnSpc>
              </a:pPr>
              <a:endParaRPr/>
            </a:p>
          </p:txBody>
        </p:sp>
        <p:cxnSp>
          <p:nvCxnSpPr>
            <p:cNvPr id="226" name="直接连接符 225" descr="dac5d439-7eda-4656-8a7c-1d735399ae92">
              <a:extLst>
                <a:ext uri="{FF2B5EF4-FFF2-40B4-BE49-F238E27FC236}">
                  <a16:creationId xmlns:a16="http://schemas.microsoft.com/office/drawing/2014/main" id="{0CA1E6CF-3DAE-9AF9-D21F-100AE9D7D50B}"/>
                </a:ext>
              </a:extLst>
            </p:cNvPr>
            <p:cNvCxnSpPr>
              <a:cxnSpLocks/>
              <a:stCxn id="72" idx="3"/>
              <a:endCxn id="76" idx="1"/>
            </p:cNvCxnSpPr>
            <p:nvPr/>
          </p:nvCxnSpPr>
          <p:spPr>
            <a:xfrm>
              <a:off x="3771398" y="2158127"/>
              <a:ext cx="4756171"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sp>
          <p:nvSpPr>
            <p:cNvPr id="158" name="Title" descr="46a4605b-a720-439c-a1b1-159a778ec22b">
              <a:extLst>
                <a:ext uri="{FF2B5EF4-FFF2-40B4-BE49-F238E27FC236}">
                  <a16:creationId xmlns:a16="http://schemas.microsoft.com/office/drawing/2014/main" id="{AC341146-36D4-4164-92F2-A18213FC327C}"/>
                </a:ext>
              </a:extLst>
            </p:cNvPr>
            <p:cNvSpPr>
              <a:spLocks/>
            </p:cNvSpPr>
            <p:nvPr/>
          </p:nvSpPr>
          <p:spPr>
            <a:xfrm>
              <a:off x="660399" y="1130300"/>
              <a:ext cx="10858500" cy="608093"/>
            </a:xfrm>
            <a:prstGeom prst="rect">
              <a:avLst/>
            </a:prstGeom>
            <a:noFill/>
            <a:ln w="7620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anchor="ctr" anchorCtr="0">
              <a:normAutofit/>
            </a:bodyPr>
            <a:lstStyle/>
            <a:p>
              <a:pPr algn="l"/>
              <a:endParaRPr/>
            </a:p>
          </p:txBody>
        </p:sp>
        <p:grpSp>
          <p:nvGrpSpPr>
            <p:cNvPr id="6" name="组合 1" descr="fc306c34-b247-48d3-a181-bc496b2e9dce">
              <a:extLst>
                <a:ext uri="{FF2B5EF4-FFF2-40B4-BE49-F238E27FC236}">
                  <a16:creationId xmlns:a16="http://schemas.microsoft.com/office/drawing/2014/main" id="{1E89B8CC-B55C-FA98-E6BC-B702007FD8AC}"/>
                </a:ext>
              </a:extLst>
            </p:cNvPr>
            <p:cNvGrpSpPr/>
            <p:nvPr/>
          </p:nvGrpSpPr>
          <p:grpSpPr>
            <a:xfrm>
              <a:off x="666750" y="2008394"/>
              <a:ext cx="5306495" cy="1985305"/>
              <a:chOff x="666750" y="2008394"/>
              <a:chExt cx="5306495" cy="1985305"/>
            </a:xfrm>
          </p:grpSpPr>
          <p:sp>
            <p:nvSpPr>
              <p:cNvPr id="95" name="Bullet1" descr="d6a79fb6-7846-4c78-a1e1-77663588a57e">
                <a:extLst>
                  <a:ext uri="{FF2B5EF4-FFF2-40B4-BE49-F238E27FC236}">
                    <a16:creationId xmlns:a16="http://schemas.microsoft.com/office/drawing/2014/main" id="{A668A0D6-A050-C5D4-2140-BEC7BDF96455}"/>
                  </a:ext>
                </a:extLst>
              </p:cNvPr>
              <p:cNvSpPr txBox="1">
                <a:spLocks/>
              </p:cNvSpPr>
              <p:nvPr/>
            </p:nvSpPr>
            <p:spPr>
              <a:xfrm>
                <a:off x="666750" y="2428129"/>
                <a:ext cx="5306495"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FFFFFF"/>
                    </a:solidFill>
                    <a:ea typeface="微软雅黑"/>
                  </a:rPr>
                  <a:t>快速模幂</a:t>
                </a:r>
              </a:p>
            </p:txBody>
          </p:sp>
          <p:sp>
            <p:nvSpPr>
              <p:cNvPr id="96" name="Text1" descr="e17ed25b-e645-4acf-a310-50eddc656dc2">
                <a:extLst>
                  <a:ext uri="{FF2B5EF4-FFF2-40B4-BE49-F238E27FC236}">
                    <a16:creationId xmlns:a16="http://schemas.microsoft.com/office/drawing/2014/main" id="{C10F2A4E-8E15-900B-40D8-D6F05CAE2893}"/>
                  </a:ext>
                </a:extLst>
              </p:cNvPr>
              <p:cNvSpPr txBox="1">
                <a:spLocks/>
              </p:cNvSpPr>
              <p:nvPr/>
            </p:nvSpPr>
            <p:spPr>
              <a:xfrm>
                <a:off x="666750" y="3086096"/>
                <a:ext cx="5306495" cy="907603"/>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FFFFFF"/>
                    </a:solidFill>
                    <a:ea typeface="微软雅黑"/>
                  </a:rPr>
                  <a:t>在Miller–Rabin算法中，需要进行大量的模幂运算。快速模幂算法可以通过平方-乘的方法，将模幂运算的时间复杂度降低到O(logn)，提高算法的效率。</a:t>
                </a:r>
              </a:p>
            </p:txBody>
          </p:sp>
          <p:sp>
            <p:nvSpPr>
              <p:cNvPr id="72" name="Number1" descr="ecd8c741-42f9-48b5-a544-2783cb87ac08">
                <a:extLst>
                  <a:ext uri="{FF2B5EF4-FFF2-40B4-BE49-F238E27FC236}">
                    <a16:creationId xmlns:a16="http://schemas.microsoft.com/office/drawing/2014/main" id="{3A43B319-7C97-320B-D093-0821E4490A89}"/>
                  </a:ext>
                </a:extLst>
              </p:cNvPr>
              <p:cNvSpPr txBox="1"/>
              <p:nvPr/>
            </p:nvSpPr>
            <p:spPr>
              <a:xfrm>
                <a:off x="2868596" y="200839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34C4DC"/>
                    </a:solidFill>
                    <a:latin typeface="Arial"/>
                  </a:rPr>
                  <a:t>1</a:t>
                </a:r>
              </a:p>
            </p:txBody>
          </p:sp>
        </p:grpSp>
        <p:grpSp>
          <p:nvGrpSpPr>
            <p:cNvPr id="3" name="组合 2" descr="dc0132b2-887b-4342-b4ed-c33bffd7a45f">
              <a:extLst>
                <a:ext uri="{FF2B5EF4-FFF2-40B4-BE49-F238E27FC236}">
                  <a16:creationId xmlns:a16="http://schemas.microsoft.com/office/drawing/2014/main" id="{B0A3E6F0-1CCC-3A7F-CCBB-55D0E54811EA}"/>
                </a:ext>
              </a:extLst>
            </p:cNvPr>
            <p:cNvGrpSpPr/>
            <p:nvPr/>
          </p:nvGrpSpPr>
          <p:grpSpPr>
            <a:xfrm>
              <a:off x="6212405" y="2008394"/>
              <a:ext cx="5306495" cy="1985305"/>
              <a:chOff x="6212405" y="2008394"/>
              <a:chExt cx="5306495" cy="1985305"/>
            </a:xfrm>
          </p:grpSpPr>
          <p:sp>
            <p:nvSpPr>
              <p:cNvPr id="77" name="Bullet2" descr="09fbd46d-031f-4d60-b0c6-5abeca306fe6">
                <a:extLst>
                  <a:ext uri="{FF2B5EF4-FFF2-40B4-BE49-F238E27FC236}">
                    <a16:creationId xmlns:a16="http://schemas.microsoft.com/office/drawing/2014/main" id="{35D93B8A-EB98-534E-5776-A723F2AB36AC}"/>
                  </a:ext>
                </a:extLst>
              </p:cNvPr>
              <p:cNvSpPr txBox="1">
                <a:spLocks/>
              </p:cNvSpPr>
              <p:nvPr/>
            </p:nvSpPr>
            <p:spPr>
              <a:xfrm>
                <a:off x="6212405" y="2428129"/>
                <a:ext cx="5306495"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FFFFFF"/>
                    </a:solidFill>
                    <a:ea typeface="微软雅黑"/>
                  </a:rPr>
                  <a:t>多轮检测</a:t>
                </a:r>
              </a:p>
            </p:txBody>
          </p:sp>
          <p:sp>
            <p:nvSpPr>
              <p:cNvPr id="78" name="Text2" descr="9d3cdd36-9cfd-4008-9dcf-29c5aee76dac">
                <a:extLst>
                  <a:ext uri="{FF2B5EF4-FFF2-40B4-BE49-F238E27FC236}">
                    <a16:creationId xmlns:a16="http://schemas.microsoft.com/office/drawing/2014/main" id="{33947B64-2C69-EEC4-7500-302DC2E6215D}"/>
                  </a:ext>
                </a:extLst>
              </p:cNvPr>
              <p:cNvSpPr txBox="1">
                <a:spLocks/>
              </p:cNvSpPr>
              <p:nvPr/>
            </p:nvSpPr>
            <p:spPr>
              <a:xfrm>
                <a:off x="6212405" y="3086096"/>
                <a:ext cx="5306495" cy="907603"/>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FFFFFF"/>
                    </a:solidFill>
                    <a:ea typeface="微软雅黑"/>
                  </a:rPr>
                  <a:t>为了提高判定的准确性，Miller–Rabin算法通常进行多轮检测。每一轮检测选择一个随机底数，如果所有轮检测都通过，则认为n是素数的概率很大。</a:t>
                </a:r>
              </a:p>
            </p:txBody>
          </p:sp>
          <p:sp>
            <p:nvSpPr>
              <p:cNvPr id="76" name="Number2" descr="048a3013-2ca6-49f4-b6b5-ee9106f83404">
                <a:extLst>
                  <a:ext uri="{FF2B5EF4-FFF2-40B4-BE49-F238E27FC236}">
                    <a16:creationId xmlns:a16="http://schemas.microsoft.com/office/drawing/2014/main" id="{9ED18147-10F1-0FD3-7B83-519D3BE0179A}"/>
                  </a:ext>
                </a:extLst>
              </p:cNvPr>
              <p:cNvSpPr txBox="1"/>
              <p:nvPr/>
            </p:nvSpPr>
            <p:spPr>
              <a:xfrm>
                <a:off x="8414251" y="200839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34C4DC"/>
                    </a:solidFill>
                    <a:latin typeface="Arial"/>
                  </a:rPr>
                  <a:t>2</a:t>
                </a:r>
              </a:p>
            </p:txBody>
          </p:sp>
        </p:grpSp>
        <p:grpSp>
          <p:nvGrpSpPr>
            <p:cNvPr id="4" name="组合 3" descr="c5344d8f-9ecf-4f4c-b948-70734841bf24">
              <a:extLst>
                <a:ext uri="{FF2B5EF4-FFF2-40B4-BE49-F238E27FC236}">
                  <a16:creationId xmlns:a16="http://schemas.microsoft.com/office/drawing/2014/main" id="{81A8D727-5F88-3DC7-C9BF-3E45258BD934}"/>
                </a:ext>
              </a:extLst>
            </p:cNvPr>
            <p:cNvGrpSpPr/>
            <p:nvPr/>
          </p:nvGrpSpPr>
          <p:grpSpPr>
            <a:xfrm>
              <a:off x="660399" y="4026774"/>
              <a:ext cx="10858500" cy="1985305"/>
              <a:chOff x="660399" y="4026774"/>
              <a:chExt cx="10858500" cy="1985305"/>
            </a:xfrm>
          </p:grpSpPr>
          <p:sp>
            <p:nvSpPr>
              <p:cNvPr id="240" name="Bullet3" descr="7967fa0a-3bee-4a5c-8ad1-ea84465d394a">
                <a:extLst>
                  <a:ext uri="{FF2B5EF4-FFF2-40B4-BE49-F238E27FC236}">
                    <a16:creationId xmlns:a16="http://schemas.microsoft.com/office/drawing/2014/main" id="{95832515-E09E-D65E-A6AE-5FE08AABDE43}"/>
                  </a:ext>
                </a:extLst>
              </p:cNvPr>
              <p:cNvSpPr txBox="1">
                <a:spLocks/>
              </p:cNvSpPr>
              <p:nvPr/>
            </p:nvSpPr>
            <p:spPr>
              <a:xfrm>
                <a:off x="660399" y="4446509"/>
                <a:ext cx="10858500"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FFFFFF"/>
                    </a:solidFill>
                    <a:ea typeface="微软雅黑"/>
                  </a:rPr>
                  <a:t>大素数测试示例</a:t>
                </a:r>
              </a:p>
            </p:txBody>
          </p:sp>
          <p:sp>
            <p:nvSpPr>
              <p:cNvPr id="241" name="Text3" descr="71005dde-04de-4a21-96b8-356cb4e04cdc">
                <a:extLst>
                  <a:ext uri="{FF2B5EF4-FFF2-40B4-BE49-F238E27FC236}">
                    <a16:creationId xmlns:a16="http://schemas.microsoft.com/office/drawing/2014/main" id="{0E9832D8-661F-47F5-2487-8337E3ACDDDE}"/>
                  </a:ext>
                </a:extLst>
              </p:cNvPr>
              <p:cNvSpPr txBox="1">
                <a:spLocks/>
              </p:cNvSpPr>
              <p:nvPr/>
            </p:nvSpPr>
            <p:spPr>
              <a:xfrm>
                <a:off x="660399" y="5104476"/>
                <a:ext cx="10858500" cy="907603"/>
              </a:xfrm>
              <a:prstGeom prst="rect">
                <a:avLst/>
              </a:prstGeom>
              <a:noFill/>
              <a:ln>
                <a:noFill/>
              </a:ln>
            </p:spPr>
            <p:txBody>
              <a:bodyPr wrap="square" lIns="91440" tIns="45720" rIns="91440" bIns="45720" anchor="t" anchorCtr="0">
                <a:normAutofit/>
              </a:bodyPr>
              <a:lstStyle/>
              <a:p>
                <a:pPr algn="l">
                  <a:lnSpc>
                    <a:spcPct val="120000"/>
                  </a:lnSpc>
                  <a:spcBef>
                    <a:spcPct val="0"/>
                  </a:spcBef>
                  <a:spcAft>
                    <a:spcPct val="0"/>
                  </a:spcAft>
                </a:pPr>
                <a:r>
                  <a:rPr lang="en-US" sz="1200" b="0" i="0" u="none" strike="noStrike">
                    <a:solidFill>
                      <a:srgbClr val="FFFFFF"/>
                    </a:solidFill>
                    <a:ea typeface="微软雅黑"/>
                  </a:rPr>
                  <a:t>通过一些大素数测试示例，可以验证Miller–Rabin算法的正确性和效率。例如，对于不同位数的大素数，测试算法的运行时间和判定结果。</a:t>
                </a:r>
              </a:p>
            </p:txBody>
          </p:sp>
          <p:sp>
            <p:nvSpPr>
              <p:cNvPr id="242" name="Number3" descr="71e9b640-20dc-4492-a63c-5ef6372dc91c">
                <a:extLst>
                  <a:ext uri="{FF2B5EF4-FFF2-40B4-BE49-F238E27FC236}">
                    <a16:creationId xmlns:a16="http://schemas.microsoft.com/office/drawing/2014/main" id="{0D3019D7-A355-676E-AC51-5F37A193A9FA}"/>
                  </a:ext>
                </a:extLst>
              </p:cNvPr>
              <p:cNvSpPr txBox="1"/>
              <p:nvPr/>
            </p:nvSpPr>
            <p:spPr>
              <a:xfrm flipH="1">
                <a:off x="5644599" y="402677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34C4DC"/>
                    </a:solidFill>
                    <a:latin typeface="Arial"/>
                  </a:rPr>
                  <a:t>3</a:t>
                </a:r>
              </a:p>
            </p:txBody>
          </p:sp>
        </p:grpSp>
      </p:grpSp>
      <p:sp>
        <p:nvSpPr>
          <p:cNvPr id="2" name="标题 1"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a:solidFill>
                  <a:srgbClr val="FFFFFF"/>
                </a:solidFill>
                <a:latin typeface="Arial"/>
              </a:rPr>
              <a:t>Miller–Rabin 实现与测试</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descr="a901c192-3a89-4011-a292-a0c08f010ed4"/>
          <p:cNvSpPr>
            <a:spLocks noGrp="1"/>
          </p:cNvSpPr>
          <p:nvPr>
            <p:ph type="title" hasCustomPrompt="1"/>
          </p:nvPr>
        </p:nvSpPr>
        <p:spPr/>
        <p:txBody>
          <a:bodyPr anchorCtr="0"/>
          <a:lstStyle/>
          <a:p>
            <a:pPr algn="l">
              <a:lnSpc>
                <a:spcPct val="100000"/>
              </a:lnSpc>
              <a:spcBef>
                <a:spcPct val="0"/>
              </a:spcBef>
            </a:pPr>
            <a:r>
              <a:rPr lang="en-US" sz="4400" b="1" i="0" u="none">
                <a:solidFill>
                  <a:srgbClr val="FFFFFF"/>
                </a:solidFill>
                <a:latin typeface="Arial"/>
              </a:rPr>
              <a:t>RSA 加解密高效算法探究</a:t>
            </a:r>
          </a:p>
        </p:txBody>
      </p:sp>
      <p:sp>
        <p:nvSpPr>
          <p:cNvPr id="25" name="文本占位符 24" descr="8f57161b-2598-43a7-b514-2ed0f586aeee"/>
          <p:cNvSpPr>
            <a:spLocks noGrp="1"/>
          </p:cNvSpPr>
          <p:nvPr>
            <p:ph type="body" sz="quarter" idx="1" hasCustomPrompt="1"/>
          </p:nvPr>
        </p:nvSpPr>
        <p:spPr/>
        <p:txBody>
          <a:bodyPr anchorCtr="0"/>
          <a:lstStyle/>
          <a:p>
            <a:pPr algn="l">
              <a:lnSpc>
                <a:spcPct val="120000"/>
              </a:lnSpc>
              <a:spcBef>
                <a:spcPts val="1000"/>
              </a:spcBef>
            </a:pPr>
            <a:r>
              <a:rPr lang="en-US" sz="1600" b="0" i="0" u="none">
                <a:solidFill>
                  <a:srgbClr val="FFFFFF"/>
                </a:solidFill>
                <a:ea typeface="微软雅黑"/>
              </a:rPr>
              <a:t>回顾RSA算法原理，分析性能瓶颈，介绍快速模幂算法和CRT优化，并对实验结果进行分析，讨论安全性与效率权衡</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dfb8e719-bc77-4df4-ad66-c9f63a1f8954.source.3.zh-Hans.pptx" descr="5e55b1f4-988f-463e-8a24-7237373ce9a0">
            <a:extLst>
              <a:ext uri="{FF2B5EF4-FFF2-40B4-BE49-F238E27FC236}">
                <a16:creationId xmlns:a16="http://schemas.microsoft.com/office/drawing/2014/main" id="{9F9B73C6-F9DE-3007-1258-A0EDFEF138D6}"/>
              </a:ext>
            </a:extLst>
          </p:cNvPr>
          <p:cNvGrpSpPr/>
          <p:nvPr/>
        </p:nvGrpSpPr>
        <p:grpSpPr>
          <a:xfrm>
            <a:off x="660400" y="1130300"/>
            <a:ext cx="10858500" cy="5003800"/>
            <a:chOff x="660400" y="1130300"/>
            <a:chExt cx="10858500" cy="5003800"/>
          </a:xfrm>
        </p:grpSpPr>
        <p:grpSp>
          <p:nvGrpSpPr>
            <p:cNvPr id="7" name="组合 6" descr="61608afd-8ef7-4c65-a293-856d021d7efb">
              <a:extLst>
                <a:ext uri="{FF2B5EF4-FFF2-40B4-BE49-F238E27FC236}">
                  <a16:creationId xmlns:a16="http://schemas.microsoft.com/office/drawing/2014/main" id="{81F727F6-B4E6-C5EE-970D-52EC19B76A6B}"/>
                </a:ext>
              </a:extLst>
            </p:cNvPr>
            <p:cNvGrpSpPr/>
            <p:nvPr/>
          </p:nvGrpSpPr>
          <p:grpSpPr>
            <a:xfrm>
              <a:off x="660400" y="1130300"/>
              <a:ext cx="10858500" cy="5003800"/>
              <a:chOff x="660400" y="1130300"/>
              <a:chExt cx="10858500" cy="5003800"/>
            </a:xfrm>
          </p:grpSpPr>
          <p:sp>
            <p:nvSpPr>
              <p:cNvPr id="6" name="Title" descr="18a6bf37-0d65-484a-ab32-aa3ffa3e24e9">
                <a:extLst>
                  <a:ext uri="{FF2B5EF4-FFF2-40B4-BE49-F238E27FC236}">
                    <a16:creationId xmlns:a16="http://schemas.microsoft.com/office/drawing/2014/main" id="{872EC952-9A65-E2AC-9CF1-6F1C7E859967}"/>
                  </a:ext>
                </a:extLst>
              </p:cNvPr>
              <p:cNvSpPr/>
              <p:nvPr/>
            </p:nvSpPr>
            <p:spPr>
              <a:xfrm>
                <a:off x="660400" y="1130300"/>
                <a:ext cx="10858500" cy="720000"/>
              </a:xfrm>
              <a:prstGeom prst="roundRect">
                <a:avLst>
                  <a:gd name="adj" fmla="val 0"/>
                </a:avLst>
              </a:prstGeom>
              <a:noFill/>
              <a:ln w="6350" cap="rnd">
                <a:solidFill>
                  <a:schemeClr val="tx1">
                    <a:alpha val="50000"/>
                  </a:schemeClr>
                </a:solidFill>
                <a:prstDash val="solid"/>
                <a:round/>
              </a:ln>
              <a:effectLst>
                <a:outerShdw blurRad="254000" dist="127000" dir="5400000" algn="ctr"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l"/>
                <a:endParaRPr/>
              </a:p>
            </p:txBody>
          </p:sp>
          <p:grpSp>
            <p:nvGrpSpPr>
              <p:cNvPr id="5" name="组合 4" descr="3c1db335-1691-4746-b110-dae218fab515">
                <a:extLst>
                  <a:ext uri="{FF2B5EF4-FFF2-40B4-BE49-F238E27FC236}">
                    <a16:creationId xmlns:a16="http://schemas.microsoft.com/office/drawing/2014/main" id="{320BE578-47FA-03AB-A1D3-7D00ACA3AF47}"/>
                  </a:ext>
                </a:extLst>
              </p:cNvPr>
              <p:cNvGrpSpPr/>
              <p:nvPr/>
            </p:nvGrpSpPr>
            <p:grpSpPr>
              <a:xfrm>
                <a:off x="660400" y="2729918"/>
                <a:ext cx="3167600" cy="3404182"/>
                <a:chOff x="660400" y="2729918"/>
                <a:chExt cx="3167600" cy="3404182"/>
              </a:xfrm>
            </p:grpSpPr>
            <p:sp>
              <p:nvSpPr>
                <p:cNvPr id="8" name="Bullet1" descr="64a69f96-ead4-4c20-8707-4e0f09df514c">
                  <a:extLst>
                    <a:ext uri="{FF2B5EF4-FFF2-40B4-BE49-F238E27FC236}">
                      <a16:creationId xmlns:a16="http://schemas.microsoft.com/office/drawing/2014/main" id="{626BE08C-C97A-574A-F1AC-DF6586712B85}"/>
                    </a:ext>
                  </a:extLst>
                </p:cNvPr>
                <p:cNvSpPr/>
                <p:nvPr/>
              </p:nvSpPr>
              <p:spPr>
                <a:xfrm>
                  <a:off x="660400" y="3094745"/>
                  <a:ext cx="3167600" cy="558000"/>
                </a:xfrm>
                <a:prstGeom prst="rect">
                  <a:avLst/>
                </a:prstGeom>
                <a:noFill/>
                <a:ln w="6350" cap="rnd">
                  <a:solidFill>
                    <a:schemeClr val="tx1">
                      <a:alpha val="50000"/>
                    </a:schemeClr>
                  </a:solidFill>
                  <a:prstDash val="solid"/>
                  <a:round/>
                </a:ln>
                <a:effectLst>
                  <a:outerShdw blurRad="254000" dist="1270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l">
                    <a:lnSpc>
                      <a:spcPct val="120000"/>
                    </a:lnSpc>
                  </a:pPr>
                  <a:r>
                    <a:rPr lang="en-US" sz="1800" b="1" i="0" u="none">
                      <a:solidFill>
                        <a:srgbClr val="FFFFFF"/>
                      </a:solidFill>
                      <a:ea typeface="微软雅黑"/>
                    </a:rPr>
                    <a:t>密钥生成流程</a:t>
                  </a:r>
                </a:p>
              </p:txBody>
            </p:sp>
            <p:sp>
              <p:nvSpPr>
                <p:cNvPr id="9" name="Text1" descr="b36ae48e-9f17-4d53-bb9c-1346a158b9d4">
                  <a:extLst>
                    <a:ext uri="{FF2B5EF4-FFF2-40B4-BE49-F238E27FC236}">
                      <a16:creationId xmlns:a16="http://schemas.microsoft.com/office/drawing/2014/main" id="{6289FCB8-58EC-389D-70D0-C38C5EF44937}"/>
                    </a:ext>
                  </a:extLst>
                </p:cNvPr>
                <p:cNvSpPr/>
                <p:nvPr/>
              </p:nvSpPr>
              <p:spPr>
                <a:xfrm>
                  <a:off x="660400" y="3773714"/>
                  <a:ext cx="3167600" cy="23603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rmAutofit/>
                </a:bodyPr>
                <a:lstStyle/>
                <a:p>
                  <a:pPr algn="l">
                    <a:lnSpc>
                      <a:spcPct val="120000"/>
                    </a:lnSpc>
                  </a:pPr>
                  <a:r>
                    <a:rPr lang="en-US" sz="1200" b="0" i="0" u="none">
                      <a:solidFill>
                        <a:srgbClr val="FFFFFF"/>
                      </a:solidFill>
                      <a:latin typeface="Arial"/>
                    </a:rPr>
                    <a:t>RSA算法的密钥生成过程包括选择两个大素数p和q，计算模数n = p * q和欧拉函数φ(n) = (p - 1) * (q - 1)。选择一个与φ(n)互质的整数e作为公钥指数，然后计算私钥指数d，使得d * e mod φ(n) = 1。</a:t>
                  </a:r>
                </a:p>
              </p:txBody>
            </p:sp>
            <p:sp>
              <p:nvSpPr>
                <p:cNvPr id="10" name="Number1" descr="554e76b2-1125-4435-9d29-0496781293d3">
                  <a:extLst>
                    <a:ext uri="{FF2B5EF4-FFF2-40B4-BE49-F238E27FC236}">
                      <a16:creationId xmlns:a16="http://schemas.microsoft.com/office/drawing/2014/main" id="{0ECBF7BD-8BFF-004A-23D0-3CA445EFFDD2}"/>
                    </a:ext>
                  </a:extLst>
                </p:cNvPr>
                <p:cNvSpPr/>
                <p:nvPr/>
              </p:nvSpPr>
              <p:spPr>
                <a:xfrm>
                  <a:off x="1787176" y="2729918"/>
                  <a:ext cx="914048" cy="360000"/>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i="0" u="none">
                      <a:solidFill>
                        <a:srgbClr val="FFFFFF"/>
                      </a:solidFill>
                      <a:latin typeface="Arial"/>
                    </a:rPr>
                    <a:t>1</a:t>
                  </a:r>
                </a:p>
              </p:txBody>
            </p:sp>
          </p:grpSp>
          <p:grpSp>
            <p:nvGrpSpPr>
              <p:cNvPr id="19" name="组合 18" descr="51b4818e-b75e-4df5-b388-a3c6623b3f91">
                <a:extLst>
                  <a:ext uri="{FF2B5EF4-FFF2-40B4-BE49-F238E27FC236}">
                    <a16:creationId xmlns:a16="http://schemas.microsoft.com/office/drawing/2014/main" id="{1EECB156-0575-B003-77DD-1699272972CB}"/>
                  </a:ext>
                </a:extLst>
              </p:cNvPr>
              <p:cNvGrpSpPr/>
              <p:nvPr/>
            </p:nvGrpSpPr>
            <p:grpSpPr>
              <a:xfrm>
                <a:off x="4505850" y="2729918"/>
                <a:ext cx="3167600" cy="3404182"/>
                <a:chOff x="4505850" y="2729918"/>
                <a:chExt cx="3167600" cy="3404182"/>
              </a:xfrm>
            </p:grpSpPr>
            <p:sp>
              <p:nvSpPr>
                <p:cNvPr id="12" name="Bullet2" descr="f6b748c1-1d2e-4c93-9eb1-ef3808d6bdaf">
                  <a:extLst>
                    <a:ext uri="{FF2B5EF4-FFF2-40B4-BE49-F238E27FC236}">
                      <a16:creationId xmlns:a16="http://schemas.microsoft.com/office/drawing/2014/main" id="{EFFAA690-93A2-ED70-6CCB-365147BE6B20}"/>
                    </a:ext>
                  </a:extLst>
                </p:cNvPr>
                <p:cNvSpPr/>
                <p:nvPr/>
              </p:nvSpPr>
              <p:spPr>
                <a:xfrm>
                  <a:off x="4505850" y="3094745"/>
                  <a:ext cx="3167600" cy="558000"/>
                </a:xfrm>
                <a:prstGeom prst="rect">
                  <a:avLst/>
                </a:prstGeom>
                <a:noFill/>
                <a:ln w="6350" cap="rnd">
                  <a:solidFill>
                    <a:schemeClr val="tx1">
                      <a:alpha val="50000"/>
                    </a:schemeClr>
                  </a:solidFill>
                  <a:prstDash val="solid"/>
                  <a:round/>
                </a:ln>
                <a:effectLst>
                  <a:outerShdw blurRad="254000" dist="1270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l">
                    <a:lnSpc>
                      <a:spcPct val="120000"/>
                    </a:lnSpc>
                  </a:pPr>
                  <a:r>
                    <a:rPr lang="en-US" sz="1800" b="1" i="0" u="none">
                      <a:solidFill>
                        <a:srgbClr val="FFFFFF"/>
                      </a:solidFill>
                      <a:ea typeface="微软雅黑"/>
                    </a:rPr>
                    <a:t>加密与解密公式</a:t>
                  </a:r>
                </a:p>
              </p:txBody>
            </p:sp>
            <p:sp>
              <p:nvSpPr>
                <p:cNvPr id="13" name="Text2" descr="60c7c6f6-f133-43e8-84c6-6ea0a2235660">
                  <a:extLst>
                    <a:ext uri="{FF2B5EF4-FFF2-40B4-BE49-F238E27FC236}">
                      <a16:creationId xmlns:a16="http://schemas.microsoft.com/office/drawing/2014/main" id="{F25D72E2-0AF3-72FE-FEC2-4CF3B630B7BE}"/>
                    </a:ext>
                  </a:extLst>
                </p:cNvPr>
                <p:cNvSpPr/>
                <p:nvPr/>
              </p:nvSpPr>
              <p:spPr>
                <a:xfrm>
                  <a:off x="4505850" y="3773714"/>
                  <a:ext cx="3167600" cy="23603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rmAutofit/>
                </a:bodyPr>
                <a:lstStyle/>
                <a:p>
                  <a:pPr algn="l">
                    <a:lnSpc>
                      <a:spcPct val="120000"/>
                    </a:lnSpc>
                  </a:pPr>
                  <a:r>
                    <a:rPr lang="en-US" sz="1200" b="0" i="0" u="none">
                      <a:solidFill>
                        <a:srgbClr val="FFFFFF"/>
                      </a:solidFill>
                      <a:ea typeface="微软雅黑"/>
                    </a:rPr>
                    <a:t>加密公式为c = m^e mod n，其中m为明文，c为密文。解密公式为m = c^d mod n。通过这两个公式，可以实现数据的加密和解密。</a:t>
                  </a:r>
                </a:p>
              </p:txBody>
            </p:sp>
            <p:sp>
              <p:nvSpPr>
                <p:cNvPr id="14" name="Number2" descr="0a6511b4-67da-49db-ab4c-130172f928e6">
                  <a:extLst>
                    <a:ext uri="{FF2B5EF4-FFF2-40B4-BE49-F238E27FC236}">
                      <a16:creationId xmlns:a16="http://schemas.microsoft.com/office/drawing/2014/main" id="{CD910456-EC70-6C79-858A-01F9E1556FB6}"/>
                    </a:ext>
                  </a:extLst>
                </p:cNvPr>
                <p:cNvSpPr/>
                <p:nvPr/>
              </p:nvSpPr>
              <p:spPr>
                <a:xfrm>
                  <a:off x="5632626" y="2729918"/>
                  <a:ext cx="914048" cy="360000"/>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a:r>
                    <a:rPr lang="en-US" sz="1600" b="0" i="0" u="none">
                      <a:solidFill>
                        <a:srgbClr val="FFFFFF"/>
                      </a:solidFill>
                      <a:latin typeface="Arial"/>
                    </a:rPr>
                    <a:t>2</a:t>
                  </a:r>
                </a:p>
              </p:txBody>
            </p:sp>
          </p:grpSp>
          <p:grpSp>
            <p:nvGrpSpPr>
              <p:cNvPr id="20" name="组合 19" descr="34410b93-6a0a-4807-8eb7-6edcf19962ed">
                <a:extLst>
                  <a:ext uri="{FF2B5EF4-FFF2-40B4-BE49-F238E27FC236}">
                    <a16:creationId xmlns:a16="http://schemas.microsoft.com/office/drawing/2014/main" id="{6D370799-A264-9333-C2BE-5F587C3E72F2}"/>
                  </a:ext>
                </a:extLst>
              </p:cNvPr>
              <p:cNvGrpSpPr/>
              <p:nvPr/>
            </p:nvGrpSpPr>
            <p:grpSpPr>
              <a:xfrm>
                <a:off x="8351300" y="2729918"/>
                <a:ext cx="3167600" cy="3404182"/>
                <a:chOff x="8351300" y="2729918"/>
                <a:chExt cx="3167600" cy="3404182"/>
              </a:xfrm>
            </p:grpSpPr>
            <p:sp>
              <p:nvSpPr>
                <p:cNvPr id="16" name="Bullet3" descr="84eb8f46-f37e-4082-b3dd-cc7a17ab1446">
                  <a:extLst>
                    <a:ext uri="{FF2B5EF4-FFF2-40B4-BE49-F238E27FC236}">
                      <a16:creationId xmlns:a16="http://schemas.microsoft.com/office/drawing/2014/main" id="{24E48F3C-223C-9AE6-73BB-48470469640C}"/>
                    </a:ext>
                  </a:extLst>
                </p:cNvPr>
                <p:cNvSpPr/>
                <p:nvPr/>
              </p:nvSpPr>
              <p:spPr>
                <a:xfrm>
                  <a:off x="8351300" y="3094745"/>
                  <a:ext cx="3167600" cy="558000"/>
                </a:xfrm>
                <a:prstGeom prst="rect">
                  <a:avLst/>
                </a:prstGeom>
                <a:noFill/>
                <a:ln w="6350" cap="rnd">
                  <a:solidFill>
                    <a:schemeClr val="tx1">
                      <a:alpha val="50000"/>
                    </a:schemeClr>
                  </a:solidFill>
                  <a:prstDash val="solid"/>
                  <a:round/>
                </a:ln>
                <a:effectLst>
                  <a:outerShdw blurRad="254000" dist="1270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l">
                    <a:lnSpc>
                      <a:spcPct val="120000"/>
                    </a:lnSpc>
                  </a:pPr>
                  <a:r>
                    <a:rPr lang="en-US" sz="1800" b="1" i="0" u="none">
                      <a:solidFill>
                        <a:srgbClr val="FFFFFF"/>
                      </a:solidFill>
                      <a:ea typeface="微软雅黑"/>
                    </a:rPr>
                    <a:t>安全性来源</a:t>
                  </a:r>
                </a:p>
              </p:txBody>
            </p:sp>
            <p:sp>
              <p:nvSpPr>
                <p:cNvPr id="17" name="Text3" descr="397d666f-88e7-4f2a-ba9e-e128e4c3152a">
                  <a:extLst>
                    <a:ext uri="{FF2B5EF4-FFF2-40B4-BE49-F238E27FC236}">
                      <a16:creationId xmlns:a16="http://schemas.microsoft.com/office/drawing/2014/main" id="{19DA7E39-8F33-6D36-1553-36FEEDF416EA}"/>
                    </a:ext>
                  </a:extLst>
                </p:cNvPr>
                <p:cNvSpPr/>
                <p:nvPr/>
              </p:nvSpPr>
              <p:spPr>
                <a:xfrm>
                  <a:off x="8351300" y="3773714"/>
                  <a:ext cx="3167600" cy="23603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rmAutofit/>
                </a:bodyPr>
                <a:lstStyle/>
                <a:p>
                  <a:pPr algn="l">
                    <a:lnSpc>
                      <a:spcPct val="120000"/>
                    </a:lnSpc>
                  </a:pPr>
                  <a:r>
                    <a:rPr lang="en-US" sz="1200" b="0" i="0" u="none">
                      <a:solidFill>
                        <a:srgbClr val="FFFFFF"/>
                      </a:solidFill>
                      <a:latin typeface="Arial"/>
                    </a:rPr>
                    <a:t>RSA算法的安全性基于大整数分解的困难性。如果攻击者能够分解模数n，就可以得到p和q，进而计算出私钥d，从而破解加密信息。因此，选择足够大的素数p和q是保证算法安全的关键。</a:t>
                  </a:r>
                </a:p>
              </p:txBody>
            </p:sp>
            <p:sp>
              <p:nvSpPr>
                <p:cNvPr id="18" name="Number3" descr="fb2fa8fa-0ace-4f57-9b70-22cc6ebd0351">
                  <a:extLst>
                    <a:ext uri="{FF2B5EF4-FFF2-40B4-BE49-F238E27FC236}">
                      <a16:creationId xmlns:a16="http://schemas.microsoft.com/office/drawing/2014/main" id="{C7C96E3F-033D-D60B-71B1-ED6129EAC6BF}"/>
                    </a:ext>
                  </a:extLst>
                </p:cNvPr>
                <p:cNvSpPr/>
                <p:nvPr/>
              </p:nvSpPr>
              <p:spPr>
                <a:xfrm>
                  <a:off x="9478076" y="2729918"/>
                  <a:ext cx="914048" cy="360000"/>
                </a:xfrm>
                <a:prstGeom prst="rect">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p>
                  <a:pPr algn="ctr"/>
                  <a:r>
                    <a:rPr lang="en-US" sz="1600" b="0" i="0" u="none">
                      <a:solidFill>
                        <a:srgbClr val="FFFFFF"/>
                      </a:solidFill>
                      <a:latin typeface="Arial"/>
                    </a:rPr>
                    <a:t>3</a:t>
                  </a:r>
                </a:p>
              </p:txBody>
            </p:sp>
          </p:grpSp>
        </p:grpSp>
        <p:cxnSp>
          <p:nvCxnSpPr>
            <p:cNvPr id="11" name="连接符: 肘形 10" descr="5209a393-f66c-443c-99bd-b248e4ad8e5c">
              <a:extLst>
                <a:ext uri="{FF2B5EF4-FFF2-40B4-BE49-F238E27FC236}">
                  <a16:creationId xmlns:a16="http://schemas.microsoft.com/office/drawing/2014/main" id="{0E7FA6AD-8A6D-7A33-17AE-F55336E6F08D}"/>
                </a:ext>
              </a:extLst>
            </p:cNvPr>
            <p:cNvCxnSpPr>
              <a:cxnSpLocks/>
              <a:stCxn id="6" idx="2"/>
              <a:endCxn id="10" idx="0"/>
            </p:cNvCxnSpPr>
            <p:nvPr/>
          </p:nvCxnSpPr>
          <p:spPr>
            <a:xfrm rot="5400000">
              <a:off x="3727116" y="367384"/>
              <a:ext cx="879618" cy="3845450"/>
            </a:xfrm>
            <a:prstGeom prst="bentConnector3">
              <a:avLst>
                <a:gd name="adj1" fmla="val 50000"/>
              </a:avLst>
            </a:prstGeom>
            <a:ln>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descr="4af4ef07-85a2-4df7-9a19-bd6648f29796">
              <a:extLst>
                <a:ext uri="{FF2B5EF4-FFF2-40B4-BE49-F238E27FC236}">
                  <a16:creationId xmlns:a16="http://schemas.microsoft.com/office/drawing/2014/main" id="{B2E05C6C-4766-3390-76E5-2F6408532A3B}"/>
                </a:ext>
              </a:extLst>
            </p:cNvPr>
            <p:cNvCxnSpPr>
              <a:cxnSpLocks/>
              <a:stCxn id="6" idx="2"/>
              <a:endCxn id="18" idx="0"/>
            </p:cNvCxnSpPr>
            <p:nvPr/>
          </p:nvCxnSpPr>
          <p:spPr>
            <a:xfrm rot="16200000" flipH="1">
              <a:off x="7572566" y="367384"/>
              <a:ext cx="879618" cy="3845450"/>
            </a:xfrm>
            <a:prstGeom prst="bentConnector3">
              <a:avLst>
                <a:gd name="adj1" fmla="val 50000"/>
              </a:avLst>
            </a:prstGeom>
            <a:ln>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descr="c825d0ba-41e6-421b-8402-34c0ef34606e">
              <a:extLst>
                <a:ext uri="{FF2B5EF4-FFF2-40B4-BE49-F238E27FC236}">
                  <a16:creationId xmlns:a16="http://schemas.microsoft.com/office/drawing/2014/main" id="{AFD8A379-7F51-F0C4-2ABE-30E8D8541F4A}"/>
                </a:ext>
              </a:extLst>
            </p:cNvPr>
            <p:cNvCxnSpPr>
              <a:stCxn id="6" idx="2"/>
              <a:endCxn id="14" idx="0"/>
            </p:cNvCxnSpPr>
            <p:nvPr/>
          </p:nvCxnSpPr>
          <p:spPr>
            <a:xfrm>
              <a:off x="6089650" y="1850300"/>
              <a:ext cx="0" cy="879618"/>
            </a:xfrm>
            <a:prstGeom prst="straightConnector1">
              <a:avLst/>
            </a:prstGeom>
            <a:ln>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 name="标题 1"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a:solidFill>
                  <a:srgbClr val="FFFFFF"/>
                </a:solidFill>
                <a:latin typeface="Arial"/>
              </a:rPr>
              <a:t>RSA 算法原理回顾</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e879a752-9be4-47c0-a361-228ab7e229d2.source.3.zh-Hans.pptx" descr="042ffe20-1f4b-4131-853e-ab0266ab93f0">
            <a:extLst>
              <a:ext uri="{FF2B5EF4-FFF2-40B4-BE49-F238E27FC236}">
                <a16:creationId xmlns:a16="http://schemas.microsoft.com/office/drawing/2014/main" id="{F557F9E9-8A26-53E3-25D1-BE7D581F27F0}"/>
              </a:ext>
            </a:extLst>
          </p:cNvPr>
          <p:cNvGrpSpPr/>
          <p:nvPr/>
        </p:nvGrpSpPr>
        <p:grpSpPr>
          <a:xfrm>
            <a:off x="660400" y="1141397"/>
            <a:ext cx="10858500" cy="4992702"/>
            <a:chOff x="660400" y="1141397"/>
            <a:chExt cx="10858500" cy="4992702"/>
          </a:xfrm>
        </p:grpSpPr>
        <p:grpSp>
          <p:nvGrpSpPr>
            <p:cNvPr id="4" name="组合 1" descr="f7e8e1e9-26f7-4c71-ba52-973a76960d58">
              <a:extLst>
                <a:ext uri="{FF2B5EF4-FFF2-40B4-BE49-F238E27FC236}">
                  <a16:creationId xmlns:a16="http://schemas.microsoft.com/office/drawing/2014/main" id="{427652F3-6EBC-9B4D-4872-B1BF03F80A14}"/>
                </a:ext>
              </a:extLst>
            </p:cNvPr>
            <p:cNvGrpSpPr/>
            <p:nvPr/>
          </p:nvGrpSpPr>
          <p:grpSpPr>
            <a:xfrm>
              <a:off x="660400" y="1141397"/>
              <a:ext cx="10858500" cy="4992702"/>
              <a:chOff x="660400" y="1141397"/>
              <a:chExt cx="10858500" cy="4992702"/>
            </a:xfrm>
          </p:grpSpPr>
          <p:sp>
            <p:nvSpPr>
              <p:cNvPr id="18" name="Title" descr="eeb30378-be19-49c2-814d-ae4abf9290e9">
                <a:extLst>
                  <a:ext uri="{FF2B5EF4-FFF2-40B4-BE49-F238E27FC236}">
                    <a16:creationId xmlns:a16="http://schemas.microsoft.com/office/drawing/2014/main" id="{96D828C7-0F19-4481-0B04-BAF2A9FCBF1F}"/>
                  </a:ext>
                </a:extLst>
              </p:cNvPr>
              <p:cNvSpPr/>
              <p:nvPr/>
            </p:nvSpPr>
            <p:spPr>
              <a:xfrm>
                <a:off x="660400" y="1141397"/>
                <a:ext cx="10858500" cy="853692"/>
              </a:xfrm>
              <a:prstGeom prst="roundRect">
                <a:avLst>
                  <a:gd name="adj" fmla="val 14472"/>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l"/>
                <a:endParaRPr/>
              </a:p>
            </p:txBody>
          </p:sp>
          <p:grpSp>
            <p:nvGrpSpPr>
              <p:cNvPr id="22" name="组合 21" descr="fc3fb266-a86e-46dc-a650-9bf298ac8d18">
                <a:extLst>
                  <a:ext uri="{FF2B5EF4-FFF2-40B4-BE49-F238E27FC236}">
                    <a16:creationId xmlns:a16="http://schemas.microsoft.com/office/drawing/2014/main" id="{C50EA280-9828-4219-8D7E-F42401402917}"/>
                  </a:ext>
                </a:extLst>
              </p:cNvPr>
              <p:cNvGrpSpPr/>
              <p:nvPr/>
            </p:nvGrpSpPr>
            <p:grpSpPr>
              <a:xfrm>
                <a:off x="660400" y="3347035"/>
                <a:ext cx="3402912" cy="2787064"/>
                <a:chOff x="660400" y="3347035"/>
                <a:chExt cx="3402912" cy="2787064"/>
              </a:xfrm>
            </p:grpSpPr>
            <p:sp>
              <p:nvSpPr>
                <p:cNvPr id="7" name="Bullet1" descr="3e8de7c6-8264-4302-b7ef-79d7a9da966a">
                  <a:extLst>
                    <a:ext uri="{FF2B5EF4-FFF2-40B4-BE49-F238E27FC236}">
                      <a16:creationId xmlns:a16="http://schemas.microsoft.com/office/drawing/2014/main" id="{C068C390-F138-0E57-2778-AC8E4E97854D}"/>
                    </a:ext>
                  </a:extLst>
                </p:cNvPr>
                <p:cNvSpPr>
                  <a:spLocks/>
                </p:cNvSpPr>
                <p:nvPr/>
              </p:nvSpPr>
              <p:spPr>
                <a:xfrm flipH="1">
                  <a:off x="1116067" y="3347035"/>
                  <a:ext cx="2947244" cy="438390"/>
                </a:xfrm>
                <a:prstGeom prst="rect">
                  <a:avLst/>
                </a:prstGeom>
                <a:noFill/>
              </p:spPr>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FFFFFF"/>
                      </a:solidFill>
                      <a:ea typeface="微软雅黑"/>
                    </a:rPr>
                    <a:t>大指数模幂</a:t>
                  </a:r>
                </a:p>
              </p:txBody>
            </p:sp>
            <p:sp>
              <p:nvSpPr>
                <p:cNvPr id="8" name="Text1" descr="fc82a568-bda4-4de0-b19f-e8324fe55b41">
                  <a:extLst>
                    <a:ext uri="{FF2B5EF4-FFF2-40B4-BE49-F238E27FC236}">
                      <a16:creationId xmlns:a16="http://schemas.microsoft.com/office/drawing/2014/main" id="{8A7A270E-F7C5-6216-3E03-42EF7704C26B}"/>
                    </a:ext>
                  </a:extLst>
                </p:cNvPr>
                <p:cNvSpPr txBox="1">
                  <a:spLocks/>
                </p:cNvSpPr>
                <p:nvPr/>
              </p:nvSpPr>
              <p:spPr>
                <a:xfrm>
                  <a:off x="1116068" y="3867978"/>
                  <a:ext cx="2947244" cy="2266121"/>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FFFFFF"/>
                      </a:solidFill>
                      <a:ea typeface="微软雅黑"/>
                    </a:rPr>
                    <a:t>在RSA算法的加密和解密过程中，需要进行大指数模幂运算。当指数和模数都很大时，模幂运算的计算量非常大，成为算法的性能瓶颈。</a:t>
                  </a:r>
                </a:p>
              </p:txBody>
            </p:sp>
            <p:sp>
              <p:nvSpPr>
                <p:cNvPr id="9" name="Number1" descr="437cb911-b388-4b3e-8af3-a358e1a33efc">
                  <a:extLst>
                    <a:ext uri="{FF2B5EF4-FFF2-40B4-BE49-F238E27FC236}">
                      <a16:creationId xmlns:a16="http://schemas.microsoft.com/office/drawing/2014/main" id="{75922AD0-8C5F-CE11-A78A-C069A8B87BDF}"/>
                    </a:ext>
                  </a:extLst>
                </p:cNvPr>
                <p:cNvSpPr/>
                <p:nvPr/>
              </p:nvSpPr>
              <p:spPr>
                <a:xfrm>
                  <a:off x="660400" y="3347035"/>
                  <a:ext cx="455665" cy="457200"/>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i="0" u="none">
                      <a:solidFill>
                        <a:srgbClr val="FFFFFF"/>
                      </a:solidFill>
                      <a:latin typeface="Arial"/>
                    </a:rPr>
                    <a:t>1</a:t>
                  </a:r>
                </a:p>
              </p:txBody>
            </p:sp>
          </p:grpSp>
          <p:grpSp>
            <p:nvGrpSpPr>
              <p:cNvPr id="23" name="组合 22" descr="cb3d9c68-55ee-45c1-b357-783f852c689a">
                <a:extLst>
                  <a:ext uri="{FF2B5EF4-FFF2-40B4-BE49-F238E27FC236}">
                    <a16:creationId xmlns:a16="http://schemas.microsoft.com/office/drawing/2014/main" id="{7324449F-4767-FDAD-3D8A-4A15EFAFA475}"/>
                  </a:ext>
                </a:extLst>
              </p:cNvPr>
              <p:cNvGrpSpPr/>
              <p:nvPr/>
            </p:nvGrpSpPr>
            <p:grpSpPr>
              <a:xfrm>
                <a:off x="4388193" y="3347035"/>
                <a:ext cx="3402912" cy="2787064"/>
                <a:chOff x="4388193" y="3347035"/>
                <a:chExt cx="3402912" cy="2787064"/>
              </a:xfrm>
            </p:grpSpPr>
            <p:sp>
              <p:nvSpPr>
                <p:cNvPr id="11" name="Bullet2" descr="f8b795db-3e0c-49c1-b7b1-3c9d9bc0611d">
                  <a:extLst>
                    <a:ext uri="{FF2B5EF4-FFF2-40B4-BE49-F238E27FC236}">
                      <a16:creationId xmlns:a16="http://schemas.microsoft.com/office/drawing/2014/main" id="{66EE89EB-5F22-4889-29C3-E72F738C639A}"/>
                    </a:ext>
                  </a:extLst>
                </p:cNvPr>
                <p:cNvSpPr>
                  <a:spLocks/>
                </p:cNvSpPr>
                <p:nvPr/>
              </p:nvSpPr>
              <p:spPr>
                <a:xfrm flipH="1">
                  <a:off x="4843860" y="3347035"/>
                  <a:ext cx="2947244" cy="438390"/>
                </a:xfrm>
                <a:prstGeom prst="rect">
                  <a:avLst/>
                </a:prstGeom>
                <a:noFill/>
              </p:spPr>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FFFFFF"/>
                      </a:solidFill>
                      <a:ea typeface="微软雅黑"/>
                    </a:rPr>
                    <a:t>解密耗时问题</a:t>
                  </a:r>
                </a:p>
              </p:txBody>
            </p:sp>
            <p:sp>
              <p:nvSpPr>
                <p:cNvPr id="12" name="Text2" descr="3c176b47-df07-41cb-bd08-3357c6bab6f8">
                  <a:extLst>
                    <a:ext uri="{FF2B5EF4-FFF2-40B4-BE49-F238E27FC236}">
                      <a16:creationId xmlns:a16="http://schemas.microsoft.com/office/drawing/2014/main" id="{D0AF0EC0-C640-692B-84D1-EA2724C0AB10}"/>
                    </a:ext>
                  </a:extLst>
                </p:cNvPr>
                <p:cNvSpPr txBox="1">
                  <a:spLocks/>
                </p:cNvSpPr>
                <p:nvPr/>
              </p:nvSpPr>
              <p:spPr>
                <a:xfrm>
                  <a:off x="4843861" y="3867978"/>
                  <a:ext cx="2947244" cy="2266121"/>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FFFFFF"/>
                      </a:solidFill>
                      <a:ea typeface="微软雅黑"/>
                    </a:rPr>
                    <a:t>由于解密过程涉及到大指数模幂运算，因此解密过程通常比加密过程耗时更长。在实际应用中，解密操作的延迟可能会影响系统的性能和用户体验。</a:t>
                  </a:r>
                </a:p>
              </p:txBody>
            </p:sp>
            <p:sp>
              <p:nvSpPr>
                <p:cNvPr id="13" name="Number2" descr="571e2478-ef11-4cfe-a609-6743e7883300">
                  <a:extLst>
                    <a:ext uri="{FF2B5EF4-FFF2-40B4-BE49-F238E27FC236}">
                      <a16:creationId xmlns:a16="http://schemas.microsoft.com/office/drawing/2014/main" id="{E35C83D1-52FF-E07C-1761-C8A0A1B6E506}"/>
                    </a:ext>
                  </a:extLst>
                </p:cNvPr>
                <p:cNvSpPr/>
                <p:nvPr/>
              </p:nvSpPr>
              <p:spPr>
                <a:xfrm>
                  <a:off x="4388193" y="3347035"/>
                  <a:ext cx="455665" cy="457200"/>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i="0" u="none">
                      <a:solidFill>
                        <a:srgbClr val="FFFFFF"/>
                      </a:solidFill>
                      <a:latin typeface="Arial"/>
                    </a:rPr>
                    <a:t>2</a:t>
                  </a:r>
                </a:p>
              </p:txBody>
            </p:sp>
          </p:grpSp>
          <p:grpSp>
            <p:nvGrpSpPr>
              <p:cNvPr id="24" name="组合 23" descr="3b301fc2-da30-4da9-a669-ec79dbdf27b2">
                <a:extLst>
                  <a:ext uri="{FF2B5EF4-FFF2-40B4-BE49-F238E27FC236}">
                    <a16:creationId xmlns:a16="http://schemas.microsoft.com/office/drawing/2014/main" id="{466444A3-1A63-BDB3-0B6C-45437CDF7737}"/>
                  </a:ext>
                </a:extLst>
              </p:cNvPr>
              <p:cNvGrpSpPr/>
              <p:nvPr/>
            </p:nvGrpSpPr>
            <p:grpSpPr>
              <a:xfrm>
                <a:off x="8115987" y="3347035"/>
                <a:ext cx="3402912" cy="2787064"/>
                <a:chOff x="8115987" y="3347035"/>
                <a:chExt cx="3402912" cy="2787064"/>
              </a:xfrm>
            </p:grpSpPr>
            <p:sp>
              <p:nvSpPr>
                <p:cNvPr id="15" name="Bullet3" descr="aac0359a-7787-41d6-b730-6bed4623501e">
                  <a:extLst>
                    <a:ext uri="{FF2B5EF4-FFF2-40B4-BE49-F238E27FC236}">
                      <a16:creationId xmlns:a16="http://schemas.microsoft.com/office/drawing/2014/main" id="{5B3A7C1D-5FA3-2D65-9C25-91050508C825}"/>
                    </a:ext>
                  </a:extLst>
                </p:cNvPr>
                <p:cNvSpPr>
                  <a:spLocks/>
                </p:cNvSpPr>
                <p:nvPr/>
              </p:nvSpPr>
              <p:spPr>
                <a:xfrm flipH="1">
                  <a:off x="8571654" y="3347035"/>
                  <a:ext cx="2947244" cy="438390"/>
                </a:xfrm>
                <a:prstGeom prst="rect">
                  <a:avLst/>
                </a:prstGeom>
                <a:noFill/>
              </p:spPr>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FFFFFF"/>
                      </a:solidFill>
                      <a:ea typeface="微软雅黑"/>
                    </a:rPr>
                    <a:t>实际应用中的优化需求</a:t>
                  </a:r>
                </a:p>
              </p:txBody>
            </p:sp>
            <p:sp>
              <p:nvSpPr>
                <p:cNvPr id="16" name="Text3" descr="83a52394-a94d-4ab4-994b-be12f549e4e7">
                  <a:extLst>
                    <a:ext uri="{FF2B5EF4-FFF2-40B4-BE49-F238E27FC236}">
                      <a16:creationId xmlns:a16="http://schemas.microsoft.com/office/drawing/2014/main" id="{3F64DAE0-4C96-D97A-D944-71DE5F126F06}"/>
                    </a:ext>
                  </a:extLst>
                </p:cNvPr>
                <p:cNvSpPr txBox="1">
                  <a:spLocks/>
                </p:cNvSpPr>
                <p:nvPr/>
              </p:nvSpPr>
              <p:spPr>
                <a:xfrm>
                  <a:off x="8571655" y="3867978"/>
                  <a:ext cx="2947244" cy="2266121"/>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FFFFFF"/>
                      </a:solidFill>
                      <a:ea typeface="微软雅黑"/>
                    </a:rPr>
                    <a:t>为了提高RSA算法在实际应用中的性能，需要对算法进行优化。例如，可以采用快速模幂算法、CRT优化等方法，减少计算时间，提高算法的效率。</a:t>
                  </a:r>
                </a:p>
              </p:txBody>
            </p:sp>
            <p:sp>
              <p:nvSpPr>
                <p:cNvPr id="17" name="Number3" descr="d53c4ea8-c359-4c1b-a507-0880577a94ed">
                  <a:extLst>
                    <a:ext uri="{FF2B5EF4-FFF2-40B4-BE49-F238E27FC236}">
                      <a16:creationId xmlns:a16="http://schemas.microsoft.com/office/drawing/2014/main" id="{D76FBA3F-8618-ABCD-B6F9-ADB80842EB74}"/>
                    </a:ext>
                  </a:extLst>
                </p:cNvPr>
                <p:cNvSpPr/>
                <p:nvPr/>
              </p:nvSpPr>
              <p:spPr>
                <a:xfrm>
                  <a:off x="8115987" y="3347035"/>
                  <a:ext cx="455665" cy="457200"/>
                </a:xfrm>
                <a:prstGeom prst="ellipse">
                  <a:avLst/>
                </a:prstGeom>
                <a:solidFill>
                  <a:schemeClr val="accent1"/>
                </a:soli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b="1" i="0" u="none">
                      <a:solidFill>
                        <a:srgbClr val="FFFFFF"/>
                      </a:solidFill>
                      <a:latin typeface="Arial"/>
                    </a:rPr>
                    <a:t>3</a:t>
                  </a:r>
                </a:p>
              </p:txBody>
            </p:sp>
          </p:grpSp>
        </p:grpSp>
        <p:cxnSp>
          <p:nvCxnSpPr>
            <p:cNvPr id="3" name="连接符: 肘形 2" descr="0158ddb5-7d87-43e2-a2a2-3875e344ff8c">
              <a:extLst>
                <a:ext uri="{FF2B5EF4-FFF2-40B4-BE49-F238E27FC236}">
                  <a16:creationId xmlns:a16="http://schemas.microsoft.com/office/drawing/2014/main" id="{58CA1AC5-6447-1E4F-3FBF-2918BE011F45}"/>
                </a:ext>
              </a:extLst>
            </p:cNvPr>
            <p:cNvCxnSpPr>
              <a:cxnSpLocks/>
              <a:stCxn id="9" idx="0"/>
              <a:endCxn id="17" idx="0"/>
            </p:cNvCxnSpPr>
            <p:nvPr/>
          </p:nvCxnSpPr>
          <p:spPr>
            <a:xfrm rot="5400000" flipH="1" flipV="1">
              <a:off x="4616026" y="-380758"/>
              <a:ext cx="12700" cy="7455587"/>
            </a:xfrm>
            <a:prstGeom prst="bentConnector3">
              <a:avLst>
                <a:gd name="adj1" fmla="val 180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descr="edd486f1-1763-4e15-9a6f-b00aaf4d9ddb">
              <a:extLst>
                <a:ext uri="{FF2B5EF4-FFF2-40B4-BE49-F238E27FC236}">
                  <a16:creationId xmlns:a16="http://schemas.microsoft.com/office/drawing/2014/main" id="{FFC0428F-8E2D-445B-7C26-75CB6B033051}"/>
                </a:ext>
              </a:extLst>
            </p:cNvPr>
            <p:cNvCxnSpPr>
              <a:cxnSpLocks/>
              <a:endCxn id="13" idx="0"/>
            </p:cNvCxnSpPr>
            <p:nvPr/>
          </p:nvCxnSpPr>
          <p:spPr>
            <a:xfrm>
              <a:off x="4616026" y="2632841"/>
              <a:ext cx="0" cy="7141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 name="标题 1"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a:solidFill>
                  <a:srgbClr val="FFFFFF"/>
                </a:solidFill>
                <a:latin typeface="Arial"/>
              </a:rPr>
              <a:t>RSA 性能瓶颈分析</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b2b8ff34-16c1-4f7e-bd2f-23ebb21ea490.source.3.zh-Hans.pptx" descr="8d8ff5b9-ce5d-4118-91f3-18ff13a9e709">
            <a:extLst>
              <a:ext uri="{FF2B5EF4-FFF2-40B4-BE49-F238E27FC236}">
                <a16:creationId xmlns:a16="http://schemas.microsoft.com/office/drawing/2014/main" id="{EA68E7DA-9937-787F-C272-4E4268EDE8E1}"/>
              </a:ext>
            </a:extLst>
          </p:cNvPr>
          <p:cNvGrpSpPr/>
          <p:nvPr/>
        </p:nvGrpSpPr>
        <p:grpSpPr>
          <a:xfrm>
            <a:off x="660400" y="1130300"/>
            <a:ext cx="10858500" cy="5003800"/>
            <a:chOff x="660400" y="1130300"/>
            <a:chExt cx="10858500" cy="5003800"/>
          </a:xfrm>
        </p:grpSpPr>
        <p:cxnSp>
          <p:nvCxnSpPr>
            <p:cNvPr id="4" name="直接连接符 1" descr="0a39191b-34c8-47fa-9537-1f3d28a63b66">
              <a:extLst>
                <a:ext uri="{FF2B5EF4-FFF2-40B4-BE49-F238E27FC236}">
                  <a16:creationId xmlns:a16="http://schemas.microsoft.com/office/drawing/2014/main" id="{FBC85C7C-FB40-6B92-FFAF-4BD8A06E5EAB}"/>
                </a:ext>
              </a:extLst>
            </p:cNvPr>
            <p:cNvCxnSpPr/>
            <p:nvPr/>
          </p:nvCxnSpPr>
          <p:spPr>
            <a:xfrm>
              <a:off x="660400" y="6035454"/>
              <a:ext cx="10858500" cy="0"/>
            </a:xfrm>
            <a:prstGeom prst="line">
              <a:avLst/>
            </a:prstGeom>
            <a:ln>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Title" descr="14c6bb7a-9a77-4751-887c-d8b0faedd2a2">
              <a:extLst>
                <a:ext uri="{FF2B5EF4-FFF2-40B4-BE49-F238E27FC236}">
                  <a16:creationId xmlns:a16="http://schemas.microsoft.com/office/drawing/2014/main" id="{BE889D29-1384-CD8A-964D-F67C48E3D85D}"/>
                </a:ext>
              </a:extLst>
            </p:cNvPr>
            <p:cNvSpPr/>
            <p:nvPr/>
          </p:nvSpPr>
          <p:spPr>
            <a:xfrm>
              <a:off x="660400" y="1130300"/>
              <a:ext cx="10858500" cy="635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a:p>
          </p:txBody>
        </p:sp>
        <p:cxnSp>
          <p:nvCxnSpPr>
            <p:cNvPr id="8" name="直接连接符 7" descr="d3fcbc24-14f5-4abf-a3e5-16d28ddc199b">
              <a:extLst>
                <a:ext uri="{FF2B5EF4-FFF2-40B4-BE49-F238E27FC236}">
                  <a16:creationId xmlns:a16="http://schemas.microsoft.com/office/drawing/2014/main" id="{11243AF2-5649-B02A-98BE-2B9DACA81173}"/>
                </a:ext>
              </a:extLst>
            </p:cNvPr>
            <p:cNvCxnSpPr>
              <a:cxnSpLocks/>
            </p:cNvCxnSpPr>
            <p:nvPr/>
          </p:nvCxnSpPr>
          <p:spPr>
            <a:xfrm flipH="1" flipV="1">
              <a:off x="759509" y="2340053"/>
              <a:ext cx="6688" cy="3596749"/>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descr="620d8789-5c60-4091-a4c6-4ff457d3d2f0">
              <a:extLst>
                <a:ext uri="{FF2B5EF4-FFF2-40B4-BE49-F238E27FC236}">
                  <a16:creationId xmlns:a16="http://schemas.microsoft.com/office/drawing/2014/main" id="{C5402851-853D-C86E-DB6C-FD373392BDCF}"/>
                </a:ext>
              </a:extLst>
            </p:cNvPr>
            <p:cNvCxnSpPr>
              <a:cxnSpLocks/>
            </p:cNvCxnSpPr>
            <p:nvPr/>
          </p:nvCxnSpPr>
          <p:spPr>
            <a:xfrm flipH="1" flipV="1">
              <a:off x="4691519" y="2340053"/>
              <a:ext cx="6688" cy="3564809"/>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descr="9edf9546-facc-4be5-bb51-1084f267705a">
              <a:extLst>
                <a:ext uri="{FF2B5EF4-FFF2-40B4-BE49-F238E27FC236}">
                  <a16:creationId xmlns:a16="http://schemas.microsoft.com/office/drawing/2014/main" id="{FFE78BA8-3501-9C5D-25B6-CD5E525FF4E3}"/>
                </a:ext>
              </a:extLst>
            </p:cNvPr>
            <p:cNvCxnSpPr>
              <a:cxnSpLocks/>
            </p:cNvCxnSpPr>
            <p:nvPr/>
          </p:nvCxnSpPr>
          <p:spPr>
            <a:xfrm flipH="1" flipV="1">
              <a:off x="8195296" y="2340053"/>
              <a:ext cx="6688" cy="3596749"/>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nvGrpSpPr>
            <p:cNvPr id="22" name="组合 21" descr="67ca4bfc-9381-4647-ba39-b126746ea756">
              <a:extLst>
                <a:ext uri="{FF2B5EF4-FFF2-40B4-BE49-F238E27FC236}">
                  <a16:creationId xmlns:a16="http://schemas.microsoft.com/office/drawing/2014/main" id="{860718C6-E509-D290-3794-33F9E0A93880}"/>
                </a:ext>
              </a:extLst>
            </p:cNvPr>
            <p:cNvGrpSpPr/>
            <p:nvPr/>
          </p:nvGrpSpPr>
          <p:grpSpPr>
            <a:xfrm>
              <a:off x="660400" y="2340053"/>
              <a:ext cx="3416697" cy="3794047"/>
              <a:chOff x="660400" y="2340053"/>
              <a:chExt cx="3416697" cy="3794047"/>
            </a:xfrm>
          </p:grpSpPr>
          <p:sp>
            <p:nvSpPr>
              <p:cNvPr id="6" name="Bullet1" descr="0e8f5283-5fe5-47c2-9dd3-fd985ab6ac04">
                <a:extLst>
                  <a:ext uri="{FF2B5EF4-FFF2-40B4-BE49-F238E27FC236}">
                    <a16:creationId xmlns:a16="http://schemas.microsoft.com/office/drawing/2014/main" id="{1F7408D8-F68D-FFCE-B8D3-DC8788BBB964}"/>
                  </a:ext>
                </a:extLst>
              </p:cNvPr>
              <p:cNvSpPr>
                <a:spLocks/>
              </p:cNvSpPr>
              <p:nvPr/>
            </p:nvSpPr>
            <p:spPr>
              <a:xfrm>
                <a:off x="871993" y="2340053"/>
                <a:ext cx="3205104" cy="515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en-US" sz="1800" b="1" i="0" u="none">
                    <a:solidFill>
                      <a:srgbClr val="FFFFFF"/>
                    </a:solidFill>
                    <a:ea typeface="微软雅黑"/>
                  </a:rPr>
                  <a:t>平方-乘算法</a:t>
                </a:r>
              </a:p>
            </p:txBody>
          </p:sp>
          <p:sp>
            <p:nvSpPr>
              <p:cNvPr id="7" name="Text1" descr="f1ce638d-f022-459c-9bfd-d3799a7519d2">
                <a:extLst>
                  <a:ext uri="{FF2B5EF4-FFF2-40B4-BE49-F238E27FC236}">
                    <a16:creationId xmlns:a16="http://schemas.microsoft.com/office/drawing/2014/main" id="{B3EA116B-F1CA-4E5A-7AFB-FF834A619DDB}"/>
                  </a:ext>
                </a:extLst>
              </p:cNvPr>
              <p:cNvSpPr/>
              <p:nvPr/>
            </p:nvSpPr>
            <p:spPr>
              <a:xfrm>
                <a:off x="871996" y="2954172"/>
                <a:ext cx="3205100" cy="29498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en-US" sz="1200" b="0" i="0" u="none">
                    <a:solidFill>
                      <a:srgbClr val="FFFFFF"/>
                    </a:solidFill>
                    <a:ea typeface="微软雅黑"/>
                  </a:rPr>
                  <a:t>平方-乘算法是一种高效的模幂算法，它将指数表示为一个二进制数，通过不断地平方和乘法运算，得到最终的模幂结果。其基本思想是，如果指数为奇数，则进行一次乘法运算；如果指数为偶数，则进行一次平方运算。通过这种方式，可以大大减少模幂运算的次数。</a:t>
                </a:r>
              </a:p>
            </p:txBody>
          </p:sp>
          <p:sp>
            <p:nvSpPr>
              <p:cNvPr id="5" name="Icon1" descr="e61171b8-6139-46a9-a00a-7c0a3f7ac89f">
                <a:extLst>
                  <a:ext uri="{FF2B5EF4-FFF2-40B4-BE49-F238E27FC236}">
                    <a16:creationId xmlns:a16="http://schemas.microsoft.com/office/drawing/2014/main" id="{8A4DBC3F-B925-F682-AA7B-4E44B038DC34}"/>
                  </a:ext>
                </a:extLst>
              </p:cNvPr>
              <p:cNvSpPr/>
              <p:nvPr/>
            </p:nvSpPr>
            <p:spPr>
              <a:xfrm>
                <a:off x="660400" y="5936806"/>
                <a:ext cx="197546" cy="197294"/>
              </a:xfrm>
              <a:custGeom>
                <a:avLst/>
                <a:gdLst>
                  <a:gd name="T0" fmla="*/ 2305 w 4612"/>
                  <a:gd name="T1" fmla="*/ 0 h 4614"/>
                  <a:gd name="T2" fmla="*/ 4612 w 4612"/>
                  <a:gd name="T3" fmla="*/ 2307 h 4614"/>
                  <a:gd name="T4" fmla="*/ 2305 w 4612"/>
                  <a:gd name="T5" fmla="*/ 4614 h 4614"/>
                  <a:gd name="T6" fmla="*/ 0 w 4612"/>
                  <a:gd name="T7" fmla="*/ 2387 h 4614"/>
                  <a:gd name="T8" fmla="*/ 2581 w 4612"/>
                  <a:gd name="T9" fmla="*/ 2392 h 4614"/>
                  <a:gd name="T10" fmla="*/ 2133 w 4612"/>
                  <a:gd name="T11" fmla="*/ 2840 h 4614"/>
                  <a:gd name="T12" fmla="*/ 2246 w 4612"/>
                  <a:gd name="T13" fmla="*/ 2952 h 4614"/>
                  <a:gd name="T14" fmla="*/ 2885 w 4612"/>
                  <a:gd name="T15" fmla="*/ 2313 h 4614"/>
                  <a:gd name="T16" fmla="*/ 2234 w 4612"/>
                  <a:gd name="T17" fmla="*/ 1662 h 4614"/>
                  <a:gd name="T18" fmla="*/ 2122 w 4612"/>
                  <a:gd name="T19" fmla="*/ 1775 h 4614"/>
                  <a:gd name="T20" fmla="*/ 2580 w 4612"/>
                  <a:gd name="T21" fmla="*/ 2233 h 4614"/>
                  <a:gd name="T22" fmla="*/ 0 w 4612"/>
                  <a:gd name="T23" fmla="*/ 2228 h 4614"/>
                  <a:gd name="T24" fmla="*/ 2305 w 4612"/>
                  <a:gd name="T25" fmla="*/ 0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5" y="0"/>
                    </a:moveTo>
                    <a:cubicBezTo>
                      <a:pt x="3577" y="0"/>
                      <a:pt x="4612" y="1035"/>
                      <a:pt x="4612" y="2307"/>
                    </a:cubicBezTo>
                    <a:cubicBezTo>
                      <a:pt x="4612" y="3579"/>
                      <a:pt x="3577" y="4614"/>
                      <a:pt x="2305" y="4614"/>
                    </a:cubicBezTo>
                    <a:cubicBezTo>
                      <a:pt x="1060" y="4614"/>
                      <a:pt x="42" y="3622"/>
                      <a:pt x="0" y="2387"/>
                    </a:cubicBezTo>
                    <a:lnTo>
                      <a:pt x="2581" y="2392"/>
                    </a:lnTo>
                    <a:lnTo>
                      <a:pt x="2133" y="2840"/>
                    </a:lnTo>
                    <a:lnTo>
                      <a:pt x="2246" y="2952"/>
                    </a:lnTo>
                    <a:lnTo>
                      <a:pt x="2885" y="2313"/>
                    </a:lnTo>
                    <a:lnTo>
                      <a:pt x="2234" y="1662"/>
                    </a:lnTo>
                    <a:lnTo>
                      <a:pt x="2122" y="1775"/>
                    </a:lnTo>
                    <a:lnTo>
                      <a:pt x="2580" y="2233"/>
                    </a:lnTo>
                    <a:lnTo>
                      <a:pt x="0" y="2228"/>
                    </a:lnTo>
                    <a:cubicBezTo>
                      <a:pt x="42" y="992"/>
                      <a:pt x="1060" y="0"/>
                      <a:pt x="230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grpSp>
        <p:grpSp>
          <p:nvGrpSpPr>
            <p:cNvPr id="23" name="组合 22" descr="2cd49fcc-5de0-4012-9679-2e1e0e81b163">
              <a:extLst>
                <a:ext uri="{FF2B5EF4-FFF2-40B4-BE49-F238E27FC236}">
                  <a16:creationId xmlns:a16="http://schemas.microsoft.com/office/drawing/2014/main" id="{68C29384-7675-07FD-7D9D-BA80066F51A5}"/>
                </a:ext>
              </a:extLst>
            </p:cNvPr>
            <p:cNvGrpSpPr/>
            <p:nvPr/>
          </p:nvGrpSpPr>
          <p:grpSpPr>
            <a:xfrm>
              <a:off x="4592410" y="2340053"/>
              <a:ext cx="3416697" cy="3762384"/>
              <a:chOff x="4592410" y="2340053"/>
              <a:chExt cx="3416697" cy="3762384"/>
            </a:xfrm>
          </p:grpSpPr>
          <p:sp>
            <p:nvSpPr>
              <p:cNvPr id="11" name="Bullet2" descr="1f30c008-3f5a-4d29-be40-d6de465c996f">
                <a:extLst>
                  <a:ext uri="{FF2B5EF4-FFF2-40B4-BE49-F238E27FC236}">
                    <a16:creationId xmlns:a16="http://schemas.microsoft.com/office/drawing/2014/main" id="{FB826303-C93D-D06D-FD6C-83D675596315}"/>
                  </a:ext>
                </a:extLst>
              </p:cNvPr>
              <p:cNvSpPr>
                <a:spLocks/>
              </p:cNvSpPr>
              <p:nvPr/>
            </p:nvSpPr>
            <p:spPr>
              <a:xfrm>
                <a:off x="4804003" y="2340053"/>
                <a:ext cx="3205104" cy="515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en-US" sz="1800" b="1" i="0" u="none">
                    <a:solidFill>
                      <a:srgbClr val="FFFFFF"/>
                    </a:solidFill>
                    <a:ea typeface="微软雅黑"/>
                  </a:rPr>
                  <a:t>时间复杂度分析</a:t>
                </a:r>
              </a:p>
            </p:txBody>
          </p:sp>
          <p:sp>
            <p:nvSpPr>
              <p:cNvPr id="12" name="Text2" descr="737990a8-f183-4172-b242-0ff41d1142f6">
                <a:extLst>
                  <a:ext uri="{FF2B5EF4-FFF2-40B4-BE49-F238E27FC236}">
                    <a16:creationId xmlns:a16="http://schemas.microsoft.com/office/drawing/2014/main" id="{CAAAA24F-8B58-0741-C485-D12A9690B8F0}"/>
                  </a:ext>
                </a:extLst>
              </p:cNvPr>
              <p:cNvSpPr/>
              <p:nvPr/>
            </p:nvSpPr>
            <p:spPr>
              <a:xfrm>
                <a:off x="4804007" y="2954172"/>
                <a:ext cx="3205100" cy="29498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en-US" sz="1200" b="0" i="0" u="none">
                    <a:solidFill>
                      <a:srgbClr val="FFFFFF"/>
                    </a:solidFill>
                    <a:ea typeface="微软雅黑"/>
                  </a:rPr>
                  <a:t>平方-乘算法的时间复杂度为O(logn)，其中n为指数的位数。与普通的模幂算法相比，平方-乘算法具有明显的优势，特别是在指数较大时，性能提升更加明显。</a:t>
                </a:r>
              </a:p>
            </p:txBody>
          </p:sp>
          <p:sp>
            <p:nvSpPr>
              <p:cNvPr id="10" name="Icon2" descr="aac585f0-eea6-407a-a134-7b4b5b4e7e09">
                <a:extLst>
                  <a:ext uri="{FF2B5EF4-FFF2-40B4-BE49-F238E27FC236}">
                    <a16:creationId xmlns:a16="http://schemas.microsoft.com/office/drawing/2014/main" id="{67487C05-4025-0DFA-CE6F-874BAA5E8466}"/>
                  </a:ext>
                </a:extLst>
              </p:cNvPr>
              <p:cNvSpPr/>
              <p:nvPr/>
            </p:nvSpPr>
            <p:spPr>
              <a:xfrm>
                <a:off x="4592410" y="5905143"/>
                <a:ext cx="197546" cy="197294"/>
              </a:xfrm>
              <a:custGeom>
                <a:avLst/>
                <a:gdLst>
                  <a:gd name="T0" fmla="*/ 2305 w 4612"/>
                  <a:gd name="T1" fmla="*/ 0 h 4614"/>
                  <a:gd name="T2" fmla="*/ 4612 w 4612"/>
                  <a:gd name="T3" fmla="*/ 2307 h 4614"/>
                  <a:gd name="T4" fmla="*/ 2305 w 4612"/>
                  <a:gd name="T5" fmla="*/ 4614 h 4614"/>
                  <a:gd name="T6" fmla="*/ 0 w 4612"/>
                  <a:gd name="T7" fmla="*/ 2387 h 4614"/>
                  <a:gd name="T8" fmla="*/ 2581 w 4612"/>
                  <a:gd name="T9" fmla="*/ 2392 h 4614"/>
                  <a:gd name="T10" fmla="*/ 2133 w 4612"/>
                  <a:gd name="T11" fmla="*/ 2840 h 4614"/>
                  <a:gd name="T12" fmla="*/ 2246 w 4612"/>
                  <a:gd name="T13" fmla="*/ 2952 h 4614"/>
                  <a:gd name="T14" fmla="*/ 2885 w 4612"/>
                  <a:gd name="T15" fmla="*/ 2313 h 4614"/>
                  <a:gd name="T16" fmla="*/ 2234 w 4612"/>
                  <a:gd name="T17" fmla="*/ 1662 h 4614"/>
                  <a:gd name="T18" fmla="*/ 2122 w 4612"/>
                  <a:gd name="T19" fmla="*/ 1775 h 4614"/>
                  <a:gd name="T20" fmla="*/ 2580 w 4612"/>
                  <a:gd name="T21" fmla="*/ 2233 h 4614"/>
                  <a:gd name="T22" fmla="*/ 0 w 4612"/>
                  <a:gd name="T23" fmla="*/ 2228 h 4614"/>
                  <a:gd name="T24" fmla="*/ 2305 w 4612"/>
                  <a:gd name="T25" fmla="*/ 0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5" y="0"/>
                    </a:moveTo>
                    <a:cubicBezTo>
                      <a:pt x="3577" y="0"/>
                      <a:pt x="4612" y="1035"/>
                      <a:pt x="4612" y="2307"/>
                    </a:cubicBezTo>
                    <a:cubicBezTo>
                      <a:pt x="4612" y="3579"/>
                      <a:pt x="3577" y="4614"/>
                      <a:pt x="2305" y="4614"/>
                    </a:cubicBezTo>
                    <a:cubicBezTo>
                      <a:pt x="1060" y="4614"/>
                      <a:pt x="42" y="3622"/>
                      <a:pt x="0" y="2387"/>
                    </a:cubicBezTo>
                    <a:lnTo>
                      <a:pt x="2581" y="2392"/>
                    </a:lnTo>
                    <a:lnTo>
                      <a:pt x="2133" y="2840"/>
                    </a:lnTo>
                    <a:lnTo>
                      <a:pt x="2246" y="2952"/>
                    </a:lnTo>
                    <a:lnTo>
                      <a:pt x="2885" y="2313"/>
                    </a:lnTo>
                    <a:lnTo>
                      <a:pt x="2234" y="1662"/>
                    </a:lnTo>
                    <a:lnTo>
                      <a:pt x="2122" y="1775"/>
                    </a:lnTo>
                    <a:lnTo>
                      <a:pt x="2580" y="2233"/>
                    </a:lnTo>
                    <a:lnTo>
                      <a:pt x="0" y="2228"/>
                    </a:lnTo>
                    <a:cubicBezTo>
                      <a:pt x="42" y="992"/>
                      <a:pt x="1060" y="0"/>
                      <a:pt x="230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grpSp>
        <p:grpSp>
          <p:nvGrpSpPr>
            <p:cNvPr id="24" name="组合 23" descr="215cc4aa-c82a-4ae0-bf71-8e106d4cbb6c">
              <a:extLst>
                <a:ext uri="{FF2B5EF4-FFF2-40B4-BE49-F238E27FC236}">
                  <a16:creationId xmlns:a16="http://schemas.microsoft.com/office/drawing/2014/main" id="{F7DB4237-8044-2A57-D7F4-4B1BD385DD48}"/>
                </a:ext>
              </a:extLst>
            </p:cNvPr>
            <p:cNvGrpSpPr/>
            <p:nvPr/>
          </p:nvGrpSpPr>
          <p:grpSpPr>
            <a:xfrm>
              <a:off x="8102202" y="2340053"/>
              <a:ext cx="3416697" cy="3794047"/>
              <a:chOff x="8102202" y="2340053"/>
              <a:chExt cx="3416697" cy="3794047"/>
            </a:xfrm>
          </p:grpSpPr>
          <p:sp>
            <p:nvSpPr>
              <p:cNvPr id="15" name="Icon3" descr="b6a0a938-c047-456a-995b-758cc07fb939">
                <a:extLst>
                  <a:ext uri="{FF2B5EF4-FFF2-40B4-BE49-F238E27FC236}">
                    <a16:creationId xmlns:a16="http://schemas.microsoft.com/office/drawing/2014/main" id="{10C41CE2-196B-F386-8998-F637B81C31FE}"/>
                  </a:ext>
                </a:extLst>
              </p:cNvPr>
              <p:cNvSpPr/>
              <p:nvPr/>
            </p:nvSpPr>
            <p:spPr>
              <a:xfrm>
                <a:off x="8102202" y="5936806"/>
                <a:ext cx="197546" cy="197294"/>
              </a:xfrm>
              <a:custGeom>
                <a:avLst/>
                <a:gdLst>
                  <a:gd name="T0" fmla="*/ 2305 w 4612"/>
                  <a:gd name="T1" fmla="*/ 0 h 4614"/>
                  <a:gd name="T2" fmla="*/ 4612 w 4612"/>
                  <a:gd name="T3" fmla="*/ 2307 h 4614"/>
                  <a:gd name="T4" fmla="*/ 2305 w 4612"/>
                  <a:gd name="T5" fmla="*/ 4614 h 4614"/>
                  <a:gd name="T6" fmla="*/ 0 w 4612"/>
                  <a:gd name="T7" fmla="*/ 2387 h 4614"/>
                  <a:gd name="T8" fmla="*/ 2581 w 4612"/>
                  <a:gd name="T9" fmla="*/ 2392 h 4614"/>
                  <a:gd name="T10" fmla="*/ 2133 w 4612"/>
                  <a:gd name="T11" fmla="*/ 2840 h 4614"/>
                  <a:gd name="T12" fmla="*/ 2246 w 4612"/>
                  <a:gd name="T13" fmla="*/ 2952 h 4614"/>
                  <a:gd name="T14" fmla="*/ 2885 w 4612"/>
                  <a:gd name="T15" fmla="*/ 2313 h 4614"/>
                  <a:gd name="T16" fmla="*/ 2234 w 4612"/>
                  <a:gd name="T17" fmla="*/ 1662 h 4614"/>
                  <a:gd name="T18" fmla="*/ 2122 w 4612"/>
                  <a:gd name="T19" fmla="*/ 1775 h 4614"/>
                  <a:gd name="T20" fmla="*/ 2580 w 4612"/>
                  <a:gd name="T21" fmla="*/ 2233 h 4614"/>
                  <a:gd name="T22" fmla="*/ 0 w 4612"/>
                  <a:gd name="T23" fmla="*/ 2228 h 4614"/>
                  <a:gd name="T24" fmla="*/ 2305 w 4612"/>
                  <a:gd name="T25" fmla="*/ 0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5" y="0"/>
                    </a:moveTo>
                    <a:cubicBezTo>
                      <a:pt x="3577" y="0"/>
                      <a:pt x="4612" y="1035"/>
                      <a:pt x="4612" y="2307"/>
                    </a:cubicBezTo>
                    <a:cubicBezTo>
                      <a:pt x="4612" y="3579"/>
                      <a:pt x="3577" y="4614"/>
                      <a:pt x="2305" y="4614"/>
                    </a:cubicBezTo>
                    <a:cubicBezTo>
                      <a:pt x="1060" y="4614"/>
                      <a:pt x="42" y="3622"/>
                      <a:pt x="0" y="2387"/>
                    </a:cubicBezTo>
                    <a:lnTo>
                      <a:pt x="2581" y="2392"/>
                    </a:lnTo>
                    <a:lnTo>
                      <a:pt x="2133" y="2840"/>
                    </a:lnTo>
                    <a:lnTo>
                      <a:pt x="2246" y="2952"/>
                    </a:lnTo>
                    <a:lnTo>
                      <a:pt x="2885" y="2313"/>
                    </a:lnTo>
                    <a:lnTo>
                      <a:pt x="2234" y="1662"/>
                    </a:lnTo>
                    <a:lnTo>
                      <a:pt x="2122" y="1775"/>
                    </a:lnTo>
                    <a:lnTo>
                      <a:pt x="2580" y="2233"/>
                    </a:lnTo>
                    <a:lnTo>
                      <a:pt x="0" y="2228"/>
                    </a:lnTo>
                    <a:cubicBezTo>
                      <a:pt x="42" y="992"/>
                      <a:pt x="1060" y="0"/>
                      <a:pt x="2305"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16" name="Bullet3" descr="94588615-6a1a-4d6d-89ec-5c1cc7587ace">
                <a:extLst>
                  <a:ext uri="{FF2B5EF4-FFF2-40B4-BE49-F238E27FC236}">
                    <a16:creationId xmlns:a16="http://schemas.microsoft.com/office/drawing/2014/main" id="{9356161D-9B1B-A55E-7EB6-A240A377A09B}"/>
                  </a:ext>
                </a:extLst>
              </p:cNvPr>
              <p:cNvSpPr>
                <a:spLocks/>
              </p:cNvSpPr>
              <p:nvPr/>
            </p:nvSpPr>
            <p:spPr>
              <a:xfrm>
                <a:off x="8313795" y="2340053"/>
                <a:ext cx="3205104" cy="5154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en-US" sz="1800" b="1" i="0" u="none">
                    <a:solidFill>
                      <a:srgbClr val="FFFFFF"/>
                    </a:solidFill>
                    <a:ea typeface="微软雅黑"/>
                  </a:rPr>
                  <a:t>与普通幂运算对比</a:t>
                </a:r>
              </a:p>
            </p:txBody>
          </p:sp>
          <p:sp>
            <p:nvSpPr>
              <p:cNvPr id="17" name="Text3" descr="6efcbe97-76d9-4984-81cd-bbc4c5178887">
                <a:extLst>
                  <a:ext uri="{FF2B5EF4-FFF2-40B4-BE49-F238E27FC236}">
                    <a16:creationId xmlns:a16="http://schemas.microsoft.com/office/drawing/2014/main" id="{F9BB32EC-6BE3-B9E6-76BB-9C43C08F69EC}"/>
                  </a:ext>
                </a:extLst>
              </p:cNvPr>
              <p:cNvSpPr/>
              <p:nvPr/>
            </p:nvSpPr>
            <p:spPr>
              <a:xfrm>
                <a:off x="8313799" y="2954172"/>
                <a:ext cx="3205100" cy="29498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en-US" sz="1200" b="0" i="0" u="none">
                    <a:solidFill>
                      <a:srgbClr val="FFFFFF"/>
                    </a:solidFill>
                    <a:ea typeface="微软雅黑"/>
                  </a:rPr>
                  <a:t>普通的幂运算采用逐次相乘的方式，时间复杂度为O(n)。当指数较大时，普通幂运算的效率非常低。而平方-乘算法通过优化计算过程，提高了模幂运算的效率。</a:t>
                </a:r>
              </a:p>
            </p:txBody>
          </p:sp>
        </p:grpSp>
      </p:grpSp>
      <p:sp>
        <p:nvSpPr>
          <p:cNvPr id="2" name="标题 1"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a:solidFill>
                  <a:srgbClr val="FFFFFF"/>
                </a:solidFill>
                <a:ea typeface="微软雅黑"/>
              </a:rPr>
              <a:t>快速模幂算法</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b200dcb1-0894-4488-b39f-c92d08921c06.source.3.zh-Hans.pptx" descr="b380071c-9ae8-42c9-9df2-091c6d431348">
            <a:extLst>
              <a:ext uri="{FF2B5EF4-FFF2-40B4-BE49-F238E27FC236}">
                <a16:creationId xmlns:a16="http://schemas.microsoft.com/office/drawing/2014/main" id="{4C851B62-1B5A-16B1-7500-465242F420A8}"/>
              </a:ext>
            </a:extLst>
          </p:cNvPr>
          <p:cNvGrpSpPr/>
          <p:nvPr/>
        </p:nvGrpSpPr>
        <p:grpSpPr>
          <a:xfrm>
            <a:off x="660400" y="1130312"/>
            <a:ext cx="10858500" cy="5105388"/>
            <a:chOff x="660400" y="1130312"/>
            <a:chExt cx="10858500" cy="5105388"/>
          </a:xfrm>
        </p:grpSpPr>
        <p:sp>
          <p:nvSpPr>
            <p:cNvPr id="31" name="Title" descr="b660d262-1d16-479e-909d-536635596423">
              <a:extLst>
                <a:ext uri="{FF2B5EF4-FFF2-40B4-BE49-F238E27FC236}">
                  <a16:creationId xmlns:a16="http://schemas.microsoft.com/office/drawing/2014/main" id="{A613184D-6AAE-67E3-A65B-AFB67AA07006}"/>
                </a:ext>
              </a:extLst>
            </p:cNvPr>
            <p:cNvSpPr>
              <a:spLocks noChangeAspect="1"/>
            </p:cNvSpPr>
            <p:nvPr/>
          </p:nvSpPr>
          <p:spPr>
            <a:xfrm>
              <a:off x="660400" y="1130312"/>
              <a:ext cx="10858500" cy="6186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a:p>
          </p:txBody>
        </p:sp>
        <p:cxnSp>
          <p:nvCxnSpPr>
            <p:cNvPr id="3" name="直接连接符 1" descr="faf536ff-e6f4-4e4d-859c-68bcccaae3ec">
              <a:extLst>
                <a:ext uri="{FF2B5EF4-FFF2-40B4-BE49-F238E27FC236}">
                  <a16:creationId xmlns:a16="http://schemas.microsoft.com/office/drawing/2014/main" id="{0F2CC2E8-670C-4C72-4241-7282459810CB}"/>
                </a:ext>
              </a:extLst>
            </p:cNvPr>
            <p:cNvCxnSpPr>
              <a:cxnSpLocks/>
            </p:cNvCxnSpPr>
            <p:nvPr/>
          </p:nvCxnSpPr>
          <p:spPr>
            <a:xfrm>
              <a:off x="5997302" y="1952012"/>
              <a:ext cx="0" cy="4283688"/>
            </a:xfrm>
            <a:prstGeom prst="line">
              <a:avLst/>
            </a:prstGeom>
            <a:ln w="6350">
              <a:solidFill>
                <a:schemeClr val="tx1">
                  <a:alpha val="50000"/>
                </a:schemeClr>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19" name="矩形: 圆角 18" descr="b0bb791a-28a2-4bed-9386-862725c522d0">
              <a:extLst>
                <a:ext uri="{FF2B5EF4-FFF2-40B4-BE49-F238E27FC236}">
                  <a16:creationId xmlns:a16="http://schemas.microsoft.com/office/drawing/2014/main" id="{4038027E-F1B2-5057-18E1-D344780C3493}"/>
                </a:ext>
              </a:extLst>
            </p:cNvPr>
            <p:cNvSpPr/>
            <p:nvPr/>
          </p:nvSpPr>
          <p:spPr>
            <a:xfrm>
              <a:off x="5973597" y="5168817"/>
              <a:ext cx="47785" cy="46154"/>
            </a:xfrm>
            <a:prstGeom prst="round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12" name="矩形: 圆角 11" descr="a03f55c6-29c1-46a8-b469-c0d8e090caff">
              <a:extLst>
                <a:ext uri="{FF2B5EF4-FFF2-40B4-BE49-F238E27FC236}">
                  <a16:creationId xmlns:a16="http://schemas.microsoft.com/office/drawing/2014/main" id="{3ABF3E30-A66D-D5CD-F54E-0E648E8D3FF7}"/>
                </a:ext>
              </a:extLst>
            </p:cNvPr>
            <p:cNvSpPr/>
            <p:nvPr/>
          </p:nvSpPr>
          <p:spPr>
            <a:xfrm>
              <a:off x="5973597" y="4019979"/>
              <a:ext cx="47785" cy="46154"/>
            </a:xfrm>
            <a:prstGeom prst="round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5" name="矩形: 圆角 4" descr="06f420d8-0e0e-4cba-a535-c71852da919f">
              <a:extLst>
                <a:ext uri="{FF2B5EF4-FFF2-40B4-BE49-F238E27FC236}">
                  <a16:creationId xmlns:a16="http://schemas.microsoft.com/office/drawing/2014/main" id="{59F99641-DC45-FA0F-AECB-BC4837056525}"/>
                </a:ext>
              </a:extLst>
            </p:cNvPr>
            <p:cNvSpPr/>
            <p:nvPr/>
          </p:nvSpPr>
          <p:spPr>
            <a:xfrm>
              <a:off x="5973597" y="2871141"/>
              <a:ext cx="47785" cy="46154"/>
            </a:xfrm>
            <a:prstGeom prst="round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grpSp>
          <p:nvGrpSpPr>
            <p:cNvPr id="38" name="组合 37" descr="f6e2c249-9021-4d3a-bf82-eb3b6ad6e920">
              <a:extLst>
                <a:ext uri="{FF2B5EF4-FFF2-40B4-BE49-F238E27FC236}">
                  <a16:creationId xmlns:a16="http://schemas.microsoft.com/office/drawing/2014/main" id="{E6748181-2F47-DAB6-23D2-8F3E0895F82A}"/>
                </a:ext>
              </a:extLst>
            </p:cNvPr>
            <p:cNvGrpSpPr/>
            <p:nvPr/>
          </p:nvGrpSpPr>
          <p:grpSpPr>
            <a:xfrm>
              <a:off x="660400" y="1952013"/>
              <a:ext cx="4951725" cy="1884411"/>
              <a:chOff x="782886" y="1952013"/>
              <a:chExt cx="4737786" cy="1884411"/>
            </a:xfrm>
          </p:grpSpPr>
          <p:sp>
            <p:nvSpPr>
              <p:cNvPr id="6" name="ComponentBackground1" descr="582b469a-b504-430f-9e10-b47470f99c46">
                <a:extLst>
                  <a:ext uri="{FF2B5EF4-FFF2-40B4-BE49-F238E27FC236}">
                    <a16:creationId xmlns:a16="http://schemas.microsoft.com/office/drawing/2014/main" id="{BDAB55EE-9E99-F844-56B3-FE4B1FB8E711}"/>
                  </a:ext>
                </a:extLst>
              </p:cNvPr>
              <p:cNvSpPr>
                <a:spLocks/>
              </p:cNvSpPr>
              <p:nvPr/>
            </p:nvSpPr>
            <p:spPr>
              <a:xfrm>
                <a:off x="984174" y="1952013"/>
                <a:ext cx="4536498" cy="1884411"/>
              </a:xfrm>
              <a:prstGeom prst="roundRect">
                <a:avLst>
                  <a:gd name="adj" fmla="val 8395"/>
                </a:avLst>
              </a:prstGeom>
              <a:noFill/>
              <a:ln w="6350">
                <a:solidFill>
                  <a:schemeClr val="tx1">
                    <a:alpha val="50000"/>
                  </a:schemeClr>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a:p>
            </p:txBody>
          </p:sp>
          <p:sp>
            <p:nvSpPr>
              <p:cNvPr id="7" name="Bullet1" descr="ed8a3f15-f223-4a0e-8139-439d330aff92">
                <a:extLst>
                  <a:ext uri="{FF2B5EF4-FFF2-40B4-BE49-F238E27FC236}">
                    <a16:creationId xmlns:a16="http://schemas.microsoft.com/office/drawing/2014/main" id="{A15E8169-824F-C38E-C1F3-03F2C0605C38}"/>
                  </a:ext>
                </a:extLst>
              </p:cNvPr>
              <p:cNvSpPr txBox="1">
                <a:spLocks/>
              </p:cNvSpPr>
              <p:nvPr/>
            </p:nvSpPr>
            <p:spPr bwMode="auto">
              <a:xfrm>
                <a:off x="1420787" y="2050510"/>
                <a:ext cx="4072149" cy="4824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pPr>
                <a:r>
                  <a:rPr lang="en-US" sz="1800" b="1" i="0" u="none">
                    <a:solidFill>
                      <a:srgbClr val="FFFFFF"/>
                    </a:solidFill>
                    <a:ea typeface="微软雅黑"/>
                  </a:rPr>
                  <a:t>基本数学原理</a:t>
                </a:r>
              </a:p>
            </p:txBody>
          </p:sp>
          <p:sp>
            <p:nvSpPr>
              <p:cNvPr id="8" name="Number1" descr="f14ef6e3-97ec-4a28-8103-2bd156c2b9cf">
                <a:extLst>
                  <a:ext uri="{FF2B5EF4-FFF2-40B4-BE49-F238E27FC236}">
                    <a16:creationId xmlns:a16="http://schemas.microsoft.com/office/drawing/2014/main" id="{A7559E2F-7588-028B-1106-9C08EE1185C1}"/>
                  </a:ext>
                </a:extLst>
              </p:cNvPr>
              <p:cNvSpPr>
                <a:spLocks/>
              </p:cNvSpPr>
              <p:nvPr/>
            </p:nvSpPr>
            <p:spPr>
              <a:xfrm>
                <a:off x="782886" y="2625326"/>
                <a:ext cx="420224" cy="439200"/>
              </a:xfrm>
              <a:prstGeom prst="round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0" i="0" u="none">
                    <a:solidFill>
                      <a:srgbClr val="FFFFFF"/>
                    </a:solidFill>
                    <a:latin typeface="Arial"/>
                  </a:rPr>
                  <a:t>1</a:t>
                </a:r>
              </a:p>
            </p:txBody>
          </p:sp>
          <p:sp>
            <p:nvSpPr>
              <p:cNvPr id="9" name="Text1" descr="e94ce920-c0ca-4cf6-a753-7530f23a9f50">
                <a:extLst>
                  <a:ext uri="{FF2B5EF4-FFF2-40B4-BE49-F238E27FC236}">
                    <a16:creationId xmlns:a16="http://schemas.microsoft.com/office/drawing/2014/main" id="{BFD48180-E97B-8C61-F4BD-974A474E2FC8}"/>
                  </a:ext>
                </a:extLst>
              </p:cNvPr>
              <p:cNvSpPr txBox="1">
                <a:spLocks/>
              </p:cNvSpPr>
              <p:nvPr/>
            </p:nvSpPr>
            <p:spPr bwMode="auto">
              <a:xfrm>
                <a:off x="1420787" y="2640951"/>
                <a:ext cx="4072149" cy="109544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spcAft>
                    <a:spcPct val="0"/>
                  </a:spcAft>
                </a:pPr>
                <a:r>
                  <a:rPr lang="en-US" sz="1200" b="0" i="0" u="none" strike="noStrike">
                    <a:solidFill>
                      <a:srgbClr val="FFFFFF"/>
                    </a:solidFill>
                    <a:latin typeface="Arial"/>
                  </a:rPr>
                  <a:t>CRT是一种用于求解同余式组的数学方法。在RSA算法中，利用CRT可以将解密过程拆分为两个较小的模幂运算，从而提高解密速度。</a:t>
                </a:r>
              </a:p>
            </p:txBody>
          </p:sp>
        </p:grpSp>
        <p:grpSp>
          <p:nvGrpSpPr>
            <p:cNvPr id="39" name="组合 38" descr="1ef8f488-f703-49b7-8813-5ef55533d61d">
              <a:extLst>
                <a:ext uri="{FF2B5EF4-FFF2-40B4-BE49-F238E27FC236}">
                  <a16:creationId xmlns:a16="http://schemas.microsoft.com/office/drawing/2014/main" id="{24A2F652-AE75-647A-C76F-691626EA9309}"/>
                </a:ext>
              </a:extLst>
            </p:cNvPr>
            <p:cNvGrpSpPr/>
            <p:nvPr/>
          </p:nvGrpSpPr>
          <p:grpSpPr>
            <a:xfrm>
              <a:off x="6369244" y="3100852"/>
              <a:ext cx="5149656" cy="1884409"/>
              <a:chOff x="6245080" y="3100852"/>
              <a:chExt cx="4927166" cy="1884409"/>
            </a:xfrm>
          </p:grpSpPr>
          <p:sp>
            <p:nvSpPr>
              <p:cNvPr id="13" name="ComponentBackground2" descr="268b71e1-9e74-4ce1-9228-a187bdf310bd">
                <a:extLst>
                  <a:ext uri="{FF2B5EF4-FFF2-40B4-BE49-F238E27FC236}">
                    <a16:creationId xmlns:a16="http://schemas.microsoft.com/office/drawing/2014/main" id="{3645C710-1BFC-7687-1811-90D602B0CFC2}"/>
                  </a:ext>
                </a:extLst>
              </p:cNvPr>
              <p:cNvSpPr>
                <a:spLocks/>
              </p:cNvSpPr>
              <p:nvPr/>
            </p:nvSpPr>
            <p:spPr>
              <a:xfrm flipH="1">
                <a:off x="6245080" y="3100852"/>
                <a:ext cx="4709634" cy="1884409"/>
              </a:xfrm>
              <a:prstGeom prst="roundRect">
                <a:avLst>
                  <a:gd name="adj" fmla="val 6477"/>
                </a:avLst>
              </a:prstGeom>
              <a:noFill/>
              <a:ln w="6350">
                <a:solidFill>
                  <a:schemeClr val="tx1">
                    <a:alpha val="50000"/>
                  </a:schemeClr>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a:p>
            </p:txBody>
          </p:sp>
          <p:sp>
            <p:nvSpPr>
              <p:cNvPr id="14" name="Bullet2" descr="20e31193-e9da-4d8b-ac07-bb68f1285931">
                <a:extLst>
                  <a:ext uri="{FF2B5EF4-FFF2-40B4-BE49-F238E27FC236}">
                    <a16:creationId xmlns:a16="http://schemas.microsoft.com/office/drawing/2014/main" id="{E872017C-C89B-7A71-BD1E-E5229E1CEC7E}"/>
                  </a:ext>
                </a:extLst>
              </p:cNvPr>
              <p:cNvSpPr txBox="1">
                <a:spLocks/>
              </p:cNvSpPr>
              <p:nvPr/>
            </p:nvSpPr>
            <p:spPr bwMode="auto">
              <a:xfrm>
                <a:off x="6576496" y="3215639"/>
                <a:ext cx="4072149" cy="4824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pPr>
                <a:r>
                  <a:rPr lang="en-US" sz="1800" b="1" i="0" u="none">
                    <a:solidFill>
                      <a:srgbClr val="FFFFFF"/>
                    </a:solidFill>
                    <a:ea typeface="微软雅黑"/>
                  </a:rPr>
                  <a:t>解密过程拆分</a:t>
                </a:r>
              </a:p>
            </p:txBody>
          </p:sp>
          <p:sp>
            <p:nvSpPr>
              <p:cNvPr id="15" name="Number2" descr="052e9bed-931e-422b-b190-8a8bbf0e05dc">
                <a:extLst>
                  <a:ext uri="{FF2B5EF4-FFF2-40B4-BE49-F238E27FC236}">
                    <a16:creationId xmlns:a16="http://schemas.microsoft.com/office/drawing/2014/main" id="{3CF62670-B02B-ED12-368B-19998D19406C}"/>
                  </a:ext>
                </a:extLst>
              </p:cNvPr>
              <p:cNvSpPr>
                <a:spLocks/>
              </p:cNvSpPr>
              <p:nvPr/>
            </p:nvSpPr>
            <p:spPr>
              <a:xfrm>
                <a:off x="10752022" y="3774166"/>
                <a:ext cx="420224" cy="439200"/>
              </a:xfrm>
              <a:prstGeom prst="round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0" i="0" u="none">
                    <a:solidFill>
                      <a:srgbClr val="FFFFFF"/>
                    </a:solidFill>
                    <a:latin typeface="Arial"/>
                  </a:rPr>
                  <a:t>2</a:t>
                </a:r>
              </a:p>
            </p:txBody>
          </p:sp>
          <p:sp>
            <p:nvSpPr>
              <p:cNvPr id="16" name="Text2" descr="86d39c2f-f5e5-4bf2-99ec-03c7778b30d8">
                <a:extLst>
                  <a:ext uri="{FF2B5EF4-FFF2-40B4-BE49-F238E27FC236}">
                    <a16:creationId xmlns:a16="http://schemas.microsoft.com/office/drawing/2014/main" id="{BF72FE48-999F-305E-F3B3-9157091060DC}"/>
                  </a:ext>
                </a:extLst>
              </p:cNvPr>
              <p:cNvSpPr txBox="1">
                <a:spLocks/>
              </p:cNvSpPr>
              <p:nvPr/>
            </p:nvSpPr>
            <p:spPr bwMode="auto">
              <a:xfrm>
                <a:off x="6576496" y="3789789"/>
                <a:ext cx="4072149" cy="109544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spcAft>
                    <a:spcPct val="0"/>
                  </a:spcAft>
                </a:pPr>
                <a:r>
                  <a:rPr lang="en-US" sz="1200" b="0" i="0" u="none" strike="noStrike">
                    <a:solidFill>
                      <a:srgbClr val="FFFFFF"/>
                    </a:solidFill>
                    <a:ea typeface="微软雅黑"/>
                  </a:rPr>
                  <a:t>在CRT优化中，将解密过程拆分为分别在模数p和q下的两个模幂运算，然后利用CRT将这两个结果合并得到最终的明文。这样可以减少计算量，提高解密效率。</a:t>
                </a:r>
              </a:p>
            </p:txBody>
          </p:sp>
        </p:grpSp>
        <p:grpSp>
          <p:nvGrpSpPr>
            <p:cNvPr id="40" name="组合 39" descr="6f6fb8ee-4218-48a6-9cac-9a3b8efc92d8">
              <a:extLst>
                <a:ext uri="{FF2B5EF4-FFF2-40B4-BE49-F238E27FC236}">
                  <a16:creationId xmlns:a16="http://schemas.microsoft.com/office/drawing/2014/main" id="{9C1C439B-6BE9-702E-B075-1B5A8474A6DE}"/>
                </a:ext>
              </a:extLst>
            </p:cNvPr>
            <p:cNvGrpSpPr/>
            <p:nvPr/>
          </p:nvGrpSpPr>
          <p:grpSpPr>
            <a:xfrm>
              <a:off x="660400" y="4249689"/>
              <a:ext cx="4951725" cy="1884411"/>
              <a:chOff x="782886" y="4249689"/>
              <a:chExt cx="4737786" cy="1884411"/>
            </a:xfrm>
          </p:grpSpPr>
          <p:sp>
            <p:nvSpPr>
              <p:cNvPr id="20" name="ComponentBackground3" descr="3f1f3663-4e69-423f-abbf-cc41a5abafd5">
                <a:extLst>
                  <a:ext uri="{FF2B5EF4-FFF2-40B4-BE49-F238E27FC236}">
                    <a16:creationId xmlns:a16="http://schemas.microsoft.com/office/drawing/2014/main" id="{7778E7A9-8096-0B1A-D454-C77BA8A3457B}"/>
                  </a:ext>
                </a:extLst>
              </p:cNvPr>
              <p:cNvSpPr>
                <a:spLocks/>
              </p:cNvSpPr>
              <p:nvPr/>
            </p:nvSpPr>
            <p:spPr>
              <a:xfrm>
                <a:off x="984174" y="4249689"/>
                <a:ext cx="4536498" cy="1884411"/>
              </a:xfrm>
              <a:prstGeom prst="roundRect">
                <a:avLst>
                  <a:gd name="adj" fmla="val 6477"/>
                </a:avLst>
              </a:prstGeom>
              <a:noFill/>
              <a:ln w="6350">
                <a:solidFill>
                  <a:schemeClr val="tx1">
                    <a:alpha val="50000"/>
                  </a:schemeClr>
                </a:solidFill>
              </a:ln>
              <a:effectLst>
                <a:outerShdw blurRad="533400" dist="50800" dir="5400000" algn="ctr"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a:p>
            </p:txBody>
          </p:sp>
          <p:sp>
            <p:nvSpPr>
              <p:cNvPr id="21" name="Bullet3" descr="b03f6650-f4aa-4b77-a374-acd88371d4dd">
                <a:extLst>
                  <a:ext uri="{FF2B5EF4-FFF2-40B4-BE49-F238E27FC236}">
                    <a16:creationId xmlns:a16="http://schemas.microsoft.com/office/drawing/2014/main" id="{56A8F69E-08C7-22C8-39EB-62C050B29677}"/>
                  </a:ext>
                </a:extLst>
              </p:cNvPr>
              <p:cNvSpPr txBox="1">
                <a:spLocks/>
              </p:cNvSpPr>
              <p:nvPr/>
            </p:nvSpPr>
            <p:spPr bwMode="auto">
              <a:xfrm>
                <a:off x="1420787" y="4364475"/>
                <a:ext cx="4072149" cy="4824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pPr>
                <a:r>
                  <a:rPr lang="en-US" sz="1800" b="1" i="0" u="none">
                    <a:solidFill>
                      <a:srgbClr val="FFFFFF"/>
                    </a:solidFill>
                    <a:ea typeface="微软雅黑"/>
                  </a:rPr>
                  <a:t>性能提升原因</a:t>
                </a:r>
              </a:p>
            </p:txBody>
          </p:sp>
          <p:sp>
            <p:nvSpPr>
              <p:cNvPr id="22" name="Number3" descr="e75963ee-4bcb-4895-b448-d3bcf83df03d">
                <a:extLst>
                  <a:ext uri="{FF2B5EF4-FFF2-40B4-BE49-F238E27FC236}">
                    <a16:creationId xmlns:a16="http://schemas.microsoft.com/office/drawing/2014/main" id="{8F400A04-4F69-048D-21C3-4C58B056255D}"/>
                  </a:ext>
                </a:extLst>
              </p:cNvPr>
              <p:cNvSpPr>
                <a:spLocks/>
              </p:cNvSpPr>
              <p:nvPr/>
            </p:nvSpPr>
            <p:spPr>
              <a:xfrm>
                <a:off x="782886" y="4923002"/>
                <a:ext cx="420224" cy="439200"/>
              </a:xfrm>
              <a:prstGeom prst="round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0" i="0" u="none">
                    <a:solidFill>
                      <a:srgbClr val="FFFFFF"/>
                    </a:solidFill>
                    <a:latin typeface="Arial"/>
                  </a:rPr>
                  <a:t>3</a:t>
                </a:r>
              </a:p>
            </p:txBody>
          </p:sp>
          <p:sp>
            <p:nvSpPr>
              <p:cNvPr id="23" name="Text3" descr="ec5de464-1cb6-4d96-a8b3-7de5fd5916c5">
                <a:extLst>
                  <a:ext uri="{FF2B5EF4-FFF2-40B4-BE49-F238E27FC236}">
                    <a16:creationId xmlns:a16="http://schemas.microsoft.com/office/drawing/2014/main" id="{3BAF7E46-8B7E-A582-C0B1-F10D80197F3E}"/>
                  </a:ext>
                </a:extLst>
              </p:cNvPr>
              <p:cNvSpPr txBox="1">
                <a:spLocks/>
              </p:cNvSpPr>
              <p:nvPr/>
            </p:nvSpPr>
            <p:spPr bwMode="auto">
              <a:xfrm>
                <a:off x="1420787" y="4938627"/>
                <a:ext cx="4072149" cy="109544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spcBef>
                    <a:spcPct val="0"/>
                  </a:spcBef>
                  <a:spcAft>
                    <a:spcPct val="0"/>
                  </a:spcAft>
                </a:pPr>
                <a:r>
                  <a:rPr lang="en-US" sz="1200" b="0" i="0" u="none" strike="noStrike">
                    <a:solidFill>
                      <a:srgbClr val="FFFFFF"/>
                    </a:solidFill>
                    <a:latin typeface="Arial"/>
                  </a:rPr>
                  <a:t>CRT优化的性能提升原因在于，它将一个大数模幂运算拆分为两个小数模幂运算，减少了计算的复杂度。同时，由于p和q都是较小的素数，模幂运算的速度更快，从而提高了整体的解密速度。</a:t>
                </a:r>
              </a:p>
            </p:txBody>
          </p:sp>
        </p:grpSp>
      </p:grpSp>
      <p:sp>
        <p:nvSpPr>
          <p:cNvPr id="2" name="标题 1"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a:solidFill>
                  <a:srgbClr val="FFFFFF"/>
                </a:solidFill>
                <a:latin typeface="Arial"/>
              </a:rPr>
              <a:t>CRT（中国剩余定理）优化</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4eda1e78-9da9-4086-8953-14b97d158819.source.3.zh-Hans.pptx" descr="8b85e12f-5737-4f85-ba1e-568d421a254b">
            <a:extLst>
              <a:ext uri="{FF2B5EF4-FFF2-40B4-BE49-F238E27FC236}">
                <a16:creationId xmlns:a16="http://schemas.microsoft.com/office/drawing/2014/main" id="{C9D56EE2-5090-F3CA-BEBC-7250521CA70E}"/>
              </a:ext>
            </a:extLst>
          </p:cNvPr>
          <p:cNvGrpSpPr/>
          <p:nvPr/>
        </p:nvGrpSpPr>
        <p:grpSpPr>
          <a:xfrm>
            <a:off x="660399" y="1130301"/>
            <a:ext cx="10858500" cy="5003805"/>
            <a:chOff x="660399" y="1130301"/>
            <a:chExt cx="10858500" cy="5003805"/>
          </a:xfrm>
        </p:grpSpPr>
        <p:grpSp>
          <p:nvGrpSpPr>
            <p:cNvPr id="3" name="组合 2" descr="a1ddc4fa-6bf0-44c6-b542-0e4c65a7f350">
              <a:extLst>
                <a:ext uri="{FF2B5EF4-FFF2-40B4-BE49-F238E27FC236}">
                  <a16:creationId xmlns:a16="http://schemas.microsoft.com/office/drawing/2014/main" id="{217EF1E2-0AA5-997D-302B-24AF187BB991}"/>
                </a:ext>
              </a:extLst>
            </p:cNvPr>
            <p:cNvGrpSpPr/>
            <p:nvPr/>
          </p:nvGrpSpPr>
          <p:grpSpPr>
            <a:xfrm>
              <a:off x="660399" y="1130301"/>
              <a:ext cx="10858500" cy="5003805"/>
              <a:chOff x="660399" y="1130301"/>
              <a:chExt cx="10858500" cy="5003805"/>
            </a:xfrm>
          </p:grpSpPr>
          <p:sp>
            <p:nvSpPr>
              <p:cNvPr id="9" name="Title" descr="b615a4a9-0494-4628-8885-64fafbace060">
                <a:extLst>
                  <a:ext uri="{FF2B5EF4-FFF2-40B4-BE49-F238E27FC236}">
                    <a16:creationId xmlns:a16="http://schemas.microsoft.com/office/drawing/2014/main" id="{230999F1-7773-B6B7-C25B-B4859FE73774}"/>
                  </a:ext>
                </a:extLst>
              </p:cNvPr>
              <p:cNvSpPr>
                <a:spLocks/>
              </p:cNvSpPr>
              <p:nvPr/>
            </p:nvSpPr>
            <p:spPr>
              <a:xfrm>
                <a:off x="660399" y="1130301"/>
                <a:ext cx="2545939" cy="4032844"/>
              </a:xfrm>
              <a:prstGeom prst="roundRect">
                <a:avLst>
                  <a:gd name="adj" fmla="val 0"/>
                </a:avLst>
              </a:prstGeom>
              <a:noFill/>
            </p:spPr>
            <p:txBody>
              <a:bodyPr wrap="square" lIns="91440" tIns="45720" rIns="91440" bIns="45720" anchor="ctr" anchorCtr="0">
                <a:normAutofit/>
              </a:bodyPr>
              <a:lstStyle/>
              <a:p>
                <a:pPr algn="l"/>
                <a:endParaRPr/>
              </a:p>
            </p:txBody>
          </p:sp>
          <p:cxnSp>
            <p:nvCxnSpPr>
              <p:cNvPr id="16" name="连接符: 肘形 15" descr="c862522d-ab4e-4fd4-96bf-172825e42e14">
                <a:extLst>
                  <a:ext uri="{FF2B5EF4-FFF2-40B4-BE49-F238E27FC236}">
                    <a16:creationId xmlns:a16="http://schemas.microsoft.com/office/drawing/2014/main" id="{BB4A6D19-1A2D-A6C4-F15D-3936791A8B8A}"/>
                  </a:ext>
                </a:extLst>
              </p:cNvPr>
              <p:cNvCxnSpPr>
                <a:cxnSpLocks/>
                <a:stCxn id="2" idx="3"/>
                <a:endCxn id="10" idx="3"/>
              </p:cNvCxnSpPr>
              <p:nvPr/>
            </p:nvCxnSpPr>
            <p:spPr>
              <a:xfrm>
                <a:off x="3206338" y="3146723"/>
                <a:ext cx="795641" cy="1741021"/>
              </a:xfrm>
              <a:prstGeom prst="bentConnector3">
                <a:avLst>
                  <a:gd name="adj1" fmla="val 50000"/>
                </a:avLst>
              </a:prstGeom>
              <a:ln w="6350">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连接符: 肘形 16" descr="ee444204-8ea7-4666-a97a-c88cec62653c">
                <a:extLst>
                  <a:ext uri="{FF2B5EF4-FFF2-40B4-BE49-F238E27FC236}">
                    <a16:creationId xmlns:a16="http://schemas.microsoft.com/office/drawing/2014/main" id="{2641201A-24DE-9E3C-A265-E2419DC1F87C}"/>
                  </a:ext>
                </a:extLst>
              </p:cNvPr>
              <p:cNvCxnSpPr>
                <a:cxnSpLocks/>
                <a:stCxn id="2" idx="3"/>
                <a:endCxn id="4" idx="3"/>
              </p:cNvCxnSpPr>
              <p:nvPr/>
            </p:nvCxnSpPr>
            <p:spPr>
              <a:xfrm flipV="1">
                <a:off x="3206338" y="1563360"/>
                <a:ext cx="795641" cy="1583363"/>
              </a:xfrm>
              <a:prstGeom prst="bentConnector3">
                <a:avLst>
                  <a:gd name="adj1" fmla="val 50000"/>
                </a:avLst>
              </a:prstGeom>
              <a:ln w="6350">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3" name="组合 12" descr="9eda676e-b869-4e30-bc9a-f017ad5edfea">
                <a:extLst>
                  <a:ext uri="{FF2B5EF4-FFF2-40B4-BE49-F238E27FC236}">
                    <a16:creationId xmlns:a16="http://schemas.microsoft.com/office/drawing/2014/main" id="{5CEB4CC4-9C62-B397-4D85-DC7D20D1EA47}"/>
                  </a:ext>
                </a:extLst>
              </p:cNvPr>
              <p:cNvGrpSpPr/>
              <p:nvPr/>
            </p:nvGrpSpPr>
            <p:grpSpPr>
              <a:xfrm>
                <a:off x="4001979" y="1287960"/>
                <a:ext cx="7516920" cy="1521762"/>
                <a:chOff x="4001979" y="1130300"/>
                <a:chExt cx="7516920" cy="1521762"/>
              </a:xfrm>
            </p:grpSpPr>
            <p:sp>
              <p:nvSpPr>
                <p:cNvPr id="4" name="Bullet1" descr="c30f1477-ff83-4804-9692-20ea969a04ab">
                  <a:extLst>
                    <a:ext uri="{FF2B5EF4-FFF2-40B4-BE49-F238E27FC236}">
                      <a16:creationId xmlns:a16="http://schemas.microsoft.com/office/drawing/2014/main" id="{2A49DDFF-B383-D56B-9B71-31CB239FCB13}"/>
                    </a:ext>
                  </a:extLst>
                </p:cNvPr>
                <p:cNvSpPr>
                  <a:spLocks/>
                </p:cNvSpPr>
                <p:nvPr/>
              </p:nvSpPr>
              <p:spPr>
                <a:xfrm flipH="1">
                  <a:off x="4001979" y="1130300"/>
                  <a:ext cx="7516915" cy="550800"/>
                </a:xfrm>
                <a:prstGeom prst="roundRect">
                  <a:avLst>
                    <a:gd name="adj" fmla="val 9201"/>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FFFFFF"/>
                      </a:solidFill>
                      <a:ea typeface="微软雅黑"/>
                    </a:rPr>
                    <a:t>普通解密 vs CRT解密</a:t>
                  </a:r>
                </a:p>
              </p:txBody>
            </p:sp>
            <p:sp>
              <p:nvSpPr>
                <p:cNvPr id="5" name="Text1" descr="ce6509f3-3f1e-4290-9a57-e08887ecc301">
                  <a:extLst>
                    <a:ext uri="{FF2B5EF4-FFF2-40B4-BE49-F238E27FC236}">
                      <a16:creationId xmlns:a16="http://schemas.microsoft.com/office/drawing/2014/main" id="{A7417D08-9A4F-9C3D-A979-19CD4A60154B}"/>
                    </a:ext>
                  </a:extLst>
                </p:cNvPr>
                <p:cNvSpPr txBox="1">
                  <a:spLocks/>
                </p:cNvSpPr>
                <p:nvPr/>
              </p:nvSpPr>
              <p:spPr>
                <a:xfrm>
                  <a:off x="4001984" y="1761125"/>
                  <a:ext cx="7516915" cy="890937"/>
                </a:xfrm>
                <a:prstGeom prst="rect">
                  <a:avLst/>
                </a:prstGeom>
                <a:noFill/>
                <a:ln w="6350">
                  <a:noFill/>
                </a:ln>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FFFFFF"/>
                      </a:solidFill>
                      <a:ea typeface="微软雅黑"/>
                    </a:rPr>
                    <a:t>通过实验对比普通解密和CRT解密的性能，可以发现CRT解密在时间上有明显的优势。特别是在大数解密的情况下，CRT解密的加速效果更加明显。</a:t>
                  </a:r>
                </a:p>
              </p:txBody>
            </p:sp>
          </p:grpSp>
          <p:grpSp>
            <p:nvGrpSpPr>
              <p:cNvPr id="14" name="组合 13" descr="33de6f15-ec28-4822-ba73-971e12e305da">
                <a:extLst>
                  <a:ext uri="{FF2B5EF4-FFF2-40B4-BE49-F238E27FC236}">
                    <a16:creationId xmlns:a16="http://schemas.microsoft.com/office/drawing/2014/main" id="{D8BB7825-3948-BDEB-09E0-45162821E414}"/>
                  </a:ext>
                </a:extLst>
              </p:cNvPr>
              <p:cNvGrpSpPr/>
              <p:nvPr/>
            </p:nvGrpSpPr>
            <p:grpSpPr>
              <a:xfrm>
                <a:off x="4001979" y="2924754"/>
                <a:ext cx="7516920" cy="1521762"/>
                <a:chOff x="4001979" y="2767094"/>
                <a:chExt cx="7516920" cy="1521762"/>
              </a:xfrm>
            </p:grpSpPr>
            <p:sp>
              <p:nvSpPr>
                <p:cNvPr id="7" name="Bullet2" descr="b4183680-bd11-4420-902a-6790333cc9a0">
                  <a:extLst>
                    <a:ext uri="{FF2B5EF4-FFF2-40B4-BE49-F238E27FC236}">
                      <a16:creationId xmlns:a16="http://schemas.microsoft.com/office/drawing/2014/main" id="{F7E15250-249D-35E3-CE65-08D3D473CF53}"/>
                    </a:ext>
                  </a:extLst>
                </p:cNvPr>
                <p:cNvSpPr>
                  <a:spLocks/>
                </p:cNvSpPr>
                <p:nvPr/>
              </p:nvSpPr>
              <p:spPr>
                <a:xfrm flipH="1">
                  <a:off x="4001979" y="2767094"/>
                  <a:ext cx="7516915" cy="550800"/>
                </a:xfrm>
                <a:prstGeom prst="roundRect">
                  <a:avLst>
                    <a:gd name="adj" fmla="val 7957"/>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FFFFFF"/>
                      </a:solidFill>
                      <a:ea typeface="微软雅黑"/>
                    </a:rPr>
                    <a:t>时间对比</a:t>
                  </a:r>
                </a:p>
              </p:txBody>
            </p:sp>
            <p:sp>
              <p:nvSpPr>
                <p:cNvPr id="8" name="Text2" descr="b990a68e-f63a-4f47-9e14-cb83b5e46ff7">
                  <a:extLst>
                    <a:ext uri="{FF2B5EF4-FFF2-40B4-BE49-F238E27FC236}">
                      <a16:creationId xmlns:a16="http://schemas.microsoft.com/office/drawing/2014/main" id="{8A5C978F-B0A9-D0C3-BBAC-BF006E54CE73}"/>
                    </a:ext>
                  </a:extLst>
                </p:cNvPr>
                <p:cNvSpPr txBox="1">
                  <a:spLocks/>
                </p:cNvSpPr>
                <p:nvPr/>
              </p:nvSpPr>
              <p:spPr>
                <a:xfrm>
                  <a:off x="4001984" y="3397919"/>
                  <a:ext cx="7516915" cy="890937"/>
                </a:xfrm>
                <a:prstGeom prst="rect">
                  <a:avLst/>
                </a:prstGeom>
                <a:noFill/>
                <a:ln w="6350">
                  <a:noFill/>
                </a:ln>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FFFFFF"/>
                      </a:solidFill>
                      <a:ea typeface="微软雅黑"/>
                    </a:rPr>
                    <a:t>具体的时间对比数据显示，CRT解密的时间通常只有普通解密的一部分。例如，对于相同规模的密文，CRT解密的时间可能只有普通解密的几分之一。</a:t>
                  </a:r>
                </a:p>
              </p:txBody>
            </p:sp>
          </p:grpSp>
          <p:grpSp>
            <p:nvGrpSpPr>
              <p:cNvPr id="18" name="组合 17" descr="a81e5a70-c3b5-4799-beba-70322504ac5d">
                <a:extLst>
                  <a:ext uri="{FF2B5EF4-FFF2-40B4-BE49-F238E27FC236}">
                    <a16:creationId xmlns:a16="http://schemas.microsoft.com/office/drawing/2014/main" id="{BD400287-2141-E30F-D64A-ADA701C75B84}"/>
                  </a:ext>
                </a:extLst>
              </p:cNvPr>
              <p:cNvGrpSpPr/>
              <p:nvPr/>
            </p:nvGrpSpPr>
            <p:grpSpPr>
              <a:xfrm>
                <a:off x="4001979" y="4612344"/>
                <a:ext cx="7516920" cy="1521762"/>
                <a:chOff x="4001979" y="4454684"/>
                <a:chExt cx="7516920" cy="1521762"/>
              </a:xfrm>
            </p:grpSpPr>
            <p:sp>
              <p:nvSpPr>
                <p:cNvPr id="10" name="Bullet3" descr="af928bdc-7ce3-46f0-8b9e-857de4bd8296">
                  <a:extLst>
                    <a:ext uri="{FF2B5EF4-FFF2-40B4-BE49-F238E27FC236}">
                      <a16:creationId xmlns:a16="http://schemas.microsoft.com/office/drawing/2014/main" id="{13A2D4A1-03F0-8439-82CC-51868EC69310}"/>
                    </a:ext>
                  </a:extLst>
                </p:cNvPr>
                <p:cNvSpPr>
                  <a:spLocks/>
                </p:cNvSpPr>
                <p:nvPr/>
              </p:nvSpPr>
              <p:spPr>
                <a:xfrm flipH="1">
                  <a:off x="4001979" y="4454684"/>
                  <a:ext cx="7516915" cy="550800"/>
                </a:xfrm>
                <a:prstGeom prst="roundRect">
                  <a:avLst>
                    <a:gd name="adj" fmla="val 9267"/>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FFFFFF"/>
                      </a:solidFill>
                      <a:ea typeface="微软雅黑"/>
                    </a:rPr>
                    <a:t>数据规模变化影响</a:t>
                  </a:r>
                </a:p>
              </p:txBody>
            </p:sp>
            <p:sp>
              <p:nvSpPr>
                <p:cNvPr id="11" name="Text3" descr="090a2283-c91c-481f-b695-1da6c8cf3a73">
                  <a:extLst>
                    <a:ext uri="{FF2B5EF4-FFF2-40B4-BE49-F238E27FC236}">
                      <a16:creationId xmlns:a16="http://schemas.microsoft.com/office/drawing/2014/main" id="{A683CE3F-7D94-0829-2DFA-1B8F8FBE30B9}"/>
                    </a:ext>
                  </a:extLst>
                </p:cNvPr>
                <p:cNvSpPr txBox="1">
                  <a:spLocks/>
                </p:cNvSpPr>
                <p:nvPr/>
              </p:nvSpPr>
              <p:spPr>
                <a:xfrm>
                  <a:off x="4001984" y="5085509"/>
                  <a:ext cx="7516915" cy="890937"/>
                </a:xfrm>
                <a:prstGeom prst="rect">
                  <a:avLst/>
                </a:prstGeom>
                <a:noFill/>
                <a:ln w="6350">
                  <a:noFill/>
                </a:ln>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FFFFFF"/>
                      </a:solidFill>
                      <a:ea typeface="微软雅黑"/>
                    </a:rPr>
                    <a:t>随着数据规模的增大，普通解密和CRT解密的性能差距会更加明显。在大数据环境下，CRT优化对于提高RSA算法的性能具有重要意义。</a:t>
                  </a:r>
                </a:p>
              </p:txBody>
            </p:sp>
          </p:grpSp>
        </p:grpSp>
        <p:cxnSp>
          <p:nvCxnSpPr>
            <p:cNvPr id="6" name="连接符: 肘形 5" descr="0f218eda-e310-4095-87d9-319b0f149b6d">
              <a:extLst>
                <a:ext uri="{FF2B5EF4-FFF2-40B4-BE49-F238E27FC236}">
                  <a16:creationId xmlns:a16="http://schemas.microsoft.com/office/drawing/2014/main" id="{58416389-3E1D-0257-0D31-A1B66B87BB61}"/>
                </a:ext>
              </a:extLst>
            </p:cNvPr>
            <p:cNvCxnSpPr>
              <a:cxnSpLocks/>
              <a:stCxn id="2" idx="3"/>
              <a:endCxn id="7" idx="3"/>
            </p:cNvCxnSpPr>
            <p:nvPr/>
          </p:nvCxnSpPr>
          <p:spPr>
            <a:xfrm>
              <a:off x="3206338" y="3146723"/>
              <a:ext cx="795641" cy="53431"/>
            </a:xfrm>
            <a:prstGeom prst="bentConnector3">
              <a:avLst/>
            </a:prstGeom>
            <a:ln w="6350">
              <a:solidFill>
                <a:schemeClr val="tx1">
                  <a:alpha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 name="标题 1"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a:solidFill>
                  <a:srgbClr val="FFFFFF"/>
                </a:solidFill>
                <a:latin typeface="Arial"/>
              </a:rPr>
              <a:t>RSA 实验结果分析</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e6eee993-bf31-4794-9082-47e3375dfb00.source.3.zh-Hans.pptx" descr="90462fb3-1c58-4d70-b30a-aa294e3026e7">
            <a:extLst>
              <a:ext uri="{FF2B5EF4-FFF2-40B4-BE49-F238E27FC236}">
                <a16:creationId xmlns:a16="http://schemas.microsoft.com/office/drawing/2014/main" id="{59C0BAC5-EBD3-9A7C-32DC-9B2CB928E606}"/>
              </a:ext>
            </a:extLst>
          </p:cNvPr>
          <p:cNvGrpSpPr/>
          <p:nvPr/>
        </p:nvGrpSpPr>
        <p:grpSpPr>
          <a:xfrm>
            <a:off x="660399" y="1130300"/>
            <a:ext cx="10858501" cy="4999038"/>
            <a:chOff x="660399" y="1130300"/>
            <a:chExt cx="10858501" cy="4999038"/>
          </a:xfrm>
        </p:grpSpPr>
        <p:grpSp>
          <p:nvGrpSpPr>
            <p:cNvPr id="5" name="组合 4" descr="84c6de0b-4b81-498f-b6f5-cd747e8e9ac5">
              <a:extLst>
                <a:ext uri="{FF2B5EF4-FFF2-40B4-BE49-F238E27FC236}">
                  <a16:creationId xmlns:a16="http://schemas.microsoft.com/office/drawing/2014/main" id="{D283D26B-0C49-F613-67CB-25956E872D8D}"/>
                </a:ext>
              </a:extLst>
            </p:cNvPr>
            <p:cNvGrpSpPr/>
            <p:nvPr/>
          </p:nvGrpSpPr>
          <p:grpSpPr>
            <a:xfrm>
              <a:off x="660399" y="1130300"/>
              <a:ext cx="10858501" cy="4999038"/>
              <a:chOff x="660399" y="1130300"/>
              <a:chExt cx="10858501" cy="4999038"/>
            </a:xfrm>
          </p:grpSpPr>
          <p:cxnSp>
            <p:nvCxnSpPr>
              <p:cNvPr id="13" name="连接符: 肘形 12" descr="ee9701ee-8c87-44be-a125-b58e2de68113">
                <a:extLst>
                  <a:ext uri="{FF2B5EF4-FFF2-40B4-BE49-F238E27FC236}">
                    <a16:creationId xmlns:a16="http://schemas.microsoft.com/office/drawing/2014/main" id="{F89CEBAC-2295-E13F-3F28-1BC3B335F608}"/>
                  </a:ext>
                </a:extLst>
              </p:cNvPr>
              <p:cNvCxnSpPr>
                <a:cxnSpLocks/>
                <a:stCxn id="16" idx="0"/>
                <a:endCxn id="20" idx="0"/>
              </p:cNvCxnSpPr>
              <p:nvPr/>
            </p:nvCxnSpPr>
            <p:spPr>
              <a:xfrm rot="5400000" flipH="1" flipV="1">
                <a:off x="6089647" y="-1261740"/>
                <a:ext cx="12700" cy="7408159"/>
              </a:xfrm>
              <a:prstGeom prst="bentConnector3">
                <a:avLst>
                  <a:gd name="adj1" fmla="val 1800000"/>
                </a:avLst>
              </a:prstGeom>
              <a:solidFill>
                <a:schemeClr val="bg1"/>
              </a:solid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26" name="Title" descr="c2224fb7-119d-41a4-9298-8d1eba85c67b">
                <a:extLst>
                  <a:ext uri="{FF2B5EF4-FFF2-40B4-BE49-F238E27FC236}">
                    <a16:creationId xmlns:a16="http://schemas.microsoft.com/office/drawing/2014/main" id="{94C68AC1-9862-493F-F4F4-44FF83523484}"/>
                  </a:ext>
                </a:extLst>
              </p:cNvPr>
              <p:cNvSpPr/>
              <p:nvPr/>
            </p:nvSpPr>
            <p:spPr>
              <a:xfrm>
                <a:off x="660400" y="1130300"/>
                <a:ext cx="10858500" cy="653642"/>
              </a:xfrm>
              <a:prstGeom prst="roundRect">
                <a:avLst>
                  <a:gd name="adj" fmla="val 14472"/>
                </a:avLst>
              </a:pr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l"/>
                <a:endParaRPr/>
              </a:p>
            </p:txBody>
          </p:sp>
          <p:grpSp>
            <p:nvGrpSpPr>
              <p:cNvPr id="6" name="组合 1" descr="4e86aaea-7904-4f0a-b8e1-6b7cd143c509">
                <a:extLst>
                  <a:ext uri="{FF2B5EF4-FFF2-40B4-BE49-F238E27FC236}">
                    <a16:creationId xmlns:a16="http://schemas.microsoft.com/office/drawing/2014/main" id="{F3CBE899-A7BD-AD35-9D54-8D902DD74138}"/>
                  </a:ext>
                </a:extLst>
              </p:cNvPr>
              <p:cNvGrpSpPr/>
              <p:nvPr/>
            </p:nvGrpSpPr>
            <p:grpSpPr>
              <a:xfrm>
                <a:off x="660399" y="2442339"/>
                <a:ext cx="10858501" cy="3686999"/>
                <a:chOff x="660399" y="2442339"/>
                <a:chExt cx="10858501" cy="3686999"/>
              </a:xfrm>
            </p:grpSpPr>
            <p:sp>
              <p:nvSpPr>
                <p:cNvPr id="21" name="Text1" descr="065ce391-5cf9-4a09-91bb-96a2d1f0d7e3">
                  <a:extLst>
                    <a:ext uri="{FF2B5EF4-FFF2-40B4-BE49-F238E27FC236}">
                      <a16:creationId xmlns:a16="http://schemas.microsoft.com/office/drawing/2014/main" id="{640D0796-FD18-F653-3DD0-2534460144EE}"/>
                    </a:ext>
                  </a:extLst>
                </p:cNvPr>
                <p:cNvSpPr txBox="1">
                  <a:spLocks/>
                </p:cNvSpPr>
                <p:nvPr/>
              </p:nvSpPr>
              <p:spPr>
                <a:xfrm>
                  <a:off x="8068561" y="3100737"/>
                  <a:ext cx="3450339" cy="3028601"/>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FFFFFF"/>
                      </a:solidFill>
                      <a:latin typeface="Arial"/>
                    </a:rPr>
                    <a:t>CRT优化本身不会影响RSA算法的安全性。CRT只是改变了解密的计算方式，并没有改变加密和解密的数学原理。因此，使用CRT优化并不会降低算法的安全性。</a:t>
                  </a:r>
                </a:p>
              </p:txBody>
            </p:sp>
            <p:sp>
              <p:nvSpPr>
                <p:cNvPr id="16" name="Bullet1" descr="98892b3f-40c9-4230-8538-6f21f5861d0f">
                  <a:extLst>
                    <a:ext uri="{FF2B5EF4-FFF2-40B4-BE49-F238E27FC236}">
                      <a16:creationId xmlns:a16="http://schemas.microsoft.com/office/drawing/2014/main" id="{16FB128B-7195-8664-E348-486CEA4B15F1}"/>
                    </a:ext>
                  </a:extLst>
                </p:cNvPr>
                <p:cNvSpPr>
                  <a:spLocks/>
                </p:cNvSpPr>
                <p:nvPr/>
              </p:nvSpPr>
              <p:spPr>
                <a:xfrm flipH="1">
                  <a:off x="660399" y="2442339"/>
                  <a:ext cx="3450339" cy="500400"/>
                </a:xfrm>
                <a:prstGeom prst="roundRect">
                  <a:avLst/>
                </a:prstGeom>
                <a:solidFill>
                  <a:schemeClr val="accent1"/>
                </a:solidFill>
              </p:spPr>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FFFFFF"/>
                      </a:solidFill>
                      <a:latin typeface="Arial"/>
                    </a:rPr>
                    <a:t>CRT是否影响安全性</a:t>
                  </a:r>
                </a:p>
              </p:txBody>
            </p:sp>
          </p:grpSp>
          <p:grpSp>
            <p:nvGrpSpPr>
              <p:cNvPr id="3" name="组合 2" descr="53038f86-49cd-4365-a851-04b61afc94e7">
                <a:extLst>
                  <a:ext uri="{FF2B5EF4-FFF2-40B4-BE49-F238E27FC236}">
                    <a16:creationId xmlns:a16="http://schemas.microsoft.com/office/drawing/2014/main" id="{D13C8BFE-124E-4B74-AD59-FD092A8542E4}"/>
                  </a:ext>
                </a:extLst>
              </p:cNvPr>
              <p:cNvGrpSpPr/>
              <p:nvPr/>
            </p:nvGrpSpPr>
            <p:grpSpPr>
              <a:xfrm>
                <a:off x="660401" y="2442339"/>
                <a:ext cx="7154416" cy="3686999"/>
                <a:chOff x="660401" y="2442339"/>
                <a:chExt cx="7154416" cy="3686999"/>
              </a:xfrm>
            </p:grpSpPr>
            <p:sp>
              <p:nvSpPr>
                <p:cNvPr id="18" name="Bullet2" descr="89d95935-09d9-42f3-96fe-001d429e75f3">
                  <a:extLst>
                    <a:ext uri="{FF2B5EF4-FFF2-40B4-BE49-F238E27FC236}">
                      <a16:creationId xmlns:a16="http://schemas.microsoft.com/office/drawing/2014/main" id="{2CC94B31-11B0-119F-D993-8773B3C40555}"/>
                    </a:ext>
                  </a:extLst>
                </p:cNvPr>
                <p:cNvSpPr>
                  <a:spLocks/>
                </p:cNvSpPr>
                <p:nvPr/>
              </p:nvSpPr>
              <p:spPr>
                <a:xfrm flipH="1">
                  <a:off x="4364478" y="2442339"/>
                  <a:ext cx="3450339" cy="500400"/>
                </a:xfrm>
                <a:prstGeom prst="roundRect">
                  <a:avLst/>
                </a:prstGeom>
                <a:solidFill>
                  <a:schemeClr val="accent1"/>
                </a:solidFill>
              </p:spPr>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FFFFFF"/>
                      </a:solidFill>
                      <a:ea typeface="微软雅黑"/>
                    </a:rPr>
                    <a:t>参数选择的重要性</a:t>
                  </a:r>
                </a:p>
              </p:txBody>
            </p:sp>
            <p:sp>
              <p:nvSpPr>
                <p:cNvPr id="17" name="Text2" descr="e389c012-0b99-4e6a-a388-f2061a75ce37">
                  <a:extLst>
                    <a:ext uri="{FF2B5EF4-FFF2-40B4-BE49-F238E27FC236}">
                      <a16:creationId xmlns:a16="http://schemas.microsoft.com/office/drawing/2014/main" id="{805235A1-68D9-AC24-2C86-78769F7847B3}"/>
                    </a:ext>
                  </a:extLst>
                </p:cNvPr>
                <p:cNvSpPr txBox="1">
                  <a:spLocks/>
                </p:cNvSpPr>
                <p:nvPr/>
              </p:nvSpPr>
              <p:spPr>
                <a:xfrm>
                  <a:off x="660401" y="3100737"/>
                  <a:ext cx="3450339" cy="3028601"/>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FFFFFF"/>
                      </a:solidFill>
                      <a:ea typeface="微软雅黑"/>
                    </a:rPr>
                    <a:t>在RSA算法中，参数的选择对于算法的安全性和效率都有重要影响。例如，选择足够大的素数p和q可以保证算法的安全性；选择合适的公钥指数e可以平衡加密和解密的性能。因此，在实际应用中，需要根据具体的需求选择合适的参数。</a:t>
                  </a:r>
                </a:p>
              </p:txBody>
            </p:sp>
          </p:grpSp>
          <p:grpSp>
            <p:nvGrpSpPr>
              <p:cNvPr id="4" name="组合 3" descr="42e05eef-9566-4ef1-aac1-224979669c70">
                <a:extLst>
                  <a:ext uri="{FF2B5EF4-FFF2-40B4-BE49-F238E27FC236}">
                    <a16:creationId xmlns:a16="http://schemas.microsoft.com/office/drawing/2014/main" id="{DF63DA08-5287-FC91-272B-42FA4BD4BE66}"/>
                  </a:ext>
                </a:extLst>
              </p:cNvPr>
              <p:cNvGrpSpPr/>
              <p:nvPr/>
            </p:nvGrpSpPr>
            <p:grpSpPr>
              <a:xfrm>
                <a:off x="4364481" y="2442339"/>
                <a:ext cx="7154416" cy="3686999"/>
                <a:chOff x="4364481" y="2442339"/>
                <a:chExt cx="7154416" cy="3686999"/>
              </a:xfrm>
            </p:grpSpPr>
            <p:sp>
              <p:nvSpPr>
                <p:cNvPr id="20" name="Bullet3" descr="ac8190d0-f46a-4ade-9621-1d4ce7e65c9c">
                  <a:extLst>
                    <a:ext uri="{FF2B5EF4-FFF2-40B4-BE49-F238E27FC236}">
                      <a16:creationId xmlns:a16="http://schemas.microsoft.com/office/drawing/2014/main" id="{AAF26B63-6156-955A-7E5F-AAAC1D3D2A93}"/>
                    </a:ext>
                  </a:extLst>
                </p:cNvPr>
                <p:cNvSpPr>
                  <a:spLocks/>
                </p:cNvSpPr>
                <p:nvPr/>
              </p:nvSpPr>
              <p:spPr>
                <a:xfrm flipH="1">
                  <a:off x="8068558" y="2442339"/>
                  <a:ext cx="3450339" cy="500400"/>
                </a:xfrm>
                <a:prstGeom prst="roundRect">
                  <a:avLst/>
                </a:prstGeom>
                <a:solidFill>
                  <a:schemeClr val="accent1"/>
                </a:solidFill>
              </p:spPr>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FFFFFF"/>
                      </a:solidFill>
                      <a:ea typeface="微软雅黑"/>
                    </a:rPr>
                    <a:t>实际应用建议</a:t>
                  </a:r>
                </a:p>
              </p:txBody>
            </p:sp>
            <p:sp>
              <p:nvSpPr>
                <p:cNvPr id="19" name="Text3" descr="33dbccf4-5193-4cba-8875-69e35ecbe078">
                  <a:extLst>
                    <a:ext uri="{FF2B5EF4-FFF2-40B4-BE49-F238E27FC236}">
                      <a16:creationId xmlns:a16="http://schemas.microsoft.com/office/drawing/2014/main" id="{ED855A5C-2E8B-6150-1E3A-1D61B14E5A9E}"/>
                    </a:ext>
                  </a:extLst>
                </p:cNvPr>
                <p:cNvSpPr txBox="1">
                  <a:spLocks/>
                </p:cNvSpPr>
                <p:nvPr/>
              </p:nvSpPr>
              <p:spPr>
                <a:xfrm>
                  <a:off x="4364481" y="3100737"/>
                  <a:ext cx="3450339" cy="3028601"/>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FFFFFF"/>
                      </a:solidFill>
                      <a:ea typeface="微软雅黑"/>
                    </a:rPr>
                    <a:t>在实际应用中，建议根据系统的性能和安全性需求，选择合适的RSA算法参数和优化方法。对于安全性要求较高的场景，可以选择较大的素数和合适的公钥指数；对于性能要求较高的场景，可以采用CRT优化等方法提高算法的效率。</a:t>
                  </a:r>
                </a:p>
              </p:txBody>
            </p:sp>
          </p:grpSp>
        </p:grpSp>
        <p:cxnSp>
          <p:nvCxnSpPr>
            <p:cNvPr id="7" name="连接符: 肘形 6" descr="0205bf20-9151-404c-9679-1325f2f18b50">
              <a:extLst>
                <a:ext uri="{FF2B5EF4-FFF2-40B4-BE49-F238E27FC236}">
                  <a16:creationId xmlns:a16="http://schemas.microsoft.com/office/drawing/2014/main" id="{112600C7-7694-276E-8CAE-46FEC306A723}"/>
                </a:ext>
              </a:extLst>
            </p:cNvPr>
            <p:cNvCxnSpPr>
              <a:stCxn id="26" idx="2"/>
              <a:endCxn id="18" idx="0"/>
            </p:cNvCxnSpPr>
            <p:nvPr/>
          </p:nvCxnSpPr>
          <p:spPr>
            <a:xfrm rot="5400000">
              <a:off x="5760451" y="2113139"/>
              <a:ext cx="658397" cy="3"/>
            </a:xfrm>
            <a:prstGeom prst="bentConnector3">
              <a:avLst/>
            </a:prstGeom>
            <a:solidFill>
              <a:schemeClr val="bg1"/>
            </a:solid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cxnSp>
      </p:grpSp>
      <p:sp>
        <p:nvSpPr>
          <p:cNvPr id="2" name="标题 1"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a:solidFill>
                  <a:srgbClr val="FFFFFF"/>
                </a:solidFill>
                <a:latin typeface="Arial"/>
              </a:rPr>
              <a:t>RSA 安全性与效率权衡</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descr="a901c192-3a89-4011-a292-a0c08f010ed4"/>
          <p:cNvSpPr>
            <a:spLocks noGrp="1"/>
          </p:cNvSpPr>
          <p:nvPr>
            <p:ph type="title" hasCustomPrompt="1"/>
          </p:nvPr>
        </p:nvSpPr>
        <p:spPr/>
        <p:txBody>
          <a:bodyPr anchorCtr="0"/>
          <a:lstStyle/>
          <a:p>
            <a:pPr algn="l">
              <a:lnSpc>
                <a:spcPct val="100000"/>
              </a:lnSpc>
              <a:spcBef>
                <a:spcPct val="0"/>
              </a:spcBef>
            </a:pPr>
            <a:r>
              <a:rPr lang="en-US" sz="4400" b="1" i="0" u="none">
                <a:solidFill>
                  <a:srgbClr val="FFFFFF"/>
                </a:solidFill>
                <a:ea typeface="微软雅黑"/>
              </a:rPr>
              <a:t>轻量级 ECC 算法研究</a:t>
            </a:r>
          </a:p>
        </p:txBody>
      </p:sp>
      <p:sp>
        <p:nvSpPr>
          <p:cNvPr id="25" name="文本占位符 24" descr="8f57161b-2598-43a7-b514-2ed0f586aeee"/>
          <p:cNvSpPr>
            <a:spLocks noGrp="1"/>
          </p:cNvSpPr>
          <p:nvPr>
            <p:ph type="body" sz="quarter" idx="1" hasCustomPrompt="1"/>
          </p:nvPr>
        </p:nvSpPr>
        <p:spPr/>
        <p:txBody>
          <a:bodyPr anchorCtr="0"/>
          <a:lstStyle/>
          <a:p>
            <a:pPr algn="l">
              <a:lnSpc>
                <a:spcPct val="120000"/>
              </a:lnSpc>
              <a:spcBef>
                <a:spcPts val="1000"/>
              </a:spcBef>
            </a:pPr>
            <a:r>
              <a:rPr lang="en-US" sz="1600" b="0" i="0" u="none">
                <a:solidFill>
                  <a:srgbClr val="FFFFFF"/>
                </a:solidFill>
                <a:ea typeface="微软雅黑"/>
              </a:rPr>
              <a:t>介绍ECC与轻量级密码学的关系、ECC的优势、应用场景，有限域与曲线参数选择，标量乘与Montgomery Ladder原理，ECDH实现与实验结果，以及问题分析与改进方向</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e5bed833-6d36-48e3-b086-44f1bd744d82.source.3.zh-Hans.pptx" descr="d86a7928-090e-4a91-9f97-9113ded5a963">
            <a:extLst>
              <a:ext uri="{FF2B5EF4-FFF2-40B4-BE49-F238E27FC236}">
                <a16:creationId xmlns:a16="http://schemas.microsoft.com/office/drawing/2014/main" id="{DF256E6B-2516-2F1D-BAEC-8C2C7A3F9CC4}"/>
              </a:ext>
            </a:extLst>
          </p:cNvPr>
          <p:cNvGrpSpPr/>
          <p:nvPr/>
        </p:nvGrpSpPr>
        <p:grpSpPr>
          <a:xfrm>
            <a:off x="669926" y="1140685"/>
            <a:ext cx="10840233" cy="5717315"/>
            <a:chOff x="669926" y="1140685"/>
            <a:chExt cx="10840233" cy="5717315"/>
          </a:xfrm>
        </p:grpSpPr>
        <p:cxnSp>
          <p:nvCxnSpPr>
            <p:cNvPr id="9" name="直接连接符 1" descr="8d96d284-e32f-40de-90f5-89aabce34185">
              <a:extLst>
                <a:ext uri="{FF2B5EF4-FFF2-40B4-BE49-F238E27FC236}">
                  <a16:creationId xmlns:a16="http://schemas.microsoft.com/office/drawing/2014/main" id="{C8E0DEA4-E036-5F9A-9BF6-F7DD8476E682}"/>
                </a:ext>
              </a:extLst>
            </p:cNvPr>
            <p:cNvCxnSpPr>
              <a:cxnSpLocks/>
            </p:cNvCxnSpPr>
            <p:nvPr/>
          </p:nvCxnSpPr>
          <p:spPr>
            <a:xfrm>
              <a:off x="778342" y="2676653"/>
              <a:ext cx="6707" cy="4181347"/>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 name="直接连接符 2" descr="0341a3cf-70ba-43fe-9d08-91076dba23d5">
              <a:extLst>
                <a:ext uri="{FF2B5EF4-FFF2-40B4-BE49-F238E27FC236}">
                  <a16:creationId xmlns:a16="http://schemas.microsoft.com/office/drawing/2014/main" id="{2E4A5556-D61A-357F-34FD-4928E653ECFA}"/>
                </a:ext>
              </a:extLst>
            </p:cNvPr>
            <p:cNvCxnSpPr>
              <a:cxnSpLocks/>
            </p:cNvCxnSpPr>
            <p:nvPr/>
          </p:nvCxnSpPr>
          <p:spPr>
            <a:xfrm>
              <a:off x="778342" y="2676653"/>
              <a:ext cx="6707" cy="4181347"/>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4" name="Title" descr="ad404355-d5e0-4ddf-9d21-a7f68e4b6800">
              <a:extLst>
                <a:ext uri="{FF2B5EF4-FFF2-40B4-BE49-F238E27FC236}">
                  <a16:creationId xmlns:a16="http://schemas.microsoft.com/office/drawing/2014/main" id="{A231E2B7-B2B8-FE04-F95B-74A065197999}"/>
                </a:ext>
              </a:extLst>
            </p:cNvPr>
            <p:cNvSpPr txBox="1"/>
            <p:nvPr/>
          </p:nvSpPr>
          <p:spPr>
            <a:xfrm>
              <a:off x="669926" y="1140685"/>
              <a:ext cx="10836269" cy="724303"/>
            </a:xfrm>
            <a:prstGeom prst="rect">
              <a:avLst/>
            </a:prstGeom>
            <a:noFill/>
          </p:spPr>
          <p:txBody>
            <a:bodyPr wrap="square" lIns="90000" tIns="46800" rIns="90000" bIns="46800" rtlCol="0" anchor="ctr" anchorCtr="0">
              <a:normAutofit/>
            </a:bodyPr>
            <a:lstStyle>
              <a:defPPr>
                <a:defRPr lang="en-US"/>
              </a:defPPr>
              <a:lvl1pPr>
                <a:defRPr sz="2400" b="1"/>
              </a:lvl1pPr>
            </a:lstStyle>
            <a:p>
              <a:pPr algn="l"/>
              <a:endParaRPr/>
            </a:p>
          </p:txBody>
        </p:sp>
        <p:grpSp>
          <p:nvGrpSpPr>
            <p:cNvPr id="22" name="组合 21" descr="6461e78f-92ef-45d6-9cb3-8cfac49a3f52">
              <a:extLst>
                <a:ext uri="{FF2B5EF4-FFF2-40B4-BE49-F238E27FC236}">
                  <a16:creationId xmlns:a16="http://schemas.microsoft.com/office/drawing/2014/main" id="{2244184D-B5C8-B8BC-7A90-32ADBAD0B090}"/>
                </a:ext>
              </a:extLst>
            </p:cNvPr>
            <p:cNvGrpSpPr/>
            <p:nvPr/>
          </p:nvGrpSpPr>
          <p:grpSpPr>
            <a:xfrm>
              <a:off x="675279" y="2173469"/>
              <a:ext cx="10830915" cy="1250347"/>
              <a:chOff x="675279" y="2173469"/>
              <a:chExt cx="10830915" cy="1250347"/>
            </a:xfrm>
          </p:grpSpPr>
          <p:sp>
            <p:nvSpPr>
              <p:cNvPr id="6" name="Icon1" descr="bd15fb55-26f0-4f6e-8ac8-761b0599f599">
                <a:extLst>
                  <a:ext uri="{FF2B5EF4-FFF2-40B4-BE49-F238E27FC236}">
                    <a16:creationId xmlns:a16="http://schemas.microsoft.com/office/drawing/2014/main" id="{89112800-D800-AF10-C51A-8AE1D459559E}"/>
                  </a:ext>
                </a:extLst>
              </p:cNvPr>
              <p:cNvSpPr/>
              <p:nvPr/>
            </p:nvSpPr>
            <p:spPr>
              <a:xfrm>
                <a:off x="675279" y="2461940"/>
                <a:ext cx="219540" cy="219155"/>
              </a:xfrm>
              <a:custGeom>
                <a:avLst/>
                <a:gdLst>
                  <a:gd name="T0" fmla="*/ 2200 w 4400"/>
                  <a:gd name="T1" fmla="*/ 0 h 4400"/>
                  <a:gd name="T2" fmla="*/ 0 w 4400"/>
                  <a:gd name="T3" fmla="*/ 2200 h 4400"/>
                  <a:gd name="T4" fmla="*/ 2200 w 4400"/>
                  <a:gd name="T5" fmla="*/ 4400 h 4400"/>
                  <a:gd name="T6" fmla="*/ 4400 w 4400"/>
                  <a:gd name="T7" fmla="*/ 2200 h 4400"/>
                  <a:gd name="T8" fmla="*/ 2200 w 4400"/>
                  <a:gd name="T9" fmla="*/ 0 h 4400"/>
                  <a:gd name="T10" fmla="*/ 3408 w 4400"/>
                  <a:gd name="T11" fmla="*/ 1941 h 4400"/>
                  <a:gd name="T12" fmla="*/ 2341 w 4400"/>
                  <a:gd name="T13" fmla="*/ 3008 h 4400"/>
                  <a:gd name="T14" fmla="*/ 2200 w 4400"/>
                  <a:gd name="T15" fmla="*/ 3067 h 4400"/>
                  <a:gd name="T16" fmla="*/ 2059 w 4400"/>
                  <a:gd name="T17" fmla="*/ 3008 h 4400"/>
                  <a:gd name="T18" fmla="*/ 992 w 4400"/>
                  <a:gd name="T19" fmla="*/ 1941 h 4400"/>
                  <a:gd name="T20" fmla="*/ 992 w 4400"/>
                  <a:gd name="T21" fmla="*/ 1659 h 4400"/>
                  <a:gd name="T22" fmla="*/ 1275 w 4400"/>
                  <a:gd name="T23" fmla="*/ 1659 h 4400"/>
                  <a:gd name="T24" fmla="*/ 2200 w 4400"/>
                  <a:gd name="T25" fmla="*/ 2584 h 4400"/>
                  <a:gd name="T26" fmla="*/ 3125 w 4400"/>
                  <a:gd name="T27" fmla="*/ 1659 h 4400"/>
                  <a:gd name="T28" fmla="*/ 3408 w 4400"/>
                  <a:gd name="T29" fmla="*/ 1659 h 4400"/>
                  <a:gd name="T30" fmla="*/ 3408 w 4400"/>
                  <a:gd name="T31" fmla="*/ 1941 h 4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00" h="4400">
                    <a:moveTo>
                      <a:pt x="2200" y="0"/>
                    </a:moveTo>
                    <a:cubicBezTo>
                      <a:pt x="987" y="0"/>
                      <a:pt x="0" y="987"/>
                      <a:pt x="0" y="2200"/>
                    </a:cubicBezTo>
                    <a:cubicBezTo>
                      <a:pt x="0" y="3413"/>
                      <a:pt x="987" y="4400"/>
                      <a:pt x="2200" y="4400"/>
                    </a:cubicBezTo>
                    <a:cubicBezTo>
                      <a:pt x="3413" y="4400"/>
                      <a:pt x="4400" y="3413"/>
                      <a:pt x="4400" y="2200"/>
                    </a:cubicBezTo>
                    <a:cubicBezTo>
                      <a:pt x="4400" y="987"/>
                      <a:pt x="3413" y="0"/>
                      <a:pt x="2200" y="0"/>
                    </a:cubicBezTo>
                    <a:close/>
                    <a:moveTo>
                      <a:pt x="3408" y="1941"/>
                    </a:moveTo>
                    <a:lnTo>
                      <a:pt x="2341" y="3008"/>
                    </a:lnTo>
                    <a:cubicBezTo>
                      <a:pt x="2304" y="3046"/>
                      <a:pt x="2253" y="3067"/>
                      <a:pt x="2200" y="3067"/>
                    </a:cubicBezTo>
                    <a:cubicBezTo>
                      <a:pt x="2147" y="3067"/>
                      <a:pt x="2096" y="3046"/>
                      <a:pt x="2059" y="3008"/>
                    </a:cubicBezTo>
                    <a:lnTo>
                      <a:pt x="992" y="1941"/>
                    </a:lnTo>
                    <a:cubicBezTo>
                      <a:pt x="914" y="1863"/>
                      <a:pt x="914" y="1737"/>
                      <a:pt x="992" y="1659"/>
                    </a:cubicBezTo>
                    <a:cubicBezTo>
                      <a:pt x="1070" y="1580"/>
                      <a:pt x="1197" y="1580"/>
                      <a:pt x="1275" y="1659"/>
                    </a:cubicBezTo>
                    <a:lnTo>
                      <a:pt x="2200" y="2584"/>
                    </a:lnTo>
                    <a:lnTo>
                      <a:pt x="3125" y="1659"/>
                    </a:lnTo>
                    <a:cubicBezTo>
                      <a:pt x="3203" y="1580"/>
                      <a:pt x="3330" y="1580"/>
                      <a:pt x="3408" y="1659"/>
                    </a:cubicBezTo>
                    <a:cubicBezTo>
                      <a:pt x="3486" y="1737"/>
                      <a:pt x="3486" y="1863"/>
                      <a:pt x="3408" y="194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7" name="Bullet1" descr="b7c92c6e-5558-476e-9c63-34f9d1cb5068">
                <a:extLst>
                  <a:ext uri="{FF2B5EF4-FFF2-40B4-BE49-F238E27FC236}">
                    <a16:creationId xmlns:a16="http://schemas.microsoft.com/office/drawing/2014/main" id="{4C35D30E-9DAF-E6FA-01B3-684816FA00CD}"/>
                  </a:ext>
                </a:extLst>
              </p:cNvPr>
              <p:cNvSpPr>
                <a:spLocks/>
              </p:cNvSpPr>
              <p:nvPr/>
            </p:nvSpPr>
            <p:spPr>
              <a:xfrm flipH="1">
                <a:off x="982804" y="2173469"/>
                <a:ext cx="10523390" cy="398049"/>
              </a:xfrm>
              <a:prstGeom prst="roundRect">
                <a:avLst>
                  <a:gd name="adj" fmla="val 0"/>
                </a:avLst>
              </a:prstGeom>
              <a:no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en-US" sz="1800" b="1" i="0" u="none">
                    <a:solidFill>
                      <a:srgbClr val="FFFFFF"/>
                    </a:solidFill>
                    <a:latin typeface="Arial"/>
                  </a:rPr>
                  <a:t>ECC相比RSA的优势</a:t>
                </a:r>
              </a:p>
            </p:txBody>
          </p:sp>
          <p:sp>
            <p:nvSpPr>
              <p:cNvPr id="8" name="Text1" descr="f778acbc-8a5a-4da3-978f-de1a70397e3d">
                <a:extLst>
                  <a:ext uri="{FF2B5EF4-FFF2-40B4-BE49-F238E27FC236}">
                    <a16:creationId xmlns:a16="http://schemas.microsoft.com/office/drawing/2014/main" id="{25367C11-2EF9-F344-7A63-9C2F424ABC1F}"/>
                  </a:ext>
                </a:extLst>
              </p:cNvPr>
              <p:cNvSpPr txBox="1">
                <a:spLocks/>
              </p:cNvSpPr>
              <p:nvPr/>
            </p:nvSpPr>
            <p:spPr>
              <a:xfrm flipH="1">
                <a:off x="982804" y="2681095"/>
                <a:ext cx="10523390" cy="742721"/>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FFFFFF"/>
                    </a:solidFill>
                    <a:latin typeface="Arial"/>
                  </a:rPr>
                  <a:t>ECC算法相比RSA算法具有更高的安全性和更小的密钥长度。在相同的安全强度下，ECC算法的密钥长度远小于RSA算法的密钥长度。这使得ECC算法在资源受限的环境中，如物联网设备、移动设备等，具有更大的优势。</a:t>
                </a:r>
              </a:p>
            </p:txBody>
          </p:sp>
        </p:grpSp>
        <p:grpSp>
          <p:nvGrpSpPr>
            <p:cNvPr id="23" name="组合 22" descr="e63ac6cd-d2fc-4fbe-9ec2-653fd47f86b6">
              <a:extLst>
                <a:ext uri="{FF2B5EF4-FFF2-40B4-BE49-F238E27FC236}">
                  <a16:creationId xmlns:a16="http://schemas.microsoft.com/office/drawing/2014/main" id="{83C1ED74-FEF1-3D70-E618-C3CB0973664D}"/>
                </a:ext>
              </a:extLst>
            </p:cNvPr>
            <p:cNvGrpSpPr/>
            <p:nvPr/>
          </p:nvGrpSpPr>
          <p:grpSpPr>
            <a:xfrm>
              <a:off x="675279" y="3528610"/>
              <a:ext cx="10830919" cy="1250347"/>
              <a:chOff x="675279" y="3528610"/>
              <a:chExt cx="10830919" cy="1250347"/>
            </a:xfrm>
          </p:grpSpPr>
          <p:sp>
            <p:nvSpPr>
              <p:cNvPr id="10" name="Icon2" descr="35c106e3-4b66-4708-bb05-4445dfb9a560">
                <a:extLst>
                  <a:ext uri="{FF2B5EF4-FFF2-40B4-BE49-F238E27FC236}">
                    <a16:creationId xmlns:a16="http://schemas.microsoft.com/office/drawing/2014/main" id="{6388B819-9EA2-8402-D0F7-345B4E0027BA}"/>
                  </a:ext>
                </a:extLst>
              </p:cNvPr>
              <p:cNvSpPr/>
              <p:nvPr/>
            </p:nvSpPr>
            <p:spPr>
              <a:xfrm>
                <a:off x="675279" y="3817082"/>
                <a:ext cx="219540" cy="219155"/>
              </a:xfrm>
              <a:custGeom>
                <a:avLst/>
                <a:gdLst>
                  <a:gd name="T0" fmla="*/ 2200 w 4400"/>
                  <a:gd name="T1" fmla="*/ 0 h 4400"/>
                  <a:gd name="T2" fmla="*/ 0 w 4400"/>
                  <a:gd name="T3" fmla="*/ 2200 h 4400"/>
                  <a:gd name="T4" fmla="*/ 2200 w 4400"/>
                  <a:gd name="T5" fmla="*/ 4400 h 4400"/>
                  <a:gd name="T6" fmla="*/ 4400 w 4400"/>
                  <a:gd name="T7" fmla="*/ 2200 h 4400"/>
                  <a:gd name="T8" fmla="*/ 2200 w 4400"/>
                  <a:gd name="T9" fmla="*/ 0 h 4400"/>
                  <a:gd name="T10" fmla="*/ 3408 w 4400"/>
                  <a:gd name="T11" fmla="*/ 1941 h 4400"/>
                  <a:gd name="T12" fmla="*/ 2341 w 4400"/>
                  <a:gd name="T13" fmla="*/ 3008 h 4400"/>
                  <a:gd name="T14" fmla="*/ 2200 w 4400"/>
                  <a:gd name="T15" fmla="*/ 3067 h 4400"/>
                  <a:gd name="T16" fmla="*/ 2059 w 4400"/>
                  <a:gd name="T17" fmla="*/ 3008 h 4400"/>
                  <a:gd name="T18" fmla="*/ 992 w 4400"/>
                  <a:gd name="T19" fmla="*/ 1941 h 4400"/>
                  <a:gd name="T20" fmla="*/ 992 w 4400"/>
                  <a:gd name="T21" fmla="*/ 1659 h 4400"/>
                  <a:gd name="T22" fmla="*/ 1275 w 4400"/>
                  <a:gd name="T23" fmla="*/ 1659 h 4400"/>
                  <a:gd name="T24" fmla="*/ 2200 w 4400"/>
                  <a:gd name="T25" fmla="*/ 2584 h 4400"/>
                  <a:gd name="T26" fmla="*/ 3125 w 4400"/>
                  <a:gd name="T27" fmla="*/ 1659 h 4400"/>
                  <a:gd name="T28" fmla="*/ 3408 w 4400"/>
                  <a:gd name="T29" fmla="*/ 1659 h 4400"/>
                  <a:gd name="T30" fmla="*/ 3408 w 4400"/>
                  <a:gd name="T31" fmla="*/ 1941 h 4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00" h="4400">
                    <a:moveTo>
                      <a:pt x="2200" y="0"/>
                    </a:moveTo>
                    <a:cubicBezTo>
                      <a:pt x="987" y="0"/>
                      <a:pt x="0" y="987"/>
                      <a:pt x="0" y="2200"/>
                    </a:cubicBezTo>
                    <a:cubicBezTo>
                      <a:pt x="0" y="3413"/>
                      <a:pt x="987" y="4400"/>
                      <a:pt x="2200" y="4400"/>
                    </a:cubicBezTo>
                    <a:cubicBezTo>
                      <a:pt x="3413" y="4400"/>
                      <a:pt x="4400" y="3413"/>
                      <a:pt x="4400" y="2200"/>
                    </a:cubicBezTo>
                    <a:cubicBezTo>
                      <a:pt x="4400" y="987"/>
                      <a:pt x="3413" y="0"/>
                      <a:pt x="2200" y="0"/>
                    </a:cubicBezTo>
                    <a:close/>
                    <a:moveTo>
                      <a:pt x="3408" y="1941"/>
                    </a:moveTo>
                    <a:lnTo>
                      <a:pt x="2341" y="3008"/>
                    </a:lnTo>
                    <a:cubicBezTo>
                      <a:pt x="2304" y="3046"/>
                      <a:pt x="2253" y="3067"/>
                      <a:pt x="2200" y="3067"/>
                    </a:cubicBezTo>
                    <a:cubicBezTo>
                      <a:pt x="2147" y="3067"/>
                      <a:pt x="2096" y="3046"/>
                      <a:pt x="2059" y="3008"/>
                    </a:cubicBezTo>
                    <a:lnTo>
                      <a:pt x="992" y="1941"/>
                    </a:lnTo>
                    <a:cubicBezTo>
                      <a:pt x="914" y="1863"/>
                      <a:pt x="914" y="1737"/>
                      <a:pt x="992" y="1659"/>
                    </a:cubicBezTo>
                    <a:cubicBezTo>
                      <a:pt x="1070" y="1580"/>
                      <a:pt x="1197" y="1580"/>
                      <a:pt x="1275" y="1659"/>
                    </a:cubicBezTo>
                    <a:lnTo>
                      <a:pt x="2200" y="2584"/>
                    </a:lnTo>
                    <a:lnTo>
                      <a:pt x="3125" y="1659"/>
                    </a:lnTo>
                    <a:cubicBezTo>
                      <a:pt x="3203" y="1580"/>
                      <a:pt x="3330" y="1580"/>
                      <a:pt x="3408" y="1659"/>
                    </a:cubicBezTo>
                    <a:cubicBezTo>
                      <a:pt x="3486" y="1737"/>
                      <a:pt x="3486" y="1863"/>
                      <a:pt x="3408" y="194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11" name="Bullet2" descr="fe35763c-1c91-4313-8032-a19a76c19058">
                <a:extLst>
                  <a:ext uri="{FF2B5EF4-FFF2-40B4-BE49-F238E27FC236}">
                    <a16:creationId xmlns:a16="http://schemas.microsoft.com/office/drawing/2014/main" id="{B12594A8-882F-2CFC-2869-2EB18E4DF7C7}"/>
                  </a:ext>
                </a:extLst>
              </p:cNvPr>
              <p:cNvSpPr>
                <a:spLocks/>
              </p:cNvSpPr>
              <p:nvPr/>
            </p:nvSpPr>
            <p:spPr>
              <a:xfrm flipH="1">
                <a:off x="982808" y="3528610"/>
                <a:ext cx="10523390" cy="398049"/>
              </a:xfrm>
              <a:prstGeom prst="roundRect">
                <a:avLst>
                  <a:gd name="adj" fmla="val 0"/>
                </a:avLst>
              </a:prstGeom>
              <a:no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en-US" sz="1800" b="1" i="0" u="none">
                    <a:solidFill>
                      <a:srgbClr val="FFFFFF"/>
                    </a:solidFill>
                    <a:ea typeface="微软雅黑"/>
                  </a:rPr>
                  <a:t>轻量级应用场景</a:t>
                </a:r>
              </a:p>
            </p:txBody>
          </p:sp>
          <p:sp>
            <p:nvSpPr>
              <p:cNvPr id="12" name="Text2" descr="b91e1195-9914-4ec9-80a3-e13d60fb041e">
                <a:extLst>
                  <a:ext uri="{FF2B5EF4-FFF2-40B4-BE49-F238E27FC236}">
                    <a16:creationId xmlns:a16="http://schemas.microsoft.com/office/drawing/2014/main" id="{44DEDA2F-C8F1-C7FE-2D2E-1AE3F325AEA1}"/>
                  </a:ext>
                </a:extLst>
              </p:cNvPr>
              <p:cNvSpPr txBox="1">
                <a:spLocks/>
              </p:cNvSpPr>
              <p:nvPr/>
            </p:nvSpPr>
            <p:spPr>
              <a:xfrm flipH="1">
                <a:off x="982808" y="4036236"/>
                <a:ext cx="10523390" cy="742721"/>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FFFFFF"/>
                    </a:solidFill>
                    <a:ea typeface="微软雅黑"/>
                  </a:rPr>
                  <a:t>由于ECC算法的轻量级特性，它广泛应用于移动支付、智能卡、物联网安全等领域。在这些场景中，设备资源有限，需要高效的加密算法来保证数据的安全性。</a:t>
                </a:r>
              </a:p>
            </p:txBody>
          </p:sp>
        </p:grpSp>
        <p:grpSp>
          <p:nvGrpSpPr>
            <p:cNvPr id="24" name="组合 23" descr="10041e39-e37d-4494-84e4-8c3d1d19be4f">
              <a:extLst>
                <a:ext uri="{FF2B5EF4-FFF2-40B4-BE49-F238E27FC236}">
                  <a16:creationId xmlns:a16="http://schemas.microsoft.com/office/drawing/2014/main" id="{88823EDD-A27B-9D35-7460-8FE53952A2B0}"/>
                </a:ext>
              </a:extLst>
            </p:cNvPr>
            <p:cNvGrpSpPr/>
            <p:nvPr/>
          </p:nvGrpSpPr>
          <p:grpSpPr>
            <a:xfrm>
              <a:off x="675279" y="4883752"/>
              <a:ext cx="10834880" cy="1250347"/>
              <a:chOff x="675279" y="4883752"/>
              <a:chExt cx="10834880" cy="1250347"/>
            </a:xfrm>
          </p:grpSpPr>
          <p:sp>
            <p:nvSpPr>
              <p:cNvPr id="14" name="Icon3" descr="2432057f-9f18-496f-950d-990a6c6c3de7">
                <a:extLst>
                  <a:ext uri="{FF2B5EF4-FFF2-40B4-BE49-F238E27FC236}">
                    <a16:creationId xmlns:a16="http://schemas.microsoft.com/office/drawing/2014/main" id="{40EDFF1D-9EC2-A800-95D6-86C24D69BCC5}"/>
                  </a:ext>
                </a:extLst>
              </p:cNvPr>
              <p:cNvSpPr/>
              <p:nvPr/>
            </p:nvSpPr>
            <p:spPr>
              <a:xfrm>
                <a:off x="675279" y="5172224"/>
                <a:ext cx="219540" cy="219155"/>
              </a:xfrm>
              <a:custGeom>
                <a:avLst/>
                <a:gdLst>
                  <a:gd name="T0" fmla="*/ 2200 w 4400"/>
                  <a:gd name="T1" fmla="*/ 0 h 4400"/>
                  <a:gd name="T2" fmla="*/ 0 w 4400"/>
                  <a:gd name="T3" fmla="*/ 2200 h 4400"/>
                  <a:gd name="T4" fmla="*/ 2200 w 4400"/>
                  <a:gd name="T5" fmla="*/ 4400 h 4400"/>
                  <a:gd name="T6" fmla="*/ 4400 w 4400"/>
                  <a:gd name="T7" fmla="*/ 2200 h 4400"/>
                  <a:gd name="T8" fmla="*/ 2200 w 4400"/>
                  <a:gd name="T9" fmla="*/ 0 h 4400"/>
                  <a:gd name="T10" fmla="*/ 3408 w 4400"/>
                  <a:gd name="T11" fmla="*/ 1941 h 4400"/>
                  <a:gd name="T12" fmla="*/ 2341 w 4400"/>
                  <a:gd name="T13" fmla="*/ 3008 h 4400"/>
                  <a:gd name="T14" fmla="*/ 2200 w 4400"/>
                  <a:gd name="T15" fmla="*/ 3067 h 4400"/>
                  <a:gd name="T16" fmla="*/ 2059 w 4400"/>
                  <a:gd name="T17" fmla="*/ 3008 h 4400"/>
                  <a:gd name="T18" fmla="*/ 992 w 4400"/>
                  <a:gd name="T19" fmla="*/ 1941 h 4400"/>
                  <a:gd name="T20" fmla="*/ 992 w 4400"/>
                  <a:gd name="T21" fmla="*/ 1659 h 4400"/>
                  <a:gd name="T22" fmla="*/ 1275 w 4400"/>
                  <a:gd name="T23" fmla="*/ 1659 h 4400"/>
                  <a:gd name="T24" fmla="*/ 2200 w 4400"/>
                  <a:gd name="T25" fmla="*/ 2584 h 4400"/>
                  <a:gd name="T26" fmla="*/ 3125 w 4400"/>
                  <a:gd name="T27" fmla="*/ 1659 h 4400"/>
                  <a:gd name="T28" fmla="*/ 3408 w 4400"/>
                  <a:gd name="T29" fmla="*/ 1659 h 4400"/>
                  <a:gd name="T30" fmla="*/ 3408 w 4400"/>
                  <a:gd name="T31" fmla="*/ 1941 h 4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00" h="4400">
                    <a:moveTo>
                      <a:pt x="2200" y="0"/>
                    </a:moveTo>
                    <a:cubicBezTo>
                      <a:pt x="987" y="0"/>
                      <a:pt x="0" y="987"/>
                      <a:pt x="0" y="2200"/>
                    </a:cubicBezTo>
                    <a:cubicBezTo>
                      <a:pt x="0" y="3413"/>
                      <a:pt x="987" y="4400"/>
                      <a:pt x="2200" y="4400"/>
                    </a:cubicBezTo>
                    <a:cubicBezTo>
                      <a:pt x="3413" y="4400"/>
                      <a:pt x="4400" y="3413"/>
                      <a:pt x="4400" y="2200"/>
                    </a:cubicBezTo>
                    <a:cubicBezTo>
                      <a:pt x="4400" y="987"/>
                      <a:pt x="3413" y="0"/>
                      <a:pt x="2200" y="0"/>
                    </a:cubicBezTo>
                    <a:close/>
                    <a:moveTo>
                      <a:pt x="3408" y="1941"/>
                    </a:moveTo>
                    <a:lnTo>
                      <a:pt x="2341" y="3008"/>
                    </a:lnTo>
                    <a:cubicBezTo>
                      <a:pt x="2304" y="3046"/>
                      <a:pt x="2253" y="3067"/>
                      <a:pt x="2200" y="3067"/>
                    </a:cubicBezTo>
                    <a:cubicBezTo>
                      <a:pt x="2147" y="3067"/>
                      <a:pt x="2096" y="3046"/>
                      <a:pt x="2059" y="3008"/>
                    </a:cubicBezTo>
                    <a:lnTo>
                      <a:pt x="992" y="1941"/>
                    </a:lnTo>
                    <a:cubicBezTo>
                      <a:pt x="914" y="1863"/>
                      <a:pt x="914" y="1737"/>
                      <a:pt x="992" y="1659"/>
                    </a:cubicBezTo>
                    <a:cubicBezTo>
                      <a:pt x="1070" y="1580"/>
                      <a:pt x="1197" y="1580"/>
                      <a:pt x="1275" y="1659"/>
                    </a:cubicBezTo>
                    <a:lnTo>
                      <a:pt x="2200" y="2584"/>
                    </a:lnTo>
                    <a:lnTo>
                      <a:pt x="3125" y="1659"/>
                    </a:lnTo>
                    <a:cubicBezTo>
                      <a:pt x="3203" y="1580"/>
                      <a:pt x="3330" y="1580"/>
                      <a:pt x="3408" y="1659"/>
                    </a:cubicBezTo>
                    <a:cubicBezTo>
                      <a:pt x="3486" y="1737"/>
                      <a:pt x="3486" y="1863"/>
                      <a:pt x="3408" y="194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p>
            </p:txBody>
          </p:sp>
          <p:sp>
            <p:nvSpPr>
              <p:cNvPr id="15" name="Bullet3" descr="47a2264c-21c5-4a7e-85e3-0547f0d0b759">
                <a:extLst>
                  <a:ext uri="{FF2B5EF4-FFF2-40B4-BE49-F238E27FC236}">
                    <a16:creationId xmlns:a16="http://schemas.microsoft.com/office/drawing/2014/main" id="{5045AB5C-2C4B-5AE6-44D5-7793E3F8CF5E}"/>
                  </a:ext>
                </a:extLst>
              </p:cNvPr>
              <p:cNvSpPr>
                <a:spLocks/>
              </p:cNvSpPr>
              <p:nvPr/>
            </p:nvSpPr>
            <p:spPr>
              <a:xfrm flipH="1">
                <a:off x="986769" y="4883752"/>
                <a:ext cx="10523390" cy="398049"/>
              </a:xfrm>
              <a:prstGeom prst="roundRect">
                <a:avLst>
                  <a:gd name="adj" fmla="val 0"/>
                </a:avLst>
              </a:prstGeom>
              <a:noFill/>
              <a:ln w="12700" cap="rnd">
                <a:noFill/>
                <a:prstDash val="solid"/>
                <a:round/>
                <a:headEnd/>
                <a:tailE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anchor="ctr"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en-US" sz="1800" b="1" i="0" u="none">
                    <a:solidFill>
                      <a:srgbClr val="FFFFFF"/>
                    </a:solidFill>
                    <a:ea typeface="微软雅黑"/>
                  </a:rPr>
                  <a:t>本研究的目标</a:t>
                </a:r>
              </a:p>
            </p:txBody>
          </p:sp>
          <p:sp>
            <p:nvSpPr>
              <p:cNvPr id="16" name="Text3" descr="228d2d86-81e4-414d-8f56-eee6a386317f">
                <a:extLst>
                  <a:ext uri="{FF2B5EF4-FFF2-40B4-BE49-F238E27FC236}">
                    <a16:creationId xmlns:a16="http://schemas.microsoft.com/office/drawing/2014/main" id="{C66EF000-E162-E67D-AE2D-2BCD5217854E}"/>
                  </a:ext>
                </a:extLst>
              </p:cNvPr>
              <p:cNvSpPr txBox="1">
                <a:spLocks/>
              </p:cNvSpPr>
              <p:nvPr/>
            </p:nvSpPr>
            <p:spPr>
              <a:xfrm flipH="1">
                <a:off x="986769" y="5391378"/>
                <a:ext cx="10523390" cy="742721"/>
              </a:xfrm>
              <a:prstGeom prst="rect">
                <a:avLst/>
              </a:prstGeom>
              <a:noFill/>
            </p:spPr>
            <p:txBody>
              <a:bodyPr wrap="square" rtlCol="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FFFFFF"/>
                    </a:solidFill>
                    <a:ea typeface="微软雅黑"/>
                  </a:rPr>
                  <a:t>本研究旨在深入研究和实现轻量级ECC算法，分析其原理和性能瓶颈，探索优化方法，以提高算法在实际应用中的效率和安全性，满足轻量级应用场景的需求。</a:t>
                </a:r>
              </a:p>
            </p:txBody>
          </p:sp>
        </p:grpSp>
      </p:grpSp>
      <p:sp>
        <p:nvSpPr>
          <p:cNvPr id="2" name="标题 1"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a:solidFill>
                  <a:srgbClr val="FFFFFF"/>
                </a:solidFill>
                <a:latin typeface="Arial"/>
              </a:rPr>
              <a:t>ECC 与轻量级密码学</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631848c4-5b42-4107-92a7-def3251dda95.source.3.zh-Hans.pptx" descr="bc13cfc4-9a49-46cf-8349-bb9beea67cba">
            <a:extLst>
              <a:ext uri="{FF2B5EF4-FFF2-40B4-BE49-F238E27FC236}">
                <a16:creationId xmlns:a16="http://schemas.microsoft.com/office/drawing/2014/main" id="{206E64A1-1BEA-814B-D0E9-C6E50E0432C8}"/>
              </a:ext>
            </a:extLst>
          </p:cNvPr>
          <p:cNvGrpSpPr/>
          <p:nvPr/>
        </p:nvGrpSpPr>
        <p:grpSpPr>
          <a:xfrm>
            <a:off x="-6350" y="1130300"/>
            <a:ext cx="12198350" cy="5003800"/>
            <a:chOff x="-6350" y="1130300"/>
            <a:chExt cx="12198350" cy="5003800"/>
          </a:xfrm>
        </p:grpSpPr>
        <p:cxnSp>
          <p:nvCxnSpPr>
            <p:cNvPr id="19" name="直接连接符 18" descr="9888cb0d-e9d0-4ae2-a539-82e724f63a95">
              <a:extLst>
                <a:ext uri="{FF2B5EF4-FFF2-40B4-BE49-F238E27FC236}">
                  <a16:creationId xmlns:a16="http://schemas.microsoft.com/office/drawing/2014/main" id="{19A3FF46-B0DD-6C8E-95B3-148C713910F7}"/>
                </a:ext>
              </a:extLst>
            </p:cNvPr>
            <p:cNvCxnSpPr>
              <a:cxnSpLocks/>
            </p:cNvCxnSpPr>
            <p:nvPr/>
          </p:nvCxnSpPr>
          <p:spPr>
            <a:xfrm flipH="1">
              <a:off x="-6350" y="3000702"/>
              <a:ext cx="12192000" cy="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3" name="Title" descr="5be94b7c-a9a6-42c0-b56f-f2fab6cd13f3">
              <a:extLst>
                <a:ext uri="{FF2B5EF4-FFF2-40B4-BE49-F238E27FC236}">
                  <a16:creationId xmlns:a16="http://schemas.microsoft.com/office/drawing/2014/main" id="{DE4E57FE-4C05-A5CB-4D90-34AE3F7DA74B}"/>
                </a:ext>
              </a:extLst>
            </p:cNvPr>
            <p:cNvSpPr txBox="1"/>
            <p:nvPr/>
          </p:nvSpPr>
          <p:spPr>
            <a:xfrm>
              <a:off x="660400" y="1130300"/>
              <a:ext cx="10858500" cy="561340"/>
            </a:xfrm>
            <a:prstGeom prst="rect">
              <a:avLst/>
            </a:prstGeom>
            <a:noFill/>
          </p:spPr>
          <p:txBody>
            <a:bodyPr wrap="square" rtlCol="0" anchor="ctr" anchorCtr="0">
              <a:normAutofit/>
            </a:bodyPr>
            <a:lstStyle>
              <a:defPPr>
                <a:defRPr lang="en-US"/>
              </a:defPPr>
              <a:lvl1pPr>
                <a:defRPr sz="2400" b="1"/>
              </a:lvl1pPr>
            </a:lstStyle>
            <a:p>
              <a:pPr algn="l"/>
              <a:endParaRPr/>
            </a:p>
          </p:txBody>
        </p:sp>
        <p:sp>
          <p:nvSpPr>
            <p:cNvPr id="4" name="PictureMisc1" descr="6477488d-4656-4bcf-8570-bbe02f680ed0">
              <a:extLst>
                <a:ext uri="{FF2B5EF4-FFF2-40B4-BE49-F238E27FC236}">
                  <a16:creationId xmlns:a16="http://schemas.microsoft.com/office/drawing/2014/main" id="{29F66668-E440-799A-D438-C3D2D24DA475}"/>
                </a:ext>
              </a:extLst>
            </p:cNvPr>
            <p:cNvSpPr/>
            <p:nvPr/>
          </p:nvSpPr>
          <p:spPr>
            <a:xfrm>
              <a:off x="0" y="1691640"/>
              <a:ext cx="12192000" cy="1309062"/>
            </a:xfrm>
            <a:prstGeom prst="rect">
              <a:avLst/>
            </a:prstGeom>
            <a:blipFill rotWithShape="1">
              <a:blip r:embed="rId2"/>
              <a:stretch>
                <a:fillRect t="-185262" b="-182574"/>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grpSp>
          <p:nvGrpSpPr>
            <p:cNvPr id="15" name="组合 14" descr="0adb821d-4372-4923-9780-1123c3a66133">
              <a:extLst>
                <a:ext uri="{FF2B5EF4-FFF2-40B4-BE49-F238E27FC236}">
                  <a16:creationId xmlns:a16="http://schemas.microsoft.com/office/drawing/2014/main" id="{3A4EC99F-6B27-C678-9D83-08C55D9FC915}"/>
                </a:ext>
              </a:extLst>
            </p:cNvPr>
            <p:cNvGrpSpPr/>
            <p:nvPr/>
          </p:nvGrpSpPr>
          <p:grpSpPr>
            <a:xfrm>
              <a:off x="660400" y="2798952"/>
              <a:ext cx="3331974" cy="3335148"/>
              <a:chOff x="660400" y="2798952"/>
              <a:chExt cx="3331974" cy="3335148"/>
            </a:xfrm>
          </p:grpSpPr>
          <p:sp>
            <p:nvSpPr>
              <p:cNvPr id="16" name="Number1" descr="6fc62bec-5f61-42de-8e3a-61c6a07f1e73">
                <a:extLst>
                  <a:ext uri="{FF2B5EF4-FFF2-40B4-BE49-F238E27FC236}">
                    <a16:creationId xmlns:a16="http://schemas.microsoft.com/office/drawing/2014/main" id="{74A065A5-4F90-57DC-E90F-E7CD2126E2F6}"/>
                  </a:ext>
                </a:extLst>
              </p:cNvPr>
              <p:cNvSpPr/>
              <p:nvPr/>
            </p:nvSpPr>
            <p:spPr>
              <a:xfrm>
                <a:off x="1862073" y="2798952"/>
                <a:ext cx="928628" cy="40827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800" b="1" i="0" u="none">
                    <a:solidFill>
                      <a:srgbClr val="FFFFFF"/>
                    </a:solidFill>
                    <a:latin typeface="Arial"/>
                  </a:rPr>
                  <a:t>1</a:t>
                </a:r>
              </a:p>
            </p:txBody>
          </p:sp>
          <p:sp>
            <p:nvSpPr>
              <p:cNvPr id="17" name="Bullet1" descr="eaafb742-26da-4947-92d4-0d9588f8c2f6">
                <a:extLst>
                  <a:ext uri="{FF2B5EF4-FFF2-40B4-BE49-F238E27FC236}">
                    <a16:creationId xmlns:a16="http://schemas.microsoft.com/office/drawing/2014/main" id="{582574E6-5490-A03C-74F0-3D1B0179492D}"/>
                  </a:ext>
                </a:extLst>
              </p:cNvPr>
              <p:cNvSpPr txBox="1">
                <a:spLocks/>
              </p:cNvSpPr>
              <p:nvPr/>
            </p:nvSpPr>
            <p:spPr bwMode="auto">
              <a:xfrm>
                <a:off x="660401" y="3319886"/>
                <a:ext cx="3331972" cy="39509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spcBef>
                    <a:spcPct val="0"/>
                  </a:spcBef>
                </a:pPr>
                <a:r>
                  <a:rPr lang="en-US" sz="1800" b="1" i="0" u="none">
                    <a:solidFill>
                      <a:srgbClr val="FFFFFF"/>
                    </a:solidFill>
                    <a:ea typeface="微软雅黑"/>
                  </a:rPr>
                  <a:t>梅森素数的优势</a:t>
                </a:r>
              </a:p>
            </p:txBody>
          </p:sp>
          <p:sp>
            <p:nvSpPr>
              <p:cNvPr id="18" name="Text1" descr="79cf819c-1bea-4737-afac-29482ce4b558">
                <a:extLst>
                  <a:ext uri="{FF2B5EF4-FFF2-40B4-BE49-F238E27FC236}">
                    <a16:creationId xmlns:a16="http://schemas.microsoft.com/office/drawing/2014/main" id="{53E86E92-BA0D-9320-AEF9-32BEC11E4A3C}"/>
                  </a:ext>
                </a:extLst>
              </p:cNvPr>
              <p:cNvSpPr txBox="1">
                <a:spLocks/>
              </p:cNvSpPr>
              <p:nvPr/>
            </p:nvSpPr>
            <p:spPr bwMode="auto">
              <a:xfrm>
                <a:off x="660400" y="3714984"/>
                <a:ext cx="3331974" cy="241911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lnSpc>
                    <a:spcPct val="120000"/>
                  </a:lnSpc>
                  <a:spcBef>
                    <a:spcPct val="0"/>
                  </a:spcBef>
                  <a:spcAft>
                    <a:spcPct val="0"/>
                  </a:spcAft>
                </a:pPr>
                <a:r>
                  <a:rPr lang="en-US" sz="1200" b="0" i="0" u="none" strike="noStrike">
                    <a:solidFill>
                      <a:srgbClr val="FFFFFF"/>
                    </a:solidFill>
                    <a:ea typeface="微软雅黑"/>
                  </a:rPr>
                  <a:t>梅森素数具有特殊的数学性质，在有限域运算中可以带来一些优化。例如，在模运算中，使用梅森素数可以简化计算过程，提高运算效率。因此，在ECC算法中，选择梅森素数作为有限域的模数，可以提高算法的性能。</a:t>
                </a:r>
              </a:p>
            </p:txBody>
          </p:sp>
        </p:grpSp>
        <p:grpSp>
          <p:nvGrpSpPr>
            <p:cNvPr id="20" name="组合 19" descr="ece7bcfe-d132-49f2-a77f-59296466fd78">
              <a:extLst>
                <a:ext uri="{FF2B5EF4-FFF2-40B4-BE49-F238E27FC236}">
                  <a16:creationId xmlns:a16="http://schemas.microsoft.com/office/drawing/2014/main" id="{A54AE570-1812-AFA6-89CD-C45341543990}"/>
                </a:ext>
              </a:extLst>
            </p:cNvPr>
            <p:cNvGrpSpPr/>
            <p:nvPr/>
          </p:nvGrpSpPr>
          <p:grpSpPr>
            <a:xfrm>
              <a:off x="4423662" y="2798952"/>
              <a:ext cx="3331974" cy="3335148"/>
              <a:chOff x="4423662" y="2798952"/>
              <a:chExt cx="3331974" cy="3335148"/>
            </a:xfrm>
          </p:grpSpPr>
          <p:sp>
            <p:nvSpPr>
              <p:cNvPr id="12" name="Number2" descr="d0dd009a-4a12-4682-8494-b71a8d49ec96">
                <a:extLst>
                  <a:ext uri="{FF2B5EF4-FFF2-40B4-BE49-F238E27FC236}">
                    <a16:creationId xmlns:a16="http://schemas.microsoft.com/office/drawing/2014/main" id="{3DC2EEDE-678F-20C7-41A0-5BF6E5782847}"/>
                  </a:ext>
                </a:extLst>
              </p:cNvPr>
              <p:cNvSpPr/>
              <p:nvPr/>
            </p:nvSpPr>
            <p:spPr>
              <a:xfrm>
                <a:off x="5625335" y="2798952"/>
                <a:ext cx="928628" cy="40827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800" b="1" i="0" u="none">
                    <a:solidFill>
                      <a:srgbClr val="FFFFFF"/>
                    </a:solidFill>
                    <a:latin typeface="Arial"/>
                  </a:rPr>
                  <a:t>2</a:t>
                </a:r>
              </a:p>
            </p:txBody>
          </p:sp>
          <p:sp>
            <p:nvSpPr>
              <p:cNvPr id="13" name="Bullet2" descr="5d71b410-0f61-44e5-b1ef-171268f70199">
                <a:extLst>
                  <a:ext uri="{FF2B5EF4-FFF2-40B4-BE49-F238E27FC236}">
                    <a16:creationId xmlns:a16="http://schemas.microsoft.com/office/drawing/2014/main" id="{92ADBCC6-BABF-D094-4C76-076833B5D29D}"/>
                  </a:ext>
                </a:extLst>
              </p:cNvPr>
              <p:cNvSpPr txBox="1">
                <a:spLocks/>
              </p:cNvSpPr>
              <p:nvPr/>
            </p:nvSpPr>
            <p:spPr bwMode="auto">
              <a:xfrm>
                <a:off x="4423663" y="3319886"/>
                <a:ext cx="3331972" cy="39509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spcBef>
                    <a:spcPct val="0"/>
                  </a:spcBef>
                </a:pPr>
                <a:r>
                  <a:rPr lang="en-US" sz="1800" b="1" i="0" u="none">
                    <a:solidFill>
                      <a:srgbClr val="FFFFFF"/>
                    </a:solidFill>
                    <a:ea typeface="微软雅黑"/>
                  </a:rPr>
                  <a:t>模运算优化</a:t>
                </a:r>
              </a:p>
            </p:txBody>
          </p:sp>
          <p:sp>
            <p:nvSpPr>
              <p:cNvPr id="14" name="Text2" descr="91008b76-cc55-4b12-9fef-4b63e8433128">
                <a:extLst>
                  <a:ext uri="{FF2B5EF4-FFF2-40B4-BE49-F238E27FC236}">
                    <a16:creationId xmlns:a16="http://schemas.microsoft.com/office/drawing/2014/main" id="{E32BED05-ABCE-E0B0-8847-B9D76B9AAA12}"/>
                  </a:ext>
                </a:extLst>
              </p:cNvPr>
              <p:cNvSpPr txBox="1">
                <a:spLocks/>
              </p:cNvSpPr>
              <p:nvPr/>
            </p:nvSpPr>
            <p:spPr bwMode="auto">
              <a:xfrm>
                <a:off x="4423662" y="3714984"/>
                <a:ext cx="3331974" cy="241911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lnSpc>
                    <a:spcPct val="120000"/>
                  </a:lnSpc>
                  <a:spcBef>
                    <a:spcPct val="0"/>
                  </a:spcBef>
                  <a:spcAft>
                    <a:spcPct val="0"/>
                  </a:spcAft>
                </a:pPr>
                <a:r>
                  <a:rPr lang="en-US" sz="1200" b="0" i="0" u="none" strike="noStrike">
                    <a:solidFill>
                      <a:srgbClr val="FFFFFF"/>
                    </a:solidFill>
                    <a:ea typeface="微软雅黑"/>
                  </a:rPr>
                  <a:t>在有限域中，模运算是最基本的操作之一。通过对模运算进行优化，如使用快速模约简算法，可以进一步提高算法的效率。例如，在梅森素数域中，可以利用位运算和移位操作实现快速的模约简。</a:t>
                </a:r>
              </a:p>
            </p:txBody>
          </p:sp>
        </p:grpSp>
        <p:grpSp>
          <p:nvGrpSpPr>
            <p:cNvPr id="27" name="组合 26" descr="178eb430-9420-4e5d-a546-7ac40acef745">
              <a:extLst>
                <a:ext uri="{FF2B5EF4-FFF2-40B4-BE49-F238E27FC236}">
                  <a16:creationId xmlns:a16="http://schemas.microsoft.com/office/drawing/2014/main" id="{48D8A674-6EE0-CA9D-042D-15C69EB842F6}"/>
                </a:ext>
              </a:extLst>
            </p:cNvPr>
            <p:cNvGrpSpPr/>
            <p:nvPr/>
          </p:nvGrpSpPr>
          <p:grpSpPr>
            <a:xfrm>
              <a:off x="8186926" y="2798952"/>
              <a:ext cx="3331974" cy="3335148"/>
              <a:chOff x="8186926" y="2798952"/>
              <a:chExt cx="3331974" cy="3335148"/>
            </a:xfrm>
          </p:grpSpPr>
          <p:sp>
            <p:nvSpPr>
              <p:cNvPr id="8" name="Number3" descr="6d354210-0867-404e-90c9-958e90ee53be">
                <a:extLst>
                  <a:ext uri="{FF2B5EF4-FFF2-40B4-BE49-F238E27FC236}">
                    <a16:creationId xmlns:a16="http://schemas.microsoft.com/office/drawing/2014/main" id="{80F5DF95-BEA4-2F3B-BD17-D3148A9547FB}"/>
                  </a:ext>
                </a:extLst>
              </p:cNvPr>
              <p:cNvSpPr/>
              <p:nvPr/>
            </p:nvSpPr>
            <p:spPr>
              <a:xfrm>
                <a:off x="9388599" y="2798952"/>
                <a:ext cx="928628" cy="40827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r>
                  <a:rPr lang="en-US" sz="1800" b="1" i="0" u="none">
                    <a:solidFill>
                      <a:srgbClr val="FFFFFF"/>
                    </a:solidFill>
                    <a:latin typeface="Arial"/>
                  </a:rPr>
                  <a:t>3</a:t>
                </a:r>
              </a:p>
            </p:txBody>
          </p:sp>
          <p:sp>
            <p:nvSpPr>
              <p:cNvPr id="9" name="Bullet3" descr="4daae01c-fba4-4e20-95c3-c762bdd703e3">
                <a:extLst>
                  <a:ext uri="{FF2B5EF4-FFF2-40B4-BE49-F238E27FC236}">
                    <a16:creationId xmlns:a16="http://schemas.microsoft.com/office/drawing/2014/main" id="{3D126C7A-AACC-D833-1AA0-19746152B78B}"/>
                  </a:ext>
                </a:extLst>
              </p:cNvPr>
              <p:cNvSpPr txBox="1">
                <a:spLocks/>
              </p:cNvSpPr>
              <p:nvPr/>
            </p:nvSpPr>
            <p:spPr bwMode="auto">
              <a:xfrm>
                <a:off x="8186927" y="3319886"/>
                <a:ext cx="3331972" cy="395098"/>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spcBef>
                    <a:spcPct val="0"/>
                  </a:spcBef>
                </a:pPr>
                <a:r>
                  <a:rPr lang="en-US" sz="1800" b="1" i="0" u="none">
                    <a:solidFill>
                      <a:srgbClr val="FFFFFF"/>
                    </a:solidFill>
                    <a:ea typeface="微软雅黑"/>
                  </a:rPr>
                  <a:t>曲线模型简介</a:t>
                </a:r>
              </a:p>
            </p:txBody>
          </p:sp>
          <p:sp>
            <p:nvSpPr>
              <p:cNvPr id="10" name="Text3" descr="b3d8d252-3a2a-44d1-8cbb-ade8bb702a0c">
                <a:extLst>
                  <a:ext uri="{FF2B5EF4-FFF2-40B4-BE49-F238E27FC236}">
                    <a16:creationId xmlns:a16="http://schemas.microsoft.com/office/drawing/2014/main" id="{0E662CFC-11B0-FC9A-15D5-8E7601C731A8}"/>
                  </a:ext>
                </a:extLst>
              </p:cNvPr>
              <p:cNvSpPr txBox="1">
                <a:spLocks/>
              </p:cNvSpPr>
              <p:nvPr/>
            </p:nvSpPr>
            <p:spPr bwMode="auto">
              <a:xfrm>
                <a:off x="8186926" y="3714984"/>
                <a:ext cx="3331974" cy="241911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l">
                  <a:lnSpc>
                    <a:spcPct val="120000"/>
                  </a:lnSpc>
                  <a:spcBef>
                    <a:spcPct val="0"/>
                  </a:spcBef>
                  <a:spcAft>
                    <a:spcPct val="0"/>
                  </a:spcAft>
                </a:pPr>
                <a:r>
                  <a:rPr lang="en-US" sz="1200" b="0" i="0" u="none" strike="noStrike">
                    <a:solidFill>
                      <a:srgbClr val="FFFFFF"/>
                    </a:solidFill>
                    <a:latin typeface="Arial"/>
                  </a:rPr>
                  <a:t>ECC算法基于椭圆曲线上的点运算，常用的曲线模型包括Weierstrass形式、Montgomery形式等。不同的曲线模型具有不同的性质和特点，选择合适的曲线模型对于算法的性能和安全性都有重要影响。</a:t>
                </a:r>
              </a:p>
            </p:txBody>
          </p:sp>
        </p:grpSp>
      </p:grpSp>
      <p:sp>
        <p:nvSpPr>
          <p:cNvPr id="2" name="标题 1"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a:solidFill>
                  <a:srgbClr val="FFFFFF"/>
                </a:solidFill>
                <a:ea typeface="微软雅黑"/>
              </a:rPr>
              <a:t>有限域与曲线参数选择</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340032ed-c9ba-499e-9282-43a3603c0f61.source.3.zh-Hans.pptx" descr="042f7d13-b7d4-4d7f-a23e-7ad3f69aa9dc">
            <a:extLst>
              <a:ext uri="{FF2B5EF4-FFF2-40B4-BE49-F238E27FC236}">
                <a16:creationId xmlns:a16="http://schemas.microsoft.com/office/drawing/2014/main" id="{8E716A56-D92D-8C6E-D3B2-B6DAEC3B6FA7}"/>
              </a:ext>
            </a:extLst>
          </p:cNvPr>
          <p:cNvGrpSpPr/>
          <p:nvPr/>
        </p:nvGrpSpPr>
        <p:grpSpPr>
          <a:xfrm>
            <a:off x="656108" y="1130300"/>
            <a:ext cx="10862792" cy="5003800"/>
            <a:chOff x="656108" y="1130300"/>
            <a:chExt cx="10862792" cy="5003800"/>
          </a:xfrm>
        </p:grpSpPr>
        <p:sp>
          <p:nvSpPr>
            <p:cNvPr id="3" name="PictureMisc1" descr="ca822fc4-ee0b-43e6-82dc-2a6849dddb8e">
              <a:extLst>
                <a:ext uri="{FF2B5EF4-FFF2-40B4-BE49-F238E27FC236}">
                  <a16:creationId xmlns:a16="http://schemas.microsoft.com/office/drawing/2014/main" id="{4BC3463A-BF4C-F869-DC6C-F83C735DF546}"/>
                </a:ext>
              </a:extLst>
            </p:cNvPr>
            <p:cNvSpPr/>
            <p:nvPr/>
          </p:nvSpPr>
          <p:spPr>
            <a:xfrm>
              <a:off x="656108" y="1130300"/>
              <a:ext cx="2260882" cy="5003800"/>
            </a:xfrm>
            <a:prstGeom prst="roundRect">
              <a:avLst>
                <a:gd name="adj" fmla="val 5343"/>
              </a:avLst>
            </a:prstGeom>
            <a:blipFill rotWithShape="1">
              <a:blip r:embed="rId2"/>
              <a:stretch>
                <a:fillRect l="-144488" r="-142874"/>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4" name="Title" descr="d07111a2-4954-48d3-b2d0-d80f88099955">
              <a:extLst>
                <a:ext uri="{FF2B5EF4-FFF2-40B4-BE49-F238E27FC236}">
                  <a16:creationId xmlns:a16="http://schemas.microsoft.com/office/drawing/2014/main" id="{11310755-D413-7EE4-E10B-AF559DED69CC}"/>
                </a:ext>
              </a:extLst>
            </p:cNvPr>
            <p:cNvSpPr txBox="1"/>
            <p:nvPr/>
          </p:nvSpPr>
          <p:spPr>
            <a:xfrm>
              <a:off x="660400" y="2665600"/>
              <a:ext cx="2256589" cy="1933200"/>
            </a:xfrm>
            <a:prstGeom prst="rect">
              <a:avLst/>
            </a:prstGeom>
            <a:solidFill>
              <a:srgbClr val="FFFFFF">
                <a:alpha val="90000"/>
              </a:srgbClr>
            </a:solidFill>
          </p:spPr>
          <p:txBody>
            <a:bodyPr wrap="square" rtlCol="0" anchor="ctr" anchorCtr="0">
              <a:normAutofit/>
            </a:bodyPr>
            <a:lstStyle>
              <a:defPPr>
                <a:defRPr lang="en-US"/>
              </a:defPPr>
              <a:lvl1pPr>
                <a:defRPr sz="2400" b="1">
                  <a:solidFill>
                    <a:srgbClr val="000000"/>
                  </a:solidFill>
                </a:defRPr>
              </a:lvl1pPr>
            </a:lstStyle>
            <a:p>
              <a:pPr algn="l"/>
              <a:endParaRPr/>
            </a:p>
          </p:txBody>
        </p:sp>
        <p:grpSp>
          <p:nvGrpSpPr>
            <p:cNvPr id="39" name="组合 38" descr="1411a279-a0e2-430f-a923-cb4e56990763">
              <a:extLst>
                <a:ext uri="{FF2B5EF4-FFF2-40B4-BE49-F238E27FC236}">
                  <a16:creationId xmlns:a16="http://schemas.microsoft.com/office/drawing/2014/main" id="{49A3677B-7DE9-F5BB-E519-52F629464B95}"/>
                </a:ext>
              </a:extLst>
            </p:cNvPr>
            <p:cNvGrpSpPr/>
            <p:nvPr/>
          </p:nvGrpSpPr>
          <p:grpSpPr>
            <a:xfrm>
              <a:off x="3299556" y="1130300"/>
              <a:ext cx="8219344" cy="2796286"/>
              <a:chOff x="3299556" y="1130300"/>
              <a:chExt cx="8219344" cy="2796286"/>
            </a:xfrm>
          </p:grpSpPr>
          <p:sp>
            <p:nvSpPr>
              <p:cNvPr id="20" name="IconBackground" descr="3e386d51-454b-4a00-b718-2d50b863176c">
                <a:extLst>
                  <a:ext uri="{FF2B5EF4-FFF2-40B4-BE49-F238E27FC236}">
                    <a16:creationId xmlns:a16="http://schemas.microsoft.com/office/drawing/2014/main" id="{E5F739CC-40F3-3A50-3CAA-34F133C08B37}"/>
                  </a:ext>
                </a:extLst>
              </p:cNvPr>
              <p:cNvSpPr/>
              <p:nvPr/>
            </p:nvSpPr>
            <p:spPr>
              <a:xfrm>
                <a:off x="3299556" y="3337814"/>
                <a:ext cx="588772" cy="588772"/>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21" name="IconMisc" descr="dbf18591-8252-45f5-be0b-fe7562b05a10">
                <a:extLst>
                  <a:ext uri="{FF2B5EF4-FFF2-40B4-BE49-F238E27FC236}">
                    <a16:creationId xmlns:a16="http://schemas.microsoft.com/office/drawing/2014/main" id="{CA1A9EBC-E186-9060-70A0-9EE78DFB60B1}"/>
                  </a:ext>
                </a:extLst>
              </p:cNvPr>
              <p:cNvSpPr/>
              <p:nvPr/>
            </p:nvSpPr>
            <p:spPr>
              <a:xfrm>
                <a:off x="3424073" y="3455374"/>
                <a:ext cx="339739" cy="353653"/>
              </a:xfrm>
              <a:custGeom>
                <a:avLst/>
                <a:gdLst>
                  <a:gd name="T0" fmla="*/ 6303 w 10375"/>
                  <a:gd name="T1" fmla="*/ 6456 h 10799"/>
                  <a:gd name="T2" fmla="*/ 5187 w 10375"/>
                  <a:gd name="T3" fmla="*/ 8946 h 10799"/>
                  <a:gd name="T4" fmla="*/ 5748 w 10375"/>
                  <a:gd name="T5" fmla="*/ 10799 h 10799"/>
                  <a:gd name="T6" fmla="*/ 370 w 10375"/>
                  <a:gd name="T7" fmla="*/ 10799 h 10799"/>
                  <a:gd name="T8" fmla="*/ 0 w 10375"/>
                  <a:gd name="T9" fmla="*/ 10429 h 10799"/>
                  <a:gd name="T10" fmla="*/ 0 w 10375"/>
                  <a:gd name="T11" fmla="*/ 9318 h 10799"/>
                  <a:gd name="T12" fmla="*/ 5187 w 10375"/>
                  <a:gd name="T13" fmla="*/ 6353 h 10799"/>
                  <a:gd name="T14" fmla="*/ 6303 w 10375"/>
                  <a:gd name="T15" fmla="*/ 6456 h 10799"/>
                  <a:gd name="T16" fmla="*/ 5187 w 10375"/>
                  <a:gd name="T17" fmla="*/ 5611 h 10799"/>
                  <a:gd name="T18" fmla="*/ 2593 w 10375"/>
                  <a:gd name="T19" fmla="*/ 3019 h 10799"/>
                  <a:gd name="T20" fmla="*/ 2593 w 10375"/>
                  <a:gd name="T21" fmla="*/ 3017 h 10799"/>
                  <a:gd name="T22" fmla="*/ 4361 w 10375"/>
                  <a:gd name="T23" fmla="*/ 551 h 10799"/>
                  <a:gd name="T24" fmla="*/ 7781 w 10375"/>
                  <a:gd name="T25" fmla="*/ 3017 h 10799"/>
                  <a:gd name="T26" fmla="*/ 5187 w 10375"/>
                  <a:gd name="T27" fmla="*/ 5611 h 10799"/>
                  <a:gd name="T28" fmla="*/ 9830 w 10375"/>
                  <a:gd name="T29" fmla="*/ 8021 h 10799"/>
                  <a:gd name="T30" fmla="*/ 10375 w 10375"/>
                  <a:gd name="T31" fmla="*/ 8566 h 10799"/>
                  <a:gd name="T32" fmla="*/ 10375 w 10375"/>
                  <a:gd name="T33" fmla="*/ 8589 h 10799"/>
                  <a:gd name="T34" fmla="*/ 9830 w 10375"/>
                  <a:gd name="T35" fmla="*/ 9134 h 10799"/>
                  <a:gd name="T36" fmla="*/ 8707 w 10375"/>
                  <a:gd name="T37" fmla="*/ 9134 h 10799"/>
                  <a:gd name="T38" fmla="*/ 8707 w 10375"/>
                  <a:gd name="T39" fmla="*/ 10252 h 10799"/>
                  <a:gd name="T40" fmla="*/ 8162 w 10375"/>
                  <a:gd name="T41" fmla="*/ 10798 h 10799"/>
                  <a:gd name="T42" fmla="*/ 8143 w 10375"/>
                  <a:gd name="T43" fmla="*/ 10798 h 10799"/>
                  <a:gd name="T44" fmla="*/ 7596 w 10375"/>
                  <a:gd name="T45" fmla="*/ 10252 h 10799"/>
                  <a:gd name="T46" fmla="*/ 7596 w 10375"/>
                  <a:gd name="T47" fmla="*/ 9134 h 10799"/>
                  <a:gd name="T48" fmla="*/ 6478 w 10375"/>
                  <a:gd name="T49" fmla="*/ 9134 h 10799"/>
                  <a:gd name="T50" fmla="*/ 5928 w 10375"/>
                  <a:gd name="T51" fmla="*/ 8586 h 10799"/>
                  <a:gd name="T52" fmla="*/ 5928 w 10375"/>
                  <a:gd name="T53" fmla="*/ 8568 h 10799"/>
                  <a:gd name="T54" fmla="*/ 6478 w 10375"/>
                  <a:gd name="T55" fmla="*/ 8023 h 10799"/>
                  <a:gd name="T56" fmla="*/ 7596 w 10375"/>
                  <a:gd name="T57" fmla="*/ 8023 h 10799"/>
                  <a:gd name="T58" fmla="*/ 7596 w 10375"/>
                  <a:gd name="T59" fmla="*/ 6897 h 10799"/>
                  <a:gd name="T60" fmla="*/ 8146 w 10375"/>
                  <a:gd name="T61" fmla="*/ 6352 h 10799"/>
                  <a:gd name="T62" fmla="*/ 8163 w 10375"/>
                  <a:gd name="T63" fmla="*/ 6352 h 10799"/>
                  <a:gd name="T64" fmla="*/ 8708 w 10375"/>
                  <a:gd name="T65" fmla="*/ 6897 h 10799"/>
                  <a:gd name="T66" fmla="*/ 8708 w 10375"/>
                  <a:gd name="T67" fmla="*/ 8023 h 10799"/>
                  <a:gd name="T68" fmla="*/ 9830 w 10375"/>
                  <a:gd name="T69" fmla="*/ 8023 h 10799"/>
                  <a:gd name="T70" fmla="*/ 9830 w 10375"/>
                  <a:gd name="T71" fmla="*/ 8021 h 10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375" h="10799">
                    <a:moveTo>
                      <a:pt x="6303" y="6456"/>
                    </a:moveTo>
                    <a:cubicBezTo>
                      <a:pt x="5592" y="7089"/>
                      <a:pt x="5186" y="7995"/>
                      <a:pt x="5187" y="8946"/>
                    </a:cubicBezTo>
                    <a:cubicBezTo>
                      <a:pt x="5187" y="9631"/>
                      <a:pt x="5393" y="10269"/>
                      <a:pt x="5748" y="10799"/>
                    </a:cubicBezTo>
                    <a:lnTo>
                      <a:pt x="370" y="10799"/>
                    </a:lnTo>
                    <a:cubicBezTo>
                      <a:pt x="164" y="10799"/>
                      <a:pt x="0" y="10633"/>
                      <a:pt x="0" y="10429"/>
                    </a:cubicBezTo>
                    <a:lnTo>
                      <a:pt x="0" y="9318"/>
                    </a:lnTo>
                    <a:cubicBezTo>
                      <a:pt x="0" y="7345"/>
                      <a:pt x="3456" y="6353"/>
                      <a:pt x="5187" y="6353"/>
                    </a:cubicBezTo>
                    <a:cubicBezTo>
                      <a:pt x="5511" y="6353"/>
                      <a:pt x="5893" y="6386"/>
                      <a:pt x="6303" y="6456"/>
                    </a:cubicBezTo>
                    <a:close/>
                    <a:moveTo>
                      <a:pt x="5187" y="5611"/>
                    </a:moveTo>
                    <a:cubicBezTo>
                      <a:pt x="3755" y="5611"/>
                      <a:pt x="2593" y="4451"/>
                      <a:pt x="2593" y="3019"/>
                    </a:cubicBezTo>
                    <a:lnTo>
                      <a:pt x="2593" y="3017"/>
                    </a:lnTo>
                    <a:cubicBezTo>
                      <a:pt x="2593" y="1901"/>
                      <a:pt x="3295" y="880"/>
                      <a:pt x="4361" y="551"/>
                    </a:cubicBezTo>
                    <a:cubicBezTo>
                      <a:pt x="6146" y="0"/>
                      <a:pt x="7781" y="1316"/>
                      <a:pt x="7781" y="3017"/>
                    </a:cubicBezTo>
                    <a:cubicBezTo>
                      <a:pt x="7781" y="4450"/>
                      <a:pt x="6621" y="5611"/>
                      <a:pt x="5187" y="5611"/>
                    </a:cubicBezTo>
                    <a:close/>
                    <a:moveTo>
                      <a:pt x="9830" y="8021"/>
                    </a:moveTo>
                    <a:cubicBezTo>
                      <a:pt x="10130" y="8021"/>
                      <a:pt x="10375" y="8266"/>
                      <a:pt x="10375" y="8566"/>
                    </a:cubicBezTo>
                    <a:lnTo>
                      <a:pt x="10375" y="8589"/>
                    </a:lnTo>
                    <a:cubicBezTo>
                      <a:pt x="10375" y="8889"/>
                      <a:pt x="10130" y="9134"/>
                      <a:pt x="9830" y="9134"/>
                    </a:cubicBezTo>
                    <a:lnTo>
                      <a:pt x="8707" y="9134"/>
                    </a:lnTo>
                    <a:lnTo>
                      <a:pt x="8707" y="10252"/>
                    </a:lnTo>
                    <a:cubicBezTo>
                      <a:pt x="8707" y="10552"/>
                      <a:pt x="8462" y="10798"/>
                      <a:pt x="8162" y="10798"/>
                    </a:cubicBezTo>
                    <a:lnTo>
                      <a:pt x="8143" y="10798"/>
                    </a:lnTo>
                    <a:cubicBezTo>
                      <a:pt x="7843" y="10798"/>
                      <a:pt x="7597" y="10552"/>
                      <a:pt x="7596" y="10252"/>
                    </a:cubicBezTo>
                    <a:lnTo>
                      <a:pt x="7596" y="9134"/>
                    </a:lnTo>
                    <a:lnTo>
                      <a:pt x="6478" y="9134"/>
                    </a:lnTo>
                    <a:cubicBezTo>
                      <a:pt x="6176" y="9135"/>
                      <a:pt x="5930" y="8890"/>
                      <a:pt x="5928" y="8586"/>
                    </a:cubicBezTo>
                    <a:lnTo>
                      <a:pt x="5928" y="8568"/>
                    </a:lnTo>
                    <a:cubicBezTo>
                      <a:pt x="5933" y="8266"/>
                      <a:pt x="6177" y="8025"/>
                      <a:pt x="6478" y="8023"/>
                    </a:cubicBezTo>
                    <a:lnTo>
                      <a:pt x="7596" y="8023"/>
                    </a:lnTo>
                    <a:lnTo>
                      <a:pt x="7596" y="6897"/>
                    </a:lnTo>
                    <a:cubicBezTo>
                      <a:pt x="7596" y="6596"/>
                      <a:pt x="7841" y="6352"/>
                      <a:pt x="8146" y="6352"/>
                    </a:cubicBezTo>
                    <a:lnTo>
                      <a:pt x="8163" y="6352"/>
                    </a:lnTo>
                    <a:cubicBezTo>
                      <a:pt x="8465" y="6352"/>
                      <a:pt x="8708" y="6596"/>
                      <a:pt x="8708" y="6897"/>
                    </a:cubicBezTo>
                    <a:lnTo>
                      <a:pt x="8708" y="8023"/>
                    </a:lnTo>
                    <a:lnTo>
                      <a:pt x="9830" y="8023"/>
                    </a:lnTo>
                    <a:lnTo>
                      <a:pt x="9830" y="8021"/>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22" name="Bullet1" descr="d60c0ed3-e152-43c3-925f-49d3ac6e30ff">
                <a:extLst>
                  <a:ext uri="{FF2B5EF4-FFF2-40B4-BE49-F238E27FC236}">
                    <a16:creationId xmlns:a16="http://schemas.microsoft.com/office/drawing/2014/main" id="{E355FFA5-AED2-AED8-2168-BDBA12F3A923}"/>
                  </a:ext>
                </a:extLst>
              </p:cNvPr>
              <p:cNvSpPr/>
              <p:nvPr/>
            </p:nvSpPr>
            <p:spPr>
              <a:xfrm>
                <a:off x="4315968" y="1130300"/>
                <a:ext cx="3101593" cy="1508176"/>
              </a:xfrm>
              <a:prstGeom prst="roundRect">
                <a:avLst>
                  <a:gd name="adj" fmla="val 8000"/>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rmAutofit/>
              </a:bodyPr>
              <a:lstStyle/>
              <a:p>
                <a:pPr algn="l"/>
                <a:r>
                  <a:rPr lang="en-US" sz="1800" b="1" i="0" u="none">
                    <a:solidFill>
                      <a:srgbClr val="FFFFFF"/>
                    </a:solidFill>
                    <a:latin typeface="Arial"/>
                  </a:rPr>
                  <a:t>ECC性能瓶颈</a:t>
                </a:r>
              </a:p>
            </p:txBody>
          </p:sp>
          <p:sp>
            <p:nvSpPr>
              <p:cNvPr id="23" name="Text1" descr="d93ade80-a5bf-43ea-9aef-918a4f9f663c">
                <a:extLst>
                  <a:ext uri="{FF2B5EF4-FFF2-40B4-BE49-F238E27FC236}">
                    <a16:creationId xmlns:a16="http://schemas.microsoft.com/office/drawing/2014/main" id="{95423198-7B79-D5D6-804E-6BE444AE4512}"/>
                  </a:ext>
                </a:extLst>
              </p:cNvPr>
              <p:cNvSpPr/>
              <p:nvPr/>
            </p:nvSpPr>
            <p:spPr>
              <a:xfrm>
                <a:off x="7417562" y="1130300"/>
                <a:ext cx="4101338" cy="1508176"/>
              </a:xfrm>
              <a:prstGeom prst="roundRect">
                <a:avLst>
                  <a:gd name="adj" fmla="val 4800"/>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rmAutofit/>
              </a:bodyPr>
              <a:lstStyle/>
              <a:p>
                <a:pPr algn="l">
                  <a:lnSpc>
                    <a:spcPct val="120000"/>
                  </a:lnSpc>
                </a:pPr>
                <a:r>
                  <a:rPr lang="en-US" sz="1200" b="0" i="0" u="none">
                    <a:solidFill>
                      <a:srgbClr val="FFFFFF"/>
                    </a:solidFill>
                    <a:ea typeface="微软雅黑"/>
                  </a:rPr>
                  <a:t>在ECC算法中，标量乘运算是性能瓶颈之一。标量乘运算涉及到大量的点加和倍点运算，计算量较大。因此，对标量乘算法进行优化是提高ECC算法性能的关键。</a:t>
                </a:r>
              </a:p>
            </p:txBody>
          </p:sp>
          <p:cxnSp>
            <p:nvCxnSpPr>
              <p:cNvPr id="34" name="Line1" descr="c215bca4-a37f-4268-a18e-44816215e9d6">
                <a:extLst>
                  <a:ext uri="{FF2B5EF4-FFF2-40B4-BE49-F238E27FC236}">
                    <a16:creationId xmlns:a16="http://schemas.microsoft.com/office/drawing/2014/main" id="{68CF52B8-6563-73DE-82BD-CC8FD19F7CF6}"/>
                  </a:ext>
                </a:extLst>
              </p:cNvPr>
              <p:cNvCxnSpPr>
                <a:stCxn id="22" idx="1"/>
                <a:endCxn id="20" idx="3"/>
              </p:cNvCxnSpPr>
              <p:nvPr/>
            </p:nvCxnSpPr>
            <p:spPr>
              <a:xfrm rot="10800000" flipV="1">
                <a:off x="3888328" y="1884388"/>
                <a:ext cx="427640" cy="1747812"/>
              </a:xfrm>
              <a:prstGeom prst="bentConnector3">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40" name="组合 39" descr="a7a2d108-51dd-4568-94cc-a9579e2d5443">
              <a:extLst>
                <a:ext uri="{FF2B5EF4-FFF2-40B4-BE49-F238E27FC236}">
                  <a16:creationId xmlns:a16="http://schemas.microsoft.com/office/drawing/2014/main" id="{CA8D7AFF-07F0-8DB5-1110-028B4C396BBA}"/>
                </a:ext>
              </a:extLst>
            </p:cNvPr>
            <p:cNvGrpSpPr/>
            <p:nvPr/>
          </p:nvGrpSpPr>
          <p:grpSpPr>
            <a:xfrm>
              <a:off x="3888328" y="2878112"/>
              <a:ext cx="7630572" cy="1508176"/>
              <a:chOff x="3888328" y="2878112"/>
              <a:chExt cx="7630572" cy="1508176"/>
            </a:xfrm>
          </p:grpSpPr>
          <p:sp>
            <p:nvSpPr>
              <p:cNvPr id="17" name="Bullet2" descr="fd896afa-c9b4-464c-aef6-642e97876417">
                <a:extLst>
                  <a:ext uri="{FF2B5EF4-FFF2-40B4-BE49-F238E27FC236}">
                    <a16:creationId xmlns:a16="http://schemas.microsoft.com/office/drawing/2014/main" id="{A438C160-CDDC-601C-A2C0-DFBA2FBADC37}"/>
                  </a:ext>
                </a:extLst>
              </p:cNvPr>
              <p:cNvSpPr/>
              <p:nvPr/>
            </p:nvSpPr>
            <p:spPr>
              <a:xfrm>
                <a:off x="4315968" y="2878112"/>
                <a:ext cx="3101593" cy="1508176"/>
              </a:xfrm>
              <a:prstGeom prst="roundRect">
                <a:avLst>
                  <a:gd name="adj" fmla="val 8000"/>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rmAutofit/>
              </a:bodyPr>
              <a:lstStyle/>
              <a:p>
                <a:pPr algn="l"/>
                <a:r>
                  <a:rPr lang="en-US" sz="1800" b="1" i="0" u="none">
                    <a:solidFill>
                      <a:srgbClr val="FFFFFF"/>
                    </a:solidFill>
                    <a:latin typeface="Arial"/>
                  </a:rPr>
                  <a:t>Montgomery Ladder原理</a:t>
                </a:r>
              </a:p>
            </p:txBody>
          </p:sp>
          <p:sp>
            <p:nvSpPr>
              <p:cNvPr id="18" name="Text2" descr="46ba1aa8-6bdf-4177-82e2-676332f5de69">
                <a:extLst>
                  <a:ext uri="{FF2B5EF4-FFF2-40B4-BE49-F238E27FC236}">
                    <a16:creationId xmlns:a16="http://schemas.microsoft.com/office/drawing/2014/main" id="{C60DB1D4-79B4-0802-FD4C-26FFE3BB8644}"/>
                  </a:ext>
                </a:extLst>
              </p:cNvPr>
              <p:cNvSpPr/>
              <p:nvPr/>
            </p:nvSpPr>
            <p:spPr>
              <a:xfrm>
                <a:off x="7417562" y="2878112"/>
                <a:ext cx="4101338" cy="1508176"/>
              </a:xfrm>
              <a:prstGeom prst="roundRect">
                <a:avLst>
                  <a:gd name="adj" fmla="val 4800"/>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rmAutofit/>
              </a:bodyPr>
              <a:lstStyle/>
              <a:p>
                <a:pPr algn="l">
                  <a:lnSpc>
                    <a:spcPct val="120000"/>
                  </a:lnSpc>
                </a:pPr>
                <a:r>
                  <a:rPr lang="en-US" sz="1200" b="0" i="0" u="none">
                    <a:solidFill>
                      <a:srgbClr val="FFFFFF"/>
                    </a:solidFill>
                    <a:latin typeface="Arial"/>
                  </a:rPr>
                  <a:t>Montgomery Ladder算法是一种高效的标量乘算法，它采用固定的计算流程，避免了分支操作，从而提高了算法的抗侧信道攻击能力。该算法通过一系列的加法和倍点运算，逐步计算出标量乘的结果。</a:t>
                </a:r>
              </a:p>
            </p:txBody>
          </p:sp>
          <p:cxnSp>
            <p:nvCxnSpPr>
              <p:cNvPr id="38" name="Line2" descr="ade9900c-69aa-4284-b69f-44905bd4071e">
                <a:extLst>
                  <a:ext uri="{FF2B5EF4-FFF2-40B4-BE49-F238E27FC236}">
                    <a16:creationId xmlns:a16="http://schemas.microsoft.com/office/drawing/2014/main" id="{4CA459DA-DA27-5E22-3BDD-FA916ACE7C29}"/>
                  </a:ext>
                </a:extLst>
              </p:cNvPr>
              <p:cNvCxnSpPr>
                <a:stCxn id="17" idx="1"/>
                <a:endCxn id="20" idx="3"/>
              </p:cNvCxnSpPr>
              <p:nvPr/>
            </p:nvCxnSpPr>
            <p:spPr>
              <a:xfrm flipH="1">
                <a:off x="3888328" y="3632200"/>
                <a:ext cx="427640" cy="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nvGrpSpPr>
            <p:cNvPr id="41" name="组合 40" descr="0d5ac18a-fa07-4bd2-aa08-a47dc4949b94">
              <a:extLst>
                <a:ext uri="{FF2B5EF4-FFF2-40B4-BE49-F238E27FC236}">
                  <a16:creationId xmlns:a16="http://schemas.microsoft.com/office/drawing/2014/main" id="{9CDF327E-70EF-DEDC-F098-2EFF0EE05FFC}"/>
                </a:ext>
              </a:extLst>
            </p:cNvPr>
            <p:cNvGrpSpPr/>
            <p:nvPr/>
          </p:nvGrpSpPr>
          <p:grpSpPr>
            <a:xfrm>
              <a:off x="3888329" y="3632200"/>
              <a:ext cx="7630570" cy="2501900"/>
              <a:chOff x="3888329" y="3632200"/>
              <a:chExt cx="7630570" cy="2501900"/>
            </a:xfrm>
          </p:grpSpPr>
          <p:sp>
            <p:nvSpPr>
              <p:cNvPr id="26" name="Bullet3" descr="3d5242ae-4e3e-43f4-9117-4300721247ca">
                <a:extLst>
                  <a:ext uri="{FF2B5EF4-FFF2-40B4-BE49-F238E27FC236}">
                    <a16:creationId xmlns:a16="http://schemas.microsoft.com/office/drawing/2014/main" id="{139F8897-17D0-F5A4-F752-007F6965DAEC}"/>
                  </a:ext>
                </a:extLst>
              </p:cNvPr>
              <p:cNvSpPr/>
              <p:nvPr/>
            </p:nvSpPr>
            <p:spPr>
              <a:xfrm>
                <a:off x="4315967" y="4625924"/>
                <a:ext cx="3101593" cy="1508176"/>
              </a:xfrm>
              <a:prstGeom prst="roundRect">
                <a:avLst>
                  <a:gd name="adj" fmla="val 8000"/>
                </a:avLst>
              </a:prstGeom>
              <a:no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rmAutofit/>
              </a:bodyPr>
              <a:lstStyle/>
              <a:p>
                <a:pPr algn="l"/>
                <a:r>
                  <a:rPr lang="en-US" sz="1800" b="1" i="0" u="none">
                    <a:solidFill>
                      <a:srgbClr val="FFFFFF"/>
                    </a:solidFill>
                    <a:ea typeface="微软雅黑"/>
                  </a:rPr>
                  <a:t>抗侧信道特性</a:t>
                </a:r>
              </a:p>
            </p:txBody>
          </p:sp>
          <p:sp>
            <p:nvSpPr>
              <p:cNvPr id="27" name="Text3" descr="6db4b0ba-c7bc-40f2-8268-b53b848fe228">
                <a:extLst>
                  <a:ext uri="{FF2B5EF4-FFF2-40B4-BE49-F238E27FC236}">
                    <a16:creationId xmlns:a16="http://schemas.microsoft.com/office/drawing/2014/main" id="{01D6B3C5-5292-7BE0-729D-6C9C4544D3D4}"/>
                  </a:ext>
                </a:extLst>
              </p:cNvPr>
              <p:cNvSpPr/>
              <p:nvPr/>
            </p:nvSpPr>
            <p:spPr>
              <a:xfrm>
                <a:off x="7417561" y="4625924"/>
                <a:ext cx="4101338" cy="1508176"/>
              </a:xfrm>
              <a:prstGeom prst="roundRect">
                <a:avLst>
                  <a:gd name="adj" fmla="val 4800"/>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rmAutofit/>
              </a:bodyPr>
              <a:lstStyle/>
              <a:p>
                <a:pPr algn="l">
                  <a:lnSpc>
                    <a:spcPct val="120000"/>
                  </a:lnSpc>
                </a:pPr>
                <a:r>
                  <a:rPr lang="en-US" sz="1200" b="0" i="0" u="none">
                    <a:solidFill>
                      <a:srgbClr val="FFFFFF"/>
                    </a:solidFill>
                    <a:latin typeface="Arial"/>
                  </a:rPr>
                  <a:t>Montgomery Ladder算法的抗侧信道特性主要体现在其固定的计算流程上。由于算法中不包含分支操作，攻击者很难通过分析计算过程中的时间、功耗等侧信道信息来获取密钥信息。因此，该算法在安全性要求较高的场景中具有重要应用价值。</a:t>
                </a:r>
              </a:p>
            </p:txBody>
          </p:sp>
          <p:cxnSp>
            <p:nvCxnSpPr>
              <p:cNvPr id="36" name="Line3" descr="820a20ae-c728-47be-8d7d-35ed22ce8e03">
                <a:extLst>
                  <a:ext uri="{FF2B5EF4-FFF2-40B4-BE49-F238E27FC236}">
                    <a16:creationId xmlns:a16="http://schemas.microsoft.com/office/drawing/2014/main" id="{C409C9D7-7385-6C71-CD67-C5254AD1F70E}"/>
                  </a:ext>
                </a:extLst>
              </p:cNvPr>
              <p:cNvCxnSpPr>
                <a:stCxn id="26" idx="1"/>
                <a:endCxn id="20" idx="3"/>
              </p:cNvCxnSpPr>
              <p:nvPr/>
            </p:nvCxnSpPr>
            <p:spPr>
              <a:xfrm rot="10800000">
                <a:off x="3888329" y="3632200"/>
                <a:ext cx="427639" cy="1747812"/>
              </a:xfrm>
              <a:prstGeom prst="bentConnector3">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a:solidFill>
                  <a:srgbClr val="FFFFFF"/>
                </a:solidFill>
                <a:ea typeface="微软雅黑"/>
              </a:rPr>
              <a:t>标量乘与 Montgomery Ladder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68900395-272d-4092-bd8d-c6c92ea8c742.source.3.zh-Hans.pptx" descr="e4e071bf-2de2-48ca-bc4d-c7065c37a909">
            <a:extLst>
              <a:ext uri="{FF2B5EF4-FFF2-40B4-BE49-F238E27FC236}">
                <a16:creationId xmlns:a16="http://schemas.microsoft.com/office/drawing/2014/main" id="{3EF299BA-AE73-57FC-6874-94A03EBBBE60}"/>
              </a:ext>
            </a:extLst>
          </p:cNvPr>
          <p:cNvGrpSpPr/>
          <p:nvPr/>
        </p:nvGrpSpPr>
        <p:grpSpPr>
          <a:xfrm>
            <a:off x="673107" y="1130300"/>
            <a:ext cx="10845792" cy="5009242"/>
            <a:chOff x="673107" y="1130300"/>
            <a:chExt cx="10845792" cy="5009242"/>
          </a:xfrm>
        </p:grpSpPr>
        <p:cxnSp>
          <p:nvCxnSpPr>
            <p:cNvPr id="7" name="直接连接符 6" descr="a602eda8-3222-414c-8816-0c7adacbad72">
              <a:extLst>
                <a:ext uri="{FF2B5EF4-FFF2-40B4-BE49-F238E27FC236}">
                  <a16:creationId xmlns:a16="http://schemas.microsoft.com/office/drawing/2014/main" id="{E808F29B-65E2-03D7-149E-680CB35CEE49}"/>
                </a:ext>
              </a:extLst>
            </p:cNvPr>
            <p:cNvCxnSpPr>
              <a:cxnSpLocks/>
            </p:cNvCxnSpPr>
            <p:nvPr/>
          </p:nvCxnSpPr>
          <p:spPr>
            <a:xfrm>
              <a:off x="4315470" y="2652031"/>
              <a:ext cx="0" cy="697488"/>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descr="93b7d5a9-ab99-4cda-ba1c-c5365ee9e559">
              <a:extLst>
                <a:ext uri="{FF2B5EF4-FFF2-40B4-BE49-F238E27FC236}">
                  <a16:creationId xmlns:a16="http://schemas.microsoft.com/office/drawing/2014/main" id="{02848125-A68D-66A8-D46B-EEDAB30BAA6A}"/>
                </a:ext>
              </a:extLst>
            </p:cNvPr>
            <p:cNvCxnSpPr>
              <a:cxnSpLocks/>
            </p:cNvCxnSpPr>
            <p:nvPr/>
          </p:nvCxnSpPr>
          <p:spPr>
            <a:xfrm>
              <a:off x="7914206" y="2652031"/>
              <a:ext cx="0" cy="697488"/>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21" name="Title" descr="e49d6c7a-7d17-4c73-8051-43cafab51f3b">
              <a:extLst>
                <a:ext uri="{FF2B5EF4-FFF2-40B4-BE49-F238E27FC236}">
                  <a16:creationId xmlns:a16="http://schemas.microsoft.com/office/drawing/2014/main" id="{7E63FFEF-88A5-555C-A883-8C169E51BBA0}"/>
                </a:ext>
              </a:extLst>
            </p:cNvPr>
            <p:cNvSpPr txBox="1"/>
            <p:nvPr/>
          </p:nvSpPr>
          <p:spPr>
            <a:xfrm>
              <a:off x="673107" y="1130300"/>
              <a:ext cx="10845792" cy="697491"/>
            </a:xfrm>
            <a:prstGeom prst="rect">
              <a:avLst/>
            </a:prstGeom>
            <a:noFill/>
          </p:spPr>
          <p:txBody>
            <a:bodyPr wrap="square" lIns="90000" tIns="46800" rIns="90000" bIns="46800" rtlCol="0" anchor="ctr" anchorCtr="0">
              <a:normAutofit/>
            </a:bodyPr>
            <a:lstStyle>
              <a:defPPr>
                <a:defRPr lang="en-US"/>
              </a:defPPr>
              <a:lvl1pPr>
                <a:defRPr sz="2400" b="1"/>
              </a:lvl1pPr>
            </a:lstStyle>
            <a:p>
              <a:pPr algn="l"/>
              <a:endParaRPr/>
            </a:p>
          </p:txBody>
        </p:sp>
        <p:grpSp>
          <p:nvGrpSpPr>
            <p:cNvPr id="23" name="组合 22" descr="1b6cb7f2-4bc2-4dc0-a9a6-b085fed4b048">
              <a:extLst>
                <a:ext uri="{FF2B5EF4-FFF2-40B4-BE49-F238E27FC236}">
                  <a16:creationId xmlns:a16="http://schemas.microsoft.com/office/drawing/2014/main" id="{29EBC949-63DD-1ABF-2CC5-21F03794F363}"/>
                </a:ext>
              </a:extLst>
            </p:cNvPr>
            <p:cNvGrpSpPr/>
            <p:nvPr/>
          </p:nvGrpSpPr>
          <p:grpSpPr>
            <a:xfrm>
              <a:off x="688568" y="2688089"/>
              <a:ext cx="3604695" cy="3451452"/>
              <a:chOff x="688568" y="2688089"/>
              <a:chExt cx="3604695" cy="3451452"/>
            </a:xfrm>
          </p:grpSpPr>
          <p:cxnSp>
            <p:nvCxnSpPr>
              <p:cNvPr id="3" name="Shape1" descr="e2b01208-5a47-47d7-bd9c-5572f1298e66">
                <a:extLst>
                  <a:ext uri="{FF2B5EF4-FFF2-40B4-BE49-F238E27FC236}">
                    <a16:creationId xmlns:a16="http://schemas.microsoft.com/office/drawing/2014/main" id="{82DE7013-5A13-6735-2528-B59153BB885A}"/>
                  </a:ext>
                </a:extLst>
              </p:cNvPr>
              <p:cNvCxnSpPr>
                <a:cxnSpLocks/>
              </p:cNvCxnSpPr>
              <p:nvPr/>
            </p:nvCxnSpPr>
            <p:spPr>
              <a:xfrm>
                <a:off x="688568" y="3349519"/>
                <a:ext cx="3604695" cy="0"/>
              </a:xfrm>
              <a:prstGeom prst="line">
                <a:avLst/>
              </a:prstGeom>
              <a:ln>
                <a:solidFill>
                  <a:schemeClr val="tx1">
                    <a:alpha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 name="Bullet1" descr="ea196247-d00d-4048-b5c4-fcfb6271949f">
                <a:extLst>
                  <a:ext uri="{FF2B5EF4-FFF2-40B4-BE49-F238E27FC236}">
                    <a16:creationId xmlns:a16="http://schemas.microsoft.com/office/drawing/2014/main" id="{64BBA877-5036-649B-8852-0C99CB07D6E1}"/>
                  </a:ext>
                </a:extLst>
              </p:cNvPr>
              <p:cNvSpPr txBox="1"/>
              <p:nvPr/>
            </p:nvSpPr>
            <p:spPr>
              <a:xfrm>
                <a:off x="776039" y="2688089"/>
                <a:ext cx="3429752" cy="625372"/>
              </a:xfrm>
              <a:prstGeom prst="rect">
                <a:avLst/>
              </a:prstGeom>
              <a:noFill/>
            </p:spPr>
            <p:txBody>
              <a:bodyPr wrap="square" rtlCol="0" anchor="ctr" anchorCtr="0">
                <a:normAutofit/>
              </a:bodyPr>
              <a:lstStyle/>
              <a:p>
                <a:pPr algn="l">
                  <a:lnSpc>
                    <a:spcPct val="120000"/>
                  </a:lnSpc>
                </a:pPr>
                <a:r>
                  <a:rPr lang="en-US" sz="1800" b="1" i="0" u="none">
                    <a:solidFill>
                      <a:srgbClr val="FFFFFF"/>
                    </a:solidFill>
                    <a:ea typeface="微软雅黑"/>
                  </a:rPr>
                  <a:t>密钥交换流程</a:t>
                </a:r>
              </a:p>
            </p:txBody>
          </p:sp>
          <p:sp>
            <p:nvSpPr>
              <p:cNvPr id="5" name="Text1" descr="61e43bc4-2fe5-41c7-988b-eb2b1278913e">
                <a:extLst>
                  <a:ext uri="{FF2B5EF4-FFF2-40B4-BE49-F238E27FC236}">
                    <a16:creationId xmlns:a16="http://schemas.microsoft.com/office/drawing/2014/main" id="{B501454F-1607-B43D-B544-306435236796}"/>
                  </a:ext>
                </a:extLst>
              </p:cNvPr>
              <p:cNvSpPr txBox="1"/>
              <p:nvPr/>
            </p:nvSpPr>
            <p:spPr>
              <a:xfrm>
                <a:off x="776041" y="3405284"/>
                <a:ext cx="3429748" cy="2734257"/>
              </a:xfrm>
              <a:prstGeom prst="rect">
                <a:avLst/>
              </a:prstGeom>
              <a:noFill/>
            </p:spPr>
            <p:txBody>
              <a:bodyPr wrap="square" rtlCol="0" anchor="t" anchorCtr="0">
                <a:normAutofit/>
              </a:bodyPr>
              <a:lstStyle/>
              <a:p>
                <a:pPr algn="l">
                  <a:lnSpc>
                    <a:spcPct val="120000"/>
                  </a:lnSpc>
                </a:pPr>
                <a:r>
                  <a:rPr lang="en-US" sz="1200" b="0" i="0" u="none" strike="noStrike">
                    <a:solidFill>
                      <a:srgbClr val="FFFFFF"/>
                    </a:solidFill>
                    <a:latin typeface="Arial"/>
                  </a:rPr>
                  <a:t>ECDH算法是一种基于椭圆曲线的密钥交换协议，其基本流程包括双方选择相同的椭圆曲线和基点，然后各自生成自己的私钥和公钥。双方交换公钥后，通过计算得到共享密钥。共享密钥可以用于后续的对称加密通信，保证通信的安全性。</a:t>
                </a:r>
              </a:p>
            </p:txBody>
          </p:sp>
        </p:grpSp>
        <p:grpSp>
          <p:nvGrpSpPr>
            <p:cNvPr id="24" name="组合 23" descr="e5f44eba-f088-44a3-ae6b-fea5c181e153">
              <a:extLst>
                <a:ext uri="{FF2B5EF4-FFF2-40B4-BE49-F238E27FC236}">
                  <a16:creationId xmlns:a16="http://schemas.microsoft.com/office/drawing/2014/main" id="{20CAB649-9D5B-EBF0-5DE9-FCA85A90EFB1}"/>
                </a:ext>
              </a:extLst>
            </p:cNvPr>
            <p:cNvGrpSpPr/>
            <p:nvPr/>
          </p:nvGrpSpPr>
          <p:grpSpPr>
            <a:xfrm>
              <a:off x="4315472" y="2652030"/>
              <a:ext cx="3598734" cy="3487512"/>
              <a:chOff x="4315472" y="2652030"/>
              <a:chExt cx="3598734" cy="3487512"/>
            </a:xfrm>
          </p:grpSpPr>
          <p:cxnSp>
            <p:nvCxnSpPr>
              <p:cNvPr id="8" name="Shape2" descr="b24da87e-39ea-456a-ad44-cd1a135895d5">
                <a:extLst>
                  <a:ext uri="{FF2B5EF4-FFF2-40B4-BE49-F238E27FC236}">
                    <a16:creationId xmlns:a16="http://schemas.microsoft.com/office/drawing/2014/main" id="{0D191B43-6872-8A84-1DCA-F33197BC3810}"/>
                  </a:ext>
                </a:extLst>
              </p:cNvPr>
              <p:cNvCxnSpPr>
                <a:cxnSpLocks/>
              </p:cNvCxnSpPr>
              <p:nvPr/>
            </p:nvCxnSpPr>
            <p:spPr>
              <a:xfrm>
                <a:off x="4315472" y="2652030"/>
                <a:ext cx="3598734" cy="0"/>
              </a:xfrm>
              <a:prstGeom prst="line">
                <a:avLst/>
              </a:prstGeom>
              <a:ln>
                <a:solidFill>
                  <a:schemeClr val="tx1">
                    <a:alpha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9" name="Bullet2" descr="5363ef27-e5a3-48db-be36-b3a5e037ab1c">
                <a:extLst>
                  <a:ext uri="{FF2B5EF4-FFF2-40B4-BE49-F238E27FC236}">
                    <a16:creationId xmlns:a16="http://schemas.microsoft.com/office/drawing/2014/main" id="{D89FAA35-3C7D-0863-3CC1-0DBB1DA1243B}"/>
                  </a:ext>
                </a:extLst>
              </p:cNvPr>
              <p:cNvSpPr txBox="1"/>
              <p:nvPr/>
            </p:nvSpPr>
            <p:spPr>
              <a:xfrm>
                <a:off x="4402942" y="2688091"/>
                <a:ext cx="3429752" cy="625369"/>
              </a:xfrm>
              <a:prstGeom prst="rect">
                <a:avLst/>
              </a:prstGeom>
              <a:noFill/>
            </p:spPr>
            <p:txBody>
              <a:bodyPr wrap="square" rtlCol="0" anchor="ctr" anchorCtr="0">
                <a:normAutofit/>
              </a:bodyPr>
              <a:lstStyle/>
              <a:p>
                <a:pPr algn="l">
                  <a:lnSpc>
                    <a:spcPct val="120000"/>
                  </a:lnSpc>
                </a:pPr>
                <a:r>
                  <a:rPr lang="en-US" sz="1800" b="1" i="0" u="none">
                    <a:solidFill>
                      <a:srgbClr val="FFFFFF"/>
                    </a:solidFill>
                    <a:ea typeface="微软雅黑"/>
                  </a:rPr>
                  <a:t>实验结果展示</a:t>
                </a:r>
              </a:p>
            </p:txBody>
          </p:sp>
          <p:sp>
            <p:nvSpPr>
              <p:cNvPr id="10" name="Text2" descr="b26d1fd0-2797-4e8c-b7fa-d6bd2f29909c">
                <a:extLst>
                  <a:ext uri="{FF2B5EF4-FFF2-40B4-BE49-F238E27FC236}">
                    <a16:creationId xmlns:a16="http://schemas.microsoft.com/office/drawing/2014/main" id="{10A1C074-9939-8894-4CBF-BB0986931BBD}"/>
                  </a:ext>
                </a:extLst>
              </p:cNvPr>
              <p:cNvSpPr txBox="1"/>
              <p:nvPr/>
            </p:nvSpPr>
            <p:spPr>
              <a:xfrm>
                <a:off x="4402944" y="3405286"/>
                <a:ext cx="3429748" cy="2734256"/>
              </a:xfrm>
              <a:prstGeom prst="rect">
                <a:avLst/>
              </a:prstGeom>
              <a:noFill/>
            </p:spPr>
            <p:txBody>
              <a:bodyPr wrap="square" rtlCol="0" anchor="t" anchorCtr="0">
                <a:normAutofit/>
              </a:bodyPr>
              <a:lstStyle/>
              <a:p>
                <a:pPr algn="l">
                  <a:lnSpc>
                    <a:spcPct val="120000"/>
                  </a:lnSpc>
                </a:pPr>
                <a:r>
                  <a:rPr lang="en-US" sz="1200" b="0" i="0" u="none" strike="noStrike">
                    <a:solidFill>
                      <a:srgbClr val="FFFFFF"/>
                    </a:solidFill>
                    <a:ea typeface="微软雅黑"/>
                  </a:rPr>
                  <a:t>通过实验可以验证ECDH算法的正确性和效率。例如，展示密钥交换过程中的数据交换情况、共享密钥的计算结果等。</a:t>
                </a:r>
              </a:p>
            </p:txBody>
          </p:sp>
        </p:grpSp>
        <p:grpSp>
          <p:nvGrpSpPr>
            <p:cNvPr id="25" name="组合 24" descr="f6901291-caa3-4f6d-96a4-b0adf8f0f9f1">
              <a:extLst>
                <a:ext uri="{FF2B5EF4-FFF2-40B4-BE49-F238E27FC236}">
                  <a16:creationId xmlns:a16="http://schemas.microsoft.com/office/drawing/2014/main" id="{127D67CA-F30F-E2CF-9AE3-E1B2064F8D42}"/>
                </a:ext>
              </a:extLst>
            </p:cNvPr>
            <p:cNvGrpSpPr/>
            <p:nvPr/>
          </p:nvGrpSpPr>
          <p:grpSpPr>
            <a:xfrm>
              <a:off x="7914206" y="2688091"/>
              <a:ext cx="3604693" cy="3451451"/>
              <a:chOff x="7914206" y="2688091"/>
              <a:chExt cx="3604693" cy="3451451"/>
            </a:xfrm>
          </p:grpSpPr>
          <p:cxnSp>
            <p:nvCxnSpPr>
              <p:cNvPr id="13" name="Shape3" descr="15038d92-a002-4c0a-85c3-385bbd84df1f">
                <a:extLst>
                  <a:ext uri="{FF2B5EF4-FFF2-40B4-BE49-F238E27FC236}">
                    <a16:creationId xmlns:a16="http://schemas.microsoft.com/office/drawing/2014/main" id="{3C14012A-B2AF-FACF-26FE-43329DD80670}"/>
                  </a:ext>
                </a:extLst>
              </p:cNvPr>
              <p:cNvCxnSpPr>
                <a:cxnSpLocks/>
              </p:cNvCxnSpPr>
              <p:nvPr/>
            </p:nvCxnSpPr>
            <p:spPr>
              <a:xfrm>
                <a:off x="7914206" y="3349519"/>
                <a:ext cx="3604693" cy="0"/>
              </a:xfrm>
              <a:prstGeom prst="line">
                <a:avLst/>
              </a:prstGeom>
              <a:ln>
                <a:solidFill>
                  <a:schemeClr val="tx1">
                    <a:alpha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4" name="Bullet3" descr="47176a38-331f-4025-91fa-c62f75573a47">
                <a:extLst>
                  <a:ext uri="{FF2B5EF4-FFF2-40B4-BE49-F238E27FC236}">
                    <a16:creationId xmlns:a16="http://schemas.microsoft.com/office/drawing/2014/main" id="{55D42350-7845-E8F6-E21E-95406F2A1F97}"/>
                  </a:ext>
                </a:extLst>
              </p:cNvPr>
              <p:cNvSpPr txBox="1"/>
              <p:nvPr/>
            </p:nvSpPr>
            <p:spPr>
              <a:xfrm>
                <a:off x="8001677" y="2688091"/>
                <a:ext cx="3429751" cy="625369"/>
              </a:xfrm>
              <a:prstGeom prst="rect">
                <a:avLst/>
              </a:prstGeom>
              <a:noFill/>
            </p:spPr>
            <p:txBody>
              <a:bodyPr wrap="square" rtlCol="0" anchor="ctr" anchorCtr="0">
                <a:normAutofit/>
              </a:bodyPr>
              <a:lstStyle/>
              <a:p>
                <a:pPr algn="l">
                  <a:lnSpc>
                    <a:spcPct val="120000"/>
                  </a:lnSpc>
                </a:pPr>
                <a:r>
                  <a:rPr lang="en-US" sz="1800" b="1" i="0" u="none">
                    <a:solidFill>
                      <a:srgbClr val="FFFFFF"/>
                    </a:solidFill>
                    <a:ea typeface="微软雅黑"/>
                  </a:rPr>
                  <a:t>正确性验证</a:t>
                </a:r>
              </a:p>
            </p:txBody>
          </p:sp>
          <p:sp>
            <p:nvSpPr>
              <p:cNvPr id="15" name="Text3" descr="602f4cc4-b0e5-447c-b10d-77d4a6463c5b">
                <a:extLst>
                  <a:ext uri="{FF2B5EF4-FFF2-40B4-BE49-F238E27FC236}">
                    <a16:creationId xmlns:a16="http://schemas.microsoft.com/office/drawing/2014/main" id="{398CBF38-F9CC-21B8-A65C-CEE2B1E10C29}"/>
                  </a:ext>
                </a:extLst>
              </p:cNvPr>
              <p:cNvSpPr txBox="1"/>
              <p:nvPr/>
            </p:nvSpPr>
            <p:spPr>
              <a:xfrm>
                <a:off x="8001679" y="3405286"/>
                <a:ext cx="3429747" cy="2734256"/>
              </a:xfrm>
              <a:prstGeom prst="rect">
                <a:avLst/>
              </a:prstGeom>
              <a:noFill/>
            </p:spPr>
            <p:txBody>
              <a:bodyPr wrap="square" rtlCol="0" anchor="t" anchorCtr="0">
                <a:normAutofit/>
              </a:bodyPr>
              <a:lstStyle/>
              <a:p>
                <a:pPr algn="l">
                  <a:lnSpc>
                    <a:spcPct val="120000"/>
                  </a:lnSpc>
                </a:pPr>
                <a:r>
                  <a:rPr lang="en-US" sz="1200" b="0" i="0" u="none" strike="noStrike">
                    <a:solidFill>
                      <a:srgbClr val="FFFFFF"/>
                    </a:solidFill>
                    <a:ea typeface="微软雅黑"/>
                  </a:rPr>
                  <a:t>对实验结果进行正确性验证，确保ECDH算法能够正确生成共享密钥，并且共享密钥可以用于后续的加密通信。</a:t>
                </a:r>
              </a:p>
            </p:txBody>
          </p:sp>
        </p:grpSp>
      </p:grpSp>
      <p:sp>
        <p:nvSpPr>
          <p:cNvPr id="6" name="标题 4294967294"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a:solidFill>
                  <a:srgbClr val="FFFFFF"/>
                </a:solidFill>
                <a:latin typeface="Arial"/>
              </a:rPr>
              <a:t>ECDH 实现与实验结果</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99115942-fd79-4eba-a13f-5bd825e58577.source.3.zh-Hans.pptx" descr="4d90ce67-2085-4290-ba2b-660c8b9745d5">
            <a:extLst>
              <a:ext uri="{FF2B5EF4-FFF2-40B4-BE49-F238E27FC236}">
                <a16:creationId xmlns:a16="http://schemas.microsoft.com/office/drawing/2014/main" id="{865A8C25-85DD-7B7F-CEA1-7F047CA80F23}"/>
              </a:ext>
            </a:extLst>
          </p:cNvPr>
          <p:cNvGrpSpPr/>
          <p:nvPr/>
        </p:nvGrpSpPr>
        <p:grpSpPr>
          <a:xfrm>
            <a:off x="-12700" y="1130300"/>
            <a:ext cx="11544300" cy="5003792"/>
            <a:chOff x="-12700" y="1130300"/>
            <a:chExt cx="11544300" cy="5003792"/>
          </a:xfrm>
        </p:grpSpPr>
        <p:sp>
          <p:nvSpPr>
            <p:cNvPr id="8" name="Shape" descr="ffa655fe-23c1-4fa0-8051-29da00ad7aea">
              <a:extLst>
                <a:ext uri="{FF2B5EF4-FFF2-40B4-BE49-F238E27FC236}">
                  <a16:creationId xmlns:a16="http://schemas.microsoft.com/office/drawing/2014/main" id="{91F6769A-F181-D0AA-611A-EFEC485A6B61}"/>
                </a:ext>
              </a:extLst>
            </p:cNvPr>
            <p:cNvSpPr/>
            <p:nvPr/>
          </p:nvSpPr>
          <p:spPr>
            <a:xfrm>
              <a:off x="-12700" y="3769485"/>
              <a:ext cx="11544300" cy="622800"/>
            </a:xfrm>
            <a:custGeom>
              <a:avLst/>
              <a:gdLst>
                <a:gd name="connsiteX0" fmla="*/ 0 w 12204700"/>
                <a:gd name="connsiteY0" fmla="*/ 295275 h 1181100"/>
                <a:gd name="connsiteX1" fmla="*/ 11614150 w 12204700"/>
                <a:gd name="connsiteY1" fmla="*/ 295275 h 1181100"/>
                <a:gd name="connsiteX2" fmla="*/ 11614150 w 12204700"/>
                <a:gd name="connsiteY2" fmla="*/ 0 h 1181100"/>
                <a:gd name="connsiteX3" fmla="*/ 12204700 w 12204700"/>
                <a:gd name="connsiteY3" fmla="*/ 590550 h 1181100"/>
                <a:gd name="connsiteX4" fmla="*/ 11614150 w 12204700"/>
                <a:gd name="connsiteY4" fmla="*/ 1181100 h 1181100"/>
                <a:gd name="connsiteX5" fmla="*/ 11614150 w 12204700"/>
                <a:gd name="connsiteY5" fmla="*/ 885825 h 1181100"/>
                <a:gd name="connsiteX6" fmla="*/ 0 w 12204700"/>
                <a:gd name="connsiteY6" fmla="*/ 885825 h 1181100"/>
                <a:gd name="connsiteX7" fmla="*/ 0 w 12204700"/>
                <a:gd name="connsiteY7" fmla="*/ 295275 h 1181100"/>
                <a:gd name="connsiteX0" fmla="*/ 0 w 12204700"/>
                <a:gd name="connsiteY0" fmla="*/ 295275 h 1181100"/>
                <a:gd name="connsiteX1" fmla="*/ 11614150 w 12204700"/>
                <a:gd name="connsiteY1" fmla="*/ 295275 h 1181100"/>
                <a:gd name="connsiteX2" fmla="*/ 11614150 w 12204700"/>
                <a:gd name="connsiteY2" fmla="*/ 0 h 1181100"/>
                <a:gd name="connsiteX3" fmla="*/ 12204700 w 12204700"/>
                <a:gd name="connsiteY3" fmla="*/ 590550 h 1181100"/>
                <a:gd name="connsiteX4" fmla="*/ 11614150 w 12204700"/>
                <a:gd name="connsiteY4" fmla="*/ 1181100 h 1181100"/>
                <a:gd name="connsiteX5" fmla="*/ 11614150 w 12204700"/>
                <a:gd name="connsiteY5" fmla="*/ 885825 h 1181100"/>
                <a:gd name="connsiteX6" fmla="*/ 0 w 12204700"/>
                <a:gd name="connsiteY6" fmla="*/ 885825 h 1181100"/>
                <a:gd name="connsiteX7" fmla="*/ 91440 w 12204700"/>
                <a:gd name="connsiteY7" fmla="*/ 386715 h 1181100"/>
                <a:gd name="connsiteX0" fmla="*/ 0 w 12204700"/>
                <a:gd name="connsiteY0" fmla="*/ 295275 h 1181100"/>
                <a:gd name="connsiteX1" fmla="*/ 11614150 w 12204700"/>
                <a:gd name="connsiteY1" fmla="*/ 295275 h 1181100"/>
                <a:gd name="connsiteX2" fmla="*/ 11614150 w 12204700"/>
                <a:gd name="connsiteY2" fmla="*/ 0 h 1181100"/>
                <a:gd name="connsiteX3" fmla="*/ 12204700 w 12204700"/>
                <a:gd name="connsiteY3" fmla="*/ 590550 h 1181100"/>
                <a:gd name="connsiteX4" fmla="*/ 11614150 w 12204700"/>
                <a:gd name="connsiteY4" fmla="*/ 1181100 h 1181100"/>
                <a:gd name="connsiteX5" fmla="*/ 11614150 w 12204700"/>
                <a:gd name="connsiteY5" fmla="*/ 885825 h 1181100"/>
                <a:gd name="connsiteX6" fmla="*/ 0 w 12204700"/>
                <a:gd name="connsiteY6" fmla="*/ 885825 h 1181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04700" h="1181100">
                  <a:moveTo>
                    <a:pt x="0" y="295275"/>
                  </a:moveTo>
                  <a:lnTo>
                    <a:pt x="11614150" y="295275"/>
                  </a:lnTo>
                  <a:lnTo>
                    <a:pt x="11614150" y="0"/>
                  </a:lnTo>
                  <a:lnTo>
                    <a:pt x="12204700" y="590550"/>
                  </a:lnTo>
                  <a:lnTo>
                    <a:pt x="11614150" y="1181100"/>
                  </a:lnTo>
                  <a:lnTo>
                    <a:pt x="11614150" y="885825"/>
                  </a:lnTo>
                  <a:lnTo>
                    <a:pt x="0" y="885825"/>
                  </a:lnTo>
                </a:path>
              </a:pathLst>
            </a:custGeom>
            <a:noFill/>
            <a:ln w="6350" cap="rnd">
              <a:solidFill>
                <a:schemeClr val="tx1">
                  <a:alpha val="50000"/>
                </a:schemeClr>
              </a:solidFill>
              <a:prstDash val="solid"/>
              <a:round/>
            </a:ln>
            <a:effectLst>
              <a:outerShdw blurRad="254000" dist="1270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l"/>
              <a:endParaRPr/>
            </a:p>
          </p:txBody>
        </p:sp>
        <p:sp>
          <p:nvSpPr>
            <p:cNvPr id="3" name="Title" descr="ea08e269-6945-40f4-a7b2-53786f43cf38">
              <a:extLst>
                <a:ext uri="{FF2B5EF4-FFF2-40B4-BE49-F238E27FC236}">
                  <a16:creationId xmlns:a16="http://schemas.microsoft.com/office/drawing/2014/main" id="{98C7AFD3-8976-A620-1EFC-5B1D3A4FB812}"/>
                </a:ext>
              </a:extLst>
            </p:cNvPr>
            <p:cNvSpPr/>
            <p:nvPr/>
          </p:nvSpPr>
          <p:spPr>
            <a:xfrm>
              <a:off x="660400" y="1130300"/>
              <a:ext cx="10858500" cy="5154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a:p>
          </p:txBody>
        </p:sp>
        <p:grpSp>
          <p:nvGrpSpPr>
            <p:cNvPr id="21" name="组合 20" descr="98011882-fc62-481e-9c89-ba5ccf7e2863">
              <a:extLst>
                <a:ext uri="{FF2B5EF4-FFF2-40B4-BE49-F238E27FC236}">
                  <a16:creationId xmlns:a16="http://schemas.microsoft.com/office/drawing/2014/main" id="{833B8D1C-A2D0-501D-80B7-BCD12DAC98DF}"/>
                </a:ext>
              </a:extLst>
            </p:cNvPr>
            <p:cNvGrpSpPr/>
            <p:nvPr/>
          </p:nvGrpSpPr>
          <p:grpSpPr>
            <a:xfrm>
              <a:off x="660398" y="2056122"/>
              <a:ext cx="4579414" cy="2183859"/>
              <a:chOff x="660398" y="2056122"/>
              <a:chExt cx="4579414" cy="2183859"/>
            </a:xfrm>
          </p:grpSpPr>
          <p:sp>
            <p:nvSpPr>
              <p:cNvPr id="5" name="Number1" descr="f7d309a4-b8c7-43e6-be53-0709add81954">
                <a:extLst>
                  <a:ext uri="{FF2B5EF4-FFF2-40B4-BE49-F238E27FC236}">
                    <a16:creationId xmlns:a16="http://schemas.microsoft.com/office/drawing/2014/main" id="{2CF39AFB-80F8-3DC8-32B4-7CE3AD7932B4}"/>
                  </a:ext>
                </a:extLst>
              </p:cNvPr>
              <p:cNvSpPr/>
              <p:nvPr/>
            </p:nvSpPr>
            <p:spPr>
              <a:xfrm>
                <a:off x="683523" y="3927763"/>
                <a:ext cx="649977" cy="312218"/>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lnSpcReduction="1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0" i="0" u="none">
                    <a:solidFill>
                      <a:srgbClr val="FFFFFF"/>
                    </a:solidFill>
                    <a:latin typeface="Arial"/>
                  </a:rPr>
                  <a:t>1</a:t>
                </a:r>
              </a:p>
            </p:txBody>
          </p:sp>
          <p:sp>
            <p:nvSpPr>
              <p:cNvPr id="6" name="Bullet1" descr="ab3be5d8-a7fc-4c94-99ef-252044b8e508">
                <a:extLst>
                  <a:ext uri="{FF2B5EF4-FFF2-40B4-BE49-F238E27FC236}">
                    <a16:creationId xmlns:a16="http://schemas.microsoft.com/office/drawing/2014/main" id="{EE4EBDC4-51F5-804D-E8C1-AC6EE352F671}"/>
                  </a:ext>
                </a:extLst>
              </p:cNvPr>
              <p:cNvSpPr>
                <a:spLocks/>
              </p:cNvSpPr>
              <p:nvPr/>
            </p:nvSpPr>
            <p:spPr>
              <a:xfrm>
                <a:off x="660398" y="2056122"/>
                <a:ext cx="4579414" cy="481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en-US" sz="1800" b="1" i="0" u="none">
                    <a:solidFill>
                      <a:srgbClr val="FFFFFF"/>
                    </a:solidFill>
                    <a:ea typeface="微软雅黑"/>
                  </a:rPr>
                  <a:t>当前实现的优点</a:t>
                </a:r>
              </a:p>
            </p:txBody>
          </p:sp>
          <p:sp>
            <p:nvSpPr>
              <p:cNvPr id="7" name="Text1" descr="e0e7a1f0-34e6-4320-b957-246fad8af69d">
                <a:extLst>
                  <a:ext uri="{FF2B5EF4-FFF2-40B4-BE49-F238E27FC236}">
                    <a16:creationId xmlns:a16="http://schemas.microsoft.com/office/drawing/2014/main" id="{85574E7E-1C91-7501-BA7B-A44782AB7A03}"/>
                  </a:ext>
                </a:extLst>
              </p:cNvPr>
              <p:cNvSpPr/>
              <p:nvPr/>
            </p:nvSpPr>
            <p:spPr>
              <a:xfrm>
                <a:off x="660400" y="2652257"/>
                <a:ext cx="4579412" cy="1025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en-US" sz="1200" b="0" i="0" u="none">
                    <a:solidFill>
                      <a:srgbClr val="FFFFFF"/>
                    </a:solidFill>
                    <a:ea typeface="微软雅黑"/>
                  </a:rPr>
                  <a:t>当前实现的轻量级ECC算法具有一定的优势，如采用了优化的模运算方法和高效的标量乘算法，提高了算法的效率和安全性。同时，算法在资源受限的环境中具有较好的适应性。</a:t>
                </a:r>
              </a:p>
            </p:txBody>
          </p:sp>
        </p:grpSp>
        <p:grpSp>
          <p:nvGrpSpPr>
            <p:cNvPr id="22" name="组合 21" descr="067da100-58ed-4ddd-aa57-22885e2c7c6c">
              <a:extLst>
                <a:ext uri="{FF2B5EF4-FFF2-40B4-BE49-F238E27FC236}">
                  <a16:creationId xmlns:a16="http://schemas.microsoft.com/office/drawing/2014/main" id="{434221F4-A047-6707-D01B-6B1B95E12A03}"/>
                </a:ext>
              </a:extLst>
            </p:cNvPr>
            <p:cNvGrpSpPr/>
            <p:nvPr/>
          </p:nvGrpSpPr>
          <p:grpSpPr>
            <a:xfrm>
              <a:off x="3799942" y="3927763"/>
              <a:ext cx="4579414" cy="2206329"/>
              <a:chOff x="3799942" y="3927763"/>
              <a:chExt cx="4579414" cy="2206329"/>
            </a:xfrm>
          </p:grpSpPr>
          <p:sp>
            <p:nvSpPr>
              <p:cNvPr id="9" name="Number2" descr="2c7f6c36-b7d8-460a-8f0d-ad96c085dbcf">
                <a:extLst>
                  <a:ext uri="{FF2B5EF4-FFF2-40B4-BE49-F238E27FC236}">
                    <a16:creationId xmlns:a16="http://schemas.microsoft.com/office/drawing/2014/main" id="{D513554C-BC32-3801-AFA8-BF4C8C1468CC}"/>
                  </a:ext>
                </a:extLst>
              </p:cNvPr>
              <p:cNvSpPr/>
              <p:nvPr/>
            </p:nvSpPr>
            <p:spPr>
              <a:xfrm>
                <a:off x="3823067" y="3927763"/>
                <a:ext cx="649977" cy="312218"/>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lnSpcReduction="1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0" i="0" u="none">
                    <a:solidFill>
                      <a:srgbClr val="FFFFFF"/>
                    </a:solidFill>
                    <a:latin typeface="Arial"/>
                  </a:rPr>
                  <a:t>2</a:t>
                </a:r>
              </a:p>
            </p:txBody>
          </p:sp>
          <p:sp>
            <p:nvSpPr>
              <p:cNvPr id="10" name="Bullet2" descr="b645ef62-cecc-4adb-ae67-18f1a067bd42">
                <a:extLst>
                  <a:ext uri="{FF2B5EF4-FFF2-40B4-BE49-F238E27FC236}">
                    <a16:creationId xmlns:a16="http://schemas.microsoft.com/office/drawing/2014/main" id="{75F30A9C-9BCA-2C75-8DFD-3F46524C0CF6}"/>
                  </a:ext>
                </a:extLst>
              </p:cNvPr>
              <p:cNvSpPr>
                <a:spLocks/>
              </p:cNvSpPr>
              <p:nvPr/>
            </p:nvSpPr>
            <p:spPr>
              <a:xfrm>
                <a:off x="3799942" y="4512728"/>
                <a:ext cx="4579414" cy="481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en-US" sz="1800" b="1" i="0" u="none">
                    <a:solidFill>
                      <a:srgbClr val="FFFFFF"/>
                    </a:solidFill>
                    <a:ea typeface="微软雅黑"/>
                  </a:rPr>
                  <a:t>存在的不足</a:t>
                </a:r>
              </a:p>
            </p:txBody>
          </p:sp>
          <p:sp>
            <p:nvSpPr>
              <p:cNvPr id="11" name="Text2" descr="76fbb977-fb76-4c28-afad-57a6b2d4e5bd">
                <a:extLst>
                  <a:ext uri="{FF2B5EF4-FFF2-40B4-BE49-F238E27FC236}">
                    <a16:creationId xmlns:a16="http://schemas.microsoft.com/office/drawing/2014/main" id="{F200A229-01EB-F465-A029-270F658082CF}"/>
                  </a:ext>
                </a:extLst>
              </p:cNvPr>
              <p:cNvSpPr/>
              <p:nvPr/>
            </p:nvSpPr>
            <p:spPr>
              <a:xfrm>
                <a:off x="3799944" y="5108863"/>
                <a:ext cx="4579412" cy="1025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en-US" sz="1200" b="0" i="0" u="none">
                    <a:solidFill>
                      <a:srgbClr val="FFFFFF"/>
                    </a:solidFill>
                    <a:ea typeface="微软雅黑"/>
                  </a:rPr>
                  <a:t>然而，当前实现仍然存在一些不足之处。例如，算法的计算复杂度仍然较高，在极端情况下可能无法满足实时性要求；算法的安全性还需要进一步验证和加强。</a:t>
                </a:r>
              </a:p>
            </p:txBody>
          </p:sp>
        </p:grpSp>
        <p:grpSp>
          <p:nvGrpSpPr>
            <p:cNvPr id="23" name="组合 22" descr="7f421bd2-9403-4f44-923d-a6c379049837">
              <a:extLst>
                <a:ext uri="{FF2B5EF4-FFF2-40B4-BE49-F238E27FC236}">
                  <a16:creationId xmlns:a16="http://schemas.microsoft.com/office/drawing/2014/main" id="{FF634DFD-80DB-2A80-64B0-3AB63EFD37A0}"/>
                </a:ext>
              </a:extLst>
            </p:cNvPr>
            <p:cNvGrpSpPr/>
            <p:nvPr/>
          </p:nvGrpSpPr>
          <p:grpSpPr>
            <a:xfrm>
              <a:off x="6939486" y="2056122"/>
              <a:ext cx="4579414" cy="2183859"/>
              <a:chOff x="6939486" y="2056122"/>
              <a:chExt cx="4579414" cy="2183859"/>
            </a:xfrm>
          </p:grpSpPr>
          <p:sp>
            <p:nvSpPr>
              <p:cNvPr id="13" name="Number3" descr="1d68ade0-b7c2-4131-a37e-f6f5cb0a8cb7">
                <a:extLst>
                  <a:ext uri="{FF2B5EF4-FFF2-40B4-BE49-F238E27FC236}">
                    <a16:creationId xmlns:a16="http://schemas.microsoft.com/office/drawing/2014/main" id="{D6AF787D-2248-D27C-BC3B-C1F0D2DCD8F7}"/>
                  </a:ext>
                </a:extLst>
              </p:cNvPr>
              <p:cNvSpPr/>
              <p:nvPr/>
            </p:nvSpPr>
            <p:spPr>
              <a:xfrm>
                <a:off x="6962611" y="3927763"/>
                <a:ext cx="649977" cy="312218"/>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lnSpcReduction="10000"/>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0" i="0" u="none">
                    <a:solidFill>
                      <a:srgbClr val="FFFFFF"/>
                    </a:solidFill>
                    <a:latin typeface="Arial"/>
                  </a:rPr>
                  <a:t>3</a:t>
                </a:r>
              </a:p>
            </p:txBody>
          </p:sp>
          <p:sp>
            <p:nvSpPr>
              <p:cNvPr id="14" name="Bullet3" descr="2d6ae901-39fe-4091-8337-9d45c328f8ab">
                <a:extLst>
                  <a:ext uri="{FF2B5EF4-FFF2-40B4-BE49-F238E27FC236}">
                    <a16:creationId xmlns:a16="http://schemas.microsoft.com/office/drawing/2014/main" id="{27CE54F6-4FDD-AD9F-EC2A-104D95CA4D40}"/>
                  </a:ext>
                </a:extLst>
              </p:cNvPr>
              <p:cNvSpPr>
                <a:spLocks/>
              </p:cNvSpPr>
              <p:nvPr/>
            </p:nvSpPr>
            <p:spPr>
              <a:xfrm>
                <a:off x="6939486" y="2056122"/>
                <a:ext cx="4579414" cy="4816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en-US" sz="1800" b="1" i="0" u="none">
                    <a:solidFill>
                      <a:srgbClr val="FFFFFF"/>
                    </a:solidFill>
                    <a:ea typeface="微软雅黑"/>
                  </a:rPr>
                  <a:t>可进一步优化的方向</a:t>
                </a:r>
              </a:p>
            </p:txBody>
          </p:sp>
          <p:sp>
            <p:nvSpPr>
              <p:cNvPr id="15" name="Text3" descr="998657e4-7d08-4586-a282-bdf1a09ca82f">
                <a:extLst>
                  <a:ext uri="{FF2B5EF4-FFF2-40B4-BE49-F238E27FC236}">
                    <a16:creationId xmlns:a16="http://schemas.microsoft.com/office/drawing/2014/main" id="{946CE06C-8EF0-3ED4-78B6-D8887D815F63}"/>
                  </a:ext>
                </a:extLst>
              </p:cNvPr>
              <p:cNvSpPr/>
              <p:nvPr/>
            </p:nvSpPr>
            <p:spPr>
              <a:xfrm>
                <a:off x="6939488" y="2652257"/>
                <a:ext cx="4579412" cy="1025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pPr>
                <a:r>
                  <a:rPr lang="en-US" sz="1200" b="0" i="0" u="none">
                    <a:solidFill>
                      <a:srgbClr val="FFFFFF"/>
                    </a:solidFill>
                    <a:ea typeface="微软雅黑"/>
                  </a:rPr>
                  <a:t>为了进一步提高轻量级ECC算法的性能和安全性，可以从以下几个方面进行优化：一是优化模运算和标量乘算法，降低计算复杂度；二是引入更先进的密码学技术，增强算法的安全性；三是针对不同应用场景，对算法进行定制化优化，提高算法的适应性。</a:t>
                </a:r>
              </a:p>
            </p:txBody>
          </p:sp>
        </p:grpSp>
      </p:grpSp>
      <p:sp>
        <p:nvSpPr>
          <p:cNvPr id="2" name="标题 1" descr="82c93c0a-7cf3-4dc5-8af9-c15a45117dce"/>
          <p:cNvSpPr>
            <a:spLocks noGrp="1"/>
          </p:cNvSpPr>
          <p:nvPr>
            <p:ph type="title" hasCustomPrompt="1"/>
          </p:nvPr>
        </p:nvSpPr>
        <p:spPr/>
        <p:txBody>
          <a:bodyPr anchorCtr="0"/>
          <a:lstStyle/>
          <a:p>
            <a:pPr algn="l">
              <a:lnSpc>
                <a:spcPct val="100000"/>
              </a:lnSpc>
              <a:spcBef>
                <a:spcPct val="0"/>
              </a:spcBef>
            </a:pPr>
            <a:r>
              <a:rPr lang="en-US" sz="2800" b="1" i="0" u="none">
                <a:solidFill>
                  <a:srgbClr val="FFFFFF"/>
                </a:solidFill>
                <a:ea typeface="微软雅黑"/>
              </a:rPr>
              <a:t>问题分析与改进方向</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descr="39d4bab5-1112-4f6e-895d-aef78912d699"/>
          <p:cNvSpPr>
            <a:spLocks noGrp="1"/>
          </p:cNvSpPr>
          <p:nvPr>
            <p:ph type="title" hasCustomPrompt="1"/>
          </p:nvPr>
        </p:nvSpPr>
        <p:spPr/>
        <p:txBody>
          <a:bodyPr anchorCtr="0"/>
          <a:lstStyle/>
          <a:p>
            <a:pPr algn="r">
              <a:lnSpc>
                <a:spcPct val="100000"/>
              </a:lnSpc>
              <a:spcBef>
                <a:spcPct val="0"/>
              </a:spcBef>
            </a:pPr>
            <a:r>
              <a:rPr lang="en-US" sz="5400" b="1" i="0" u="none">
                <a:solidFill>
                  <a:srgbClr val="FFFFFF"/>
                </a:solidFill>
                <a:ea typeface="微软雅黑"/>
              </a:rPr>
              <a:t>谢谢观看</a:t>
            </a:r>
          </a:p>
        </p:txBody>
      </p:sp>
      <p:sp>
        <p:nvSpPr>
          <p:cNvPr id="4" name="文本占位符 3" descr="2f3719f8-3c53-429c-ac17-562a90ba7d36"/>
          <p:cNvSpPr>
            <a:spLocks noGrp="1"/>
          </p:cNvSpPr>
          <p:nvPr>
            <p:ph type="body" sz="quarter" idx="13" hasCustomPrompt="1"/>
          </p:nvPr>
        </p:nvSpPr>
        <p:spPr/>
        <p:txBody>
          <a:bodyPr anchorCtr="0"/>
          <a:lstStyle/>
          <a:p>
            <a:pPr algn="r">
              <a:lnSpc>
                <a:spcPct val="100000"/>
              </a:lnSpc>
              <a:spcBef>
                <a:spcPts val="1000"/>
              </a:spcBef>
            </a:pPr>
            <a:r>
              <a:rPr lang="en-US" sz="1200" b="0" i="0" u="none">
                <a:solidFill>
                  <a:srgbClr val="FFFFFF"/>
                </a:solidFill>
                <a:ea typeface="微软雅黑"/>
              </a:rPr>
              <a:t>报告人名称</a:t>
            </a:r>
          </a:p>
        </p:txBody>
      </p:sp>
      <p:sp>
        <p:nvSpPr>
          <p:cNvPr id="7" name="文本占位符 6" descr="04c640d9-f9ad-49e7-a0c0-34e5a0645711"/>
          <p:cNvSpPr>
            <a:spLocks noGrp="1"/>
          </p:cNvSpPr>
          <p:nvPr>
            <p:ph type="body" sz="quarter" idx="14" hasCustomPrompt="1"/>
          </p:nvPr>
        </p:nvSpPr>
        <p:spPr/>
        <p:txBody>
          <a:bodyPr anchorCtr="0"/>
          <a:lstStyle/>
          <a:p>
            <a:pPr algn="r">
              <a:lnSpc>
                <a:spcPct val="100000"/>
              </a:lnSpc>
              <a:spcBef>
                <a:spcPts val="1000"/>
              </a:spcBef>
            </a:pPr>
            <a:r>
              <a:rPr lang="en-US" sz="1200" b="0" i="0" u="none">
                <a:solidFill>
                  <a:srgbClr val="FFFFFF"/>
                </a:solidFill>
                <a:latin typeface="微软雅黑"/>
              </a:rPr>
              <a:t>20xx.xx.xx</a:t>
            </a:r>
          </a:p>
        </p:txBody>
      </p:sp>
      <p:sp>
        <p:nvSpPr>
          <p:cNvPr id="2" name="TextBox 2"/>
          <p:cNvSpPr txBox="1"/>
          <p:nvPr/>
        </p:nvSpPr>
        <p:spPr>
          <a:xfrm>
            <a:off x="10756900" y="6413500"/>
            <a:ext cx="1371600" cy="381000"/>
          </a:xfrm>
          <a:prstGeom prst="roundRect">
            <a:avLst/>
          </a:prstGeom>
          <a:solidFill>
            <a:srgbClr val="FFFFFF"/>
          </a:solidFill>
        </p:spPr>
        <p:txBody>
          <a:bodyPr wrap="none" rtlCol="0" anchor="ctr"/>
          <a:lstStyle/>
          <a:p>
            <a:pPr algn="ctr">
              <a:defRPr/>
            </a:pPr>
            <a:r>
              <a:rPr lang="en-US" sz="1200">
                <a:solidFill>
                  <a:srgbClr val="000000"/>
                </a:solidFill>
              </a:rPr>
              <a:t>内容由千问AI生成</a:t>
            </a:r>
            <a:endParaRPr lang="zh-CN"/>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a="http://schemas.openxmlformats.org/drawingml/2006/main" name="Designed by iSlide">
  <a:themeElements>
    <a:clrScheme name="iSlide">
      <a:dk1>
        <a:srgbClr val="2F2F2F"/>
      </a:dk1>
      <a:lt1>
        <a:srgbClr val="FFFFFF"/>
      </a:lt1>
      <a:dk2>
        <a:srgbClr val="778495"/>
      </a:dk2>
      <a:lt2>
        <a:srgbClr val="F0F0F0"/>
      </a:lt2>
      <a:accent1>
        <a:srgbClr val="34C4DC"/>
      </a:accent1>
      <a:accent2>
        <a:srgbClr val="2881DC"/>
      </a:accent2>
      <a:accent3>
        <a:srgbClr val="113F6E"/>
      </a:accent3>
      <a:accent4>
        <a:srgbClr val="228AA5"/>
      </a:accent4>
      <a:accent5>
        <a:srgbClr val="40A7B2"/>
      </a:accent5>
      <a:accent6>
        <a:srgbClr val="4EB1B2"/>
      </a:accent6>
      <a:hlink>
        <a:srgbClr val="F84D4D"/>
      </a:hlink>
      <a:folHlink>
        <a:srgbClr val="979797"/>
      </a:folHlink>
    </a:clrScheme>
    <a:fontScheme name="iSlide">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 Presentation Template</Template>
  <TotalTime>154</TotalTime>
  <Words>1430</Words>
  <Application>Microsoft Office PowerPoint</Application>
  <PresentationFormat>宽屏</PresentationFormat>
  <Paragraphs>222</Paragraphs>
  <Slides>30</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30</vt:i4>
      </vt:variant>
    </vt:vector>
  </HeadingPairs>
  <TitlesOfParts>
    <vt:vector size="33" baseType="lpstr">
      <vt:lpstr>微软雅黑</vt:lpstr>
      <vt:lpstr>Arial</vt:lpstr>
      <vt:lpstr>Designed by iSlide</vt:lpstr>
      <vt:lpstr>现代公钥密码算法实现与优化研究</vt:lpstr>
      <vt:lpstr>目录</vt:lpstr>
      <vt:lpstr>研究背景与意义</vt:lpstr>
      <vt:lpstr>研究背景与目标</vt:lpstr>
      <vt:lpstr>展示内容结构</vt:lpstr>
      <vt:lpstr>展示内容框架</vt:lpstr>
      <vt:lpstr>实验与实现环境</vt:lpstr>
      <vt:lpstr>实验环境详情</vt:lpstr>
      <vt:lpstr>大整数与 Miller–Rabin 素性判定</vt:lpstr>
      <vt:lpstr>大整数在密码学中的作用</vt:lpstr>
      <vt:lpstr>BigInt 数据结构设计</vt:lpstr>
      <vt:lpstr>大整数基本运算实现</vt:lpstr>
      <vt:lpstr>大整数乘法优化</vt:lpstr>
      <vt:lpstr>素性判定问题引入</vt:lpstr>
      <vt:lpstr>Miller–Rabin 算法原理</vt:lpstr>
      <vt:lpstr>Miller–Rabin 实现与测试</vt:lpstr>
      <vt:lpstr>RSA 加解密高效算法探究</vt:lpstr>
      <vt:lpstr>RSA 算法原理回顾</vt:lpstr>
      <vt:lpstr>RSA 性能瓶颈分析</vt:lpstr>
      <vt:lpstr>快速模幂算法</vt:lpstr>
      <vt:lpstr>CRT（中国剩余定理）优化</vt:lpstr>
      <vt:lpstr>RSA 实验结果分析</vt:lpstr>
      <vt:lpstr>RSA 安全性与效率权衡</vt:lpstr>
      <vt:lpstr>轻量级 ECC 算法研究</vt:lpstr>
      <vt:lpstr>ECC 与轻量级密码学</vt:lpstr>
      <vt:lpstr>有限域与曲线参数选择</vt:lpstr>
      <vt:lpstr>标量乘与 Montgomery Ladder</vt:lpstr>
      <vt:lpstr>ECDH 实现与实验结果</vt:lpstr>
      <vt:lpstr>问题分析与改进方向</vt:lpstr>
      <vt:lpstr>谢谢观看</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iSlide</dc:creator>
  <cp:lastModifiedBy>靖轲 段</cp:lastModifiedBy>
  <cp:revision>2</cp:revision>
  <cp:lastPrinted>2025-03-03T16:00:00Z</cp:lastPrinted>
  <dcterms:created xsi:type="dcterms:W3CDTF">2025-03-03T16:00:00Z</dcterms:created>
  <dcterms:modified xsi:type="dcterms:W3CDTF">2025-12-28T12:41:01Z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f69320d3-c781-4472-bfcd-8afa52a89152</vt:lpwstr>
  </property>
</Properties>
</file>